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7666b093ded4440" /><Relationship Type="http://schemas.openxmlformats.org/officeDocument/2006/relationships/extended-properties" Target="/docProps/app.xml" Id="Ref8fddae3a314b4a" /><Relationship Type="http://schemas.openxmlformats.org/officeDocument/2006/relationships/officeDocument" Target="/ppt/presentation.xml" Id="R2c85562e19e2426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ca6f29a6fb945fd"/>
  </p:sldMasterIdLst>
  <p:notesMasterIdLst>
    <p:notesMasterId xmlns:r="http://schemas.openxmlformats.org/officeDocument/2006/relationships" r:id="Rd02bd8a4cd794859"/>
  </p:notesMasterIdLst>
  <p:sldIdLst>
    <p:sldId xmlns:r="http://schemas.openxmlformats.org/officeDocument/2006/relationships" id="256" r:id="Rd3ad346962e6468e"/>
    <p:sldId xmlns:r="http://schemas.openxmlformats.org/officeDocument/2006/relationships" id="257" r:id="R6f4366eeae7a4e2c"/>
    <p:sldId xmlns:r="http://schemas.openxmlformats.org/officeDocument/2006/relationships" id="258" r:id="R52ba720a1d7f4637"/>
    <p:sldId xmlns:r="http://schemas.openxmlformats.org/officeDocument/2006/relationships" id="259" r:id="R81e419350d364f76"/>
    <p:sldId xmlns:r="http://schemas.openxmlformats.org/officeDocument/2006/relationships" id="260" r:id="R027a3aeeeb8d4154"/>
    <p:sldId xmlns:r="http://schemas.openxmlformats.org/officeDocument/2006/relationships" id="261" r:id="R36e7c0e72256476d"/>
    <p:sldId xmlns:r="http://schemas.openxmlformats.org/officeDocument/2006/relationships" id="262" r:id="Rfed4d6d18fa94b0f"/>
    <p:sldId xmlns:r="http://schemas.openxmlformats.org/officeDocument/2006/relationships" id="263" r:id="Rb449d9329ad44db9"/>
    <p:sldId xmlns:r="http://schemas.openxmlformats.org/officeDocument/2006/relationships" id="264" r:id="R8bfc793decd84047"/>
    <p:sldId xmlns:r="http://schemas.openxmlformats.org/officeDocument/2006/relationships" id="265" r:id="R85254f1408b0481c"/>
    <p:sldId xmlns:r="http://schemas.openxmlformats.org/officeDocument/2006/relationships" id="266" r:id="Rde67480a5ba04d0b"/>
    <p:sldId xmlns:r="http://schemas.openxmlformats.org/officeDocument/2006/relationships" id="267" r:id="R802ec593a26c4e91"/>
    <p:sldId xmlns:r="http://schemas.openxmlformats.org/officeDocument/2006/relationships" id="268" r:id="R26de7b0316d548b8"/>
    <p:sldId xmlns:r="http://schemas.openxmlformats.org/officeDocument/2006/relationships" id="269" r:id="R35793ff708bf4ef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a6f29a6fb945fd" /><Relationship Type="http://schemas.openxmlformats.org/officeDocument/2006/relationships/theme" Target="/ppt/theme/theme1.xml" Id="Rb8d13c4ca1dd4ad2" /><Relationship Type="http://schemas.openxmlformats.org/officeDocument/2006/relationships/notesMaster" Target="/ppt/notesMasters/notesMaster1.xml" Id="Rd02bd8a4cd794859" /><Relationship Type="http://schemas.openxmlformats.org/officeDocument/2006/relationships/presProps" Target="/ppt/presProps.xml" Id="R90940986347b45c2" /><Relationship Type="http://schemas.openxmlformats.org/officeDocument/2006/relationships/viewProps" Target="/ppt/viewProps.xml" Id="Ree616702b48848ed" /><Relationship Type="http://schemas.openxmlformats.org/officeDocument/2006/relationships/tableStyles" Target="/ppt/tableStyles.xml" Id="Rbe80708649a744ec" /><Relationship Type="http://schemas.openxmlformats.org/officeDocument/2006/relationships/slide" Target="/ppt/slides/slide1.xml" Id="Rd3ad346962e6468e" /><Relationship Type="http://schemas.openxmlformats.org/officeDocument/2006/relationships/slide" Target="/ppt/slides/slide2.xml" Id="R6f4366eeae7a4e2c" /><Relationship Type="http://schemas.openxmlformats.org/officeDocument/2006/relationships/slide" Target="/ppt/slides/slide3.xml" Id="R52ba720a1d7f4637" /><Relationship Type="http://schemas.openxmlformats.org/officeDocument/2006/relationships/slide" Target="/ppt/slides/slide4.xml" Id="R81e419350d364f76" /><Relationship Type="http://schemas.openxmlformats.org/officeDocument/2006/relationships/slide" Target="/ppt/slides/slide5.xml" Id="R027a3aeeeb8d4154" /><Relationship Type="http://schemas.openxmlformats.org/officeDocument/2006/relationships/slide" Target="/ppt/slides/slide6.xml" Id="R36e7c0e72256476d" /><Relationship Type="http://schemas.openxmlformats.org/officeDocument/2006/relationships/slide" Target="/ppt/slides/slide7.xml" Id="Rfed4d6d18fa94b0f" /><Relationship Type="http://schemas.openxmlformats.org/officeDocument/2006/relationships/slide" Target="/ppt/slides/slide8.xml" Id="Rb449d9329ad44db9" /><Relationship Type="http://schemas.openxmlformats.org/officeDocument/2006/relationships/slide" Target="/ppt/slides/slide9.xml" Id="R8bfc793decd84047" /><Relationship Type="http://schemas.openxmlformats.org/officeDocument/2006/relationships/slide" Target="/ppt/slides/slide10.xml" Id="R85254f1408b0481c" /><Relationship Type="http://schemas.openxmlformats.org/officeDocument/2006/relationships/slide" Target="/ppt/slides/slide11.xml" Id="Rde67480a5ba04d0b" /><Relationship Type="http://schemas.openxmlformats.org/officeDocument/2006/relationships/slide" Target="/ppt/slides/slide12.xml" Id="R802ec593a26c4e91" /><Relationship Type="http://schemas.openxmlformats.org/officeDocument/2006/relationships/slide" Target="/ppt/slides/slide13.xml" Id="R26de7b0316d548b8" /><Relationship Type="http://schemas.openxmlformats.org/officeDocument/2006/relationships/slide" Target="/ppt/slides/slide14.xml" Id="R35793ff708bf4ef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ca71b04f30bd446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8e10e210fc242ef" /><Relationship Type="http://schemas.openxmlformats.org/officeDocument/2006/relationships/notesMaster" Target="/ppt/notesMasters/notesMaster1.xml" Id="Re66052e24e704ae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54b4a0dfc524124" /><Relationship Type="http://schemas.openxmlformats.org/officeDocument/2006/relationships/notesMaster" Target="/ppt/notesMasters/notesMaster1.xml" Id="R57ac877e0c23472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a7f63b285374c8b" /><Relationship Type="http://schemas.openxmlformats.org/officeDocument/2006/relationships/notesMaster" Target="/ppt/notesMasters/notesMaster1.xml" Id="Rdcdd8e9c4616407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8363d28754f4662" /><Relationship Type="http://schemas.openxmlformats.org/officeDocument/2006/relationships/notesMaster" Target="/ppt/notesMasters/notesMaster1.xml" Id="R62d017ef73e5468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b6ab74cfe32470d" /><Relationship Type="http://schemas.openxmlformats.org/officeDocument/2006/relationships/notesMaster" Target="/ppt/notesMasters/notesMaster1.xml" Id="R0091dc303439497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ea57e090c974e53" /><Relationship Type="http://schemas.openxmlformats.org/officeDocument/2006/relationships/notesMaster" Target="/ppt/notesMasters/notesMaster1.xml" Id="Rf647346d9e3641e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845b10716eb4634" /><Relationship Type="http://schemas.openxmlformats.org/officeDocument/2006/relationships/notesMaster" Target="/ppt/notesMasters/notesMaster1.xml" Id="R754c2f2b48864b1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7c76eba67c34ec5" /><Relationship Type="http://schemas.openxmlformats.org/officeDocument/2006/relationships/notesMaster" Target="/ppt/notesMasters/notesMaster1.xml" Id="R755aaf08fb6941f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751d02f4d1b4c76" /><Relationship Type="http://schemas.openxmlformats.org/officeDocument/2006/relationships/notesMaster" Target="/ppt/notesMasters/notesMaster1.xml" Id="Ra91077d9f8a749a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f5cb8d8d9224024" /><Relationship Type="http://schemas.openxmlformats.org/officeDocument/2006/relationships/notesMaster" Target="/ppt/notesMasters/notesMaster1.xml" Id="Rf8302fb50e2e428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24372bb22314268" /><Relationship Type="http://schemas.openxmlformats.org/officeDocument/2006/relationships/notesMaster" Target="/ppt/notesMasters/notesMaster1.xml" Id="Rb648a3cb9a57474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5a2656d788644de" /><Relationship Type="http://schemas.openxmlformats.org/officeDocument/2006/relationships/notesMaster" Target="/ppt/notesMasters/notesMaster1.xml" Id="Re755a94421de40f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6ac821761bc4311" /><Relationship Type="http://schemas.openxmlformats.org/officeDocument/2006/relationships/notesMaster" Target="/ppt/notesMasters/notesMaster1.xml" Id="R98148554a6f04e0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e00cb26cea8426d" /><Relationship Type="http://schemas.openxmlformats.org/officeDocument/2006/relationships/notesMaster" Target="/ppt/notesMasters/notesMaster1.xml" Id="Rc5a9433cc71b416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开场页，强调本项目是投标管理平台，不是业管财项目；本次汇报聚焦目标、规划、组织、管理机制与近期计划。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docs/项目启动会PPT大纲与核心内容.md</a:t>
            </a:r>
          </a:p>
          <a:p xmlns:a="http://schemas.openxmlformats.org/drawingml/2006/main">
            <a:r>
              <a:t>- docs/西域数智化投标管理平台-实施计划书-60个有效工作日版.md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说明会议结构，并提示最后会落到配合事项和近期工作计划。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docs/项目启动会PPT大纲与核心内容.md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用三个关键词讲清项目目标：闭环、追溯、智能。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docs/项目启动会PPT大纲与核心内容.md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这一页适合面向管理层讲业务价值，不展开技术细节。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docs/项目启动会PPT大纲与核心内容.md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强调本期和未来的边界：本期落地平台主链路，未来扩展系统联动和AI能力。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docs/项目启动会PPT大纲与核心内容.md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从业务人员和管理层两个视角说明驾驶舱价值。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docs/项目启动会PPT大纲与核心内容.md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解释数据中台不追求大而全，先支撑投标管理和经营分析。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docs/项目启动会PPT大纲与核心内容.md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特别说明本版排期已经避开周末和法定节假日。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docs/项目启动会PPT大纲与核心内容.md</a:t>
            </a:r>
          </a:p>
          <a:p xmlns:a="http://schemas.openxmlformats.org/drawingml/2006/main">
            <a:r>
              <a:t>- docs/西域数智化投标管理平台-实施计划书-60个有效工作日版.md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用三段式讲六阶段，不在汇报中逐行念表格。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docs/项目启动会PPT大纲与核心内容.md</a:t>
            </a:r>
          </a:p>
          <a:p xmlns:a="http://schemas.openxmlformats.org/drawingml/2006/main">
            <a:r>
              <a:t>- docs/西域数智化投标管理平台-实施计划书-60个有效工作日版.md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明确组织分层，便于会后确认人员名单。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docs/项目启动会PPT大纲与核心内容.md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这一页用于推动甲方会后尽快确认人选。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docs/项目启动会PPT大纲与核心内容.md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强调项目不是只靠排期推进，而是用机制保证质量。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docs/项目启动会PPT大纲与核心内容.md</a:t>
            </a:r>
          </a:p>
          <a:p xmlns:a="http://schemas.openxmlformats.org/drawingml/2006/main">
            <a:r>
              <a:t>- docs/西域数智化投标管理平台-实施计划书-60个有效工作日版.md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这一页适合明确对客户的配合诉求。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docs/项目启动会PPT大纲与核心内容.md</a:t>
            </a:r>
          </a:p>
          <a:p xmlns:a="http://schemas.openxmlformats.org/drawingml/2006/main">
            <a:r>
              <a:t>- docs/西域数智化投标管理平台-实施计划书-60个有效工作日版.md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结束页，以近期行动收束，并邀请双方确认会后动作。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docs/项目启动会PPT大纲与核心内容.md</a:t>
            </a:r>
          </a:p>
          <a:p xmlns:a="http://schemas.openxmlformats.org/drawingml/2006/main">
            <a:r>
              <a:t>- docs/西域数智化投标管理平台-实施计划书-60个有效工作日版.md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6466f17d2e45dc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 1">
            <a:extLst xmlns:a="http://schemas.openxmlformats.org/drawingml/2006/main">
              <a:ext uri="{FF2B5EF4-FFF2-40B4-BE49-F238E27FC236}">
                <a16:creationId xmlns:a16="http://schemas.microsoft.com/office/drawing/2014/main" id="{78B91E51-9641-4C02-996B-232668C94689}"/>
              </a:ext>
            </a:extLst>
          </p:cNvPr>
          <p:cNvSpPr/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/>
        </p:txBody>
      </p:sp>
      <p:sp>
        <p:nvSpPr>
          <p:cNvPr id="2" name="Subtitle 2">
            <a:extLst xmlns:a="http://schemas.openxmlformats.org/drawingml/2006/main">
              <a:ext uri="{FF2B5EF4-FFF2-40B4-BE49-F238E27FC236}">
                <a16:creationId xmlns:a16="http://schemas.microsoft.com/office/drawing/2014/main" id="{B5240B0A-7BDB-4666-ACED-593F69305174}"/>
              </a:ext>
            </a:extLst>
          </p:cNvPr>
          <p:cNvSpPr/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/>
        </p:txBody>
      </p:sp>
      <p:sp>
        <p:nvSpPr>
          <p:cNvPr id="3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9FA663C-A385-426B-890B-218A8EEB1163}"/>
              </a:ext>
            </a:extLst>
          </p:cNvPr>
          <p:cNvSpPr/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31294E7-0782-422C-B7D7-F2A48B682E60}"/>
              </a:ext>
            </a:extLst>
          </p:cNvPr>
          <p:cNvSpPr/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AA4A574-D57E-4B40-9CA5-EBC92D23B57E}"/>
              </a:ext>
            </a:extLst>
          </p:cNvPr>
          <p:cNvSpPr/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b9825c2a603b4bac" /><Relationship Type="http://schemas.openxmlformats.org/officeDocument/2006/relationships/slideLayout" Target="/ppt/slideLayouts/slideLayout2.xml" Id="R8fd29b10a0a6472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4122DE3-B704-4D8C-A691-58E91E94F7EF}"/>
              </a:ext>
            </a:extLst>
          </p:cNvPr>
          <p:cNvSpPr/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fd29b10a0a6472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d1263880ab2449f" /><Relationship Type="http://schemas.openxmlformats.org/officeDocument/2006/relationships/image" Target="/ppt/media/image.png" Id="R27db9dae31ed4af7" /><Relationship Type="http://schemas.openxmlformats.org/officeDocument/2006/relationships/notesSlide" Target="/ppt/notesSlides/notesSlide1.xml" Id="R95ad6fd32f1d42a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975681819794a40" /><Relationship Type="http://schemas.openxmlformats.org/officeDocument/2006/relationships/image" Target="/ppt/media/image2.png" Id="R974cb5a83e67467b" /><Relationship Type="http://schemas.openxmlformats.org/officeDocument/2006/relationships/notesSlide" Target="/ppt/notesSlides/notesSlide2.xml" Id="R70f250eae2ee4b1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a3fd9e552a14e7d" /><Relationship Type="http://schemas.openxmlformats.org/officeDocument/2006/relationships/image" Target="/ppt/media/image3.png" Id="Refd3c68123994547" /><Relationship Type="http://schemas.openxmlformats.org/officeDocument/2006/relationships/notesSlide" Target="/ppt/notesSlides/notesSlide3.xml" Id="R1ce607c43aee429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21185a6d771407c" /><Relationship Type="http://schemas.openxmlformats.org/officeDocument/2006/relationships/image" Target="/ppt/media/image4.png" Id="R4c5c9efb303546b9" /><Relationship Type="http://schemas.openxmlformats.org/officeDocument/2006/relationships/notesSlide" Target="/ppt/notesSlides/notesSlide4.xml" Id="Rc8eb9a7f2cf3417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fefe74916b14179" /><Relationship Type="http://schemas.openxmlformats.org/officeDocument/2006/relationships/image" Target="/ppt/media/image5.png" Id="R72fcb4b4aa994daf" /><Relationship Type="http://schemas.openxmlformats.org/officeDocument/2006/relationships/notesSlide" Target="/ppt/notesSlides/notesSlide5.xml" Id="Rb118e01b427f420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deb2bdeb30c4fb0" /><Relationship Type="http://schemas.openxmlformats.org/officeDocument/2006/relationships/image" Target="/ppt/media/image6.png" Id="R9a7588662eeb4a45" /><Relationship Type="http://schemas.openxmlformats.org/officeDocument/2006/relationships/notesSlide" Target="/ppt/notesSlides/notesSlide6.xml" Id="Rdab6be6719034de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a8b070a32494985" /><Relationship Type="http://schemas.openxmlformats.org/officeDocument/2006/relationships/image" Target="/ppt/media/image7.png" Id="R2bb8e3eac5d44e80" /><Relationship Type="http://schemas.openxmlformats.org/officeDocument/2006/relationships/notesSlide" Target="/ppt/notesSlides/notesSlide7.xml" Id="R0eaa8fdafac143f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e4fbbf63c3b4d93" /><Relationship Type="http://schemas.openxmlformats.org/officeDocument/2006/relationships/image" Target="/ppt/media/image8.png" Id="R07012f3f736a49bf" /><Relationship Type="http://schemas.openxmlformats.org/officeDocument/2006/relationships/notesSlide" Target="/ppt/notesSlides/notesSlide8.xml" Id="R7c2a2f3202ee4b9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0cd2f3b7a744d35" /><Relationship Type="http://schemas.openxmlformats.org/officeDocument/2006/relationships/image" Target="/ppt/media/image9.png" Id="R3a26fc58a73f470e" /><Relationship Type="http://schemas.openxmlformats.org/officeDocument/2006/relationships/notesSlide" Target="/ppt/notesSlides/notesSlide9.xml" Id="Re04b501bdcf5432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01c94c934e542de" /><Relationship Type="http://schemas.openxmlformats.org/officeDocument/2006/relationships/image" Target="/ppt/media/image10.png" Id="R2edfc2e16511454c" /><Relationship Type="http://schemas.openxmlformats.org/officeDocument/2006/relationships/notesSlide" Target="/ppt/notesSlides/notesSlide10.xml" Id="Rac00298f28ac403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dcc6fb931f84535" /><Relationship Type="http://schemas.openxmlformats.org/officeDocument/2006/relationships/image" Target="/ppt/media/image11.png" Id="R6eb206ed705f410f" /><Relationship Type="http://schemas.openxmlformats.org/officeDocument/2006/relationships/notesSlide" Target="/ppt/notesSlides/notesSlide11.xml" Id="R26c87506204a483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4cded00ab2746a3" /><Relationship Type="http://schemas.openxmlformats.org/officeDocument/2006/relationships/image" Target="/ppt/media/image12.png" Id="Rcbf196cb59dc4266" /><Relationship Type="http://schemas.openxmlformats.org/officeDocument/2006/relationships/notesSlide" Target="/ppt/notesSlides/notesSlide12.xml" Id="Rde9b7c3d4a384e2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64d9728e7d040e1" /><Relationship Type="http://schemas.openxmlformats.org/officeDocument/2006/relationships/image" Target="/ppt/media/image13.png" Id="R0531d1a529c44e55" /><Relationship Type="http://schemas.openxmlformats.org/officeDocument/2006/relationships/notesSlide" Target="/ppt/notesSlides/notesSlide13.xml" Id="Ra8c82c4d6a8e4f9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87fc85e4df64345" /><Relationship Type="http://schemas.openxmlformats.org/officeDocument/2006/relationships/image" Target="/ppt/media/image14.png" Id="R69d22b8dd9ca4439" /><Relationship Type="http://schemas.openxmlformats.org/officeDocument/2006/relationships/notesSlide" Target="/ppt/notesSlides/notesSlide14.xml" Id="Re9cebbbda22d4df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AA4A574-D57E-4B40-9CA5-EBC92D23B57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db9dae31ed4af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6303C7-8272-412A-AA7A-7D206FDB1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4FEED1-AC69-433B-9ED1-43E9E54F3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66675" cy="433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58EF0F-E4FB-4F6D-8673-9F7AA1D94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38200"/>
            <a:ext cx="4953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D5F52"/>
                </a:solidFill>
              </a:defRPr>
            </a:pPr>
            <a:r>
              <a:rPr sz="975" b="1">
                <a:solidFill>
                  <a:srgbClr val="0D5F52"/>
                </a:solidFill>
              </a:rPr>
              <a:t>PROJECT KICK-OFF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026BDF-212B-4D3E-8959-2A0600721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38250"/>
            <a:ext cx="7477125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2233A"/>
                </a:solidFill>
              </a:defRPr>
            </a:pPr>
            <a:r>
              <a:rPr sz="3600" b="1">
                <a:solidFill>
                  <a:srgbClr val="12233A"/>
                </a:solidFill>
              </a:rPr>
              <a:t>西域数智化投标管理平台</a:t>
            </a:r>
          </a:p>
          <a:p xmlns:a="http://schemas.openxmlformats.org/drawingml/2006/main">
            <a:pPr algn="l">
              <a:defRPr sz="3600" b="1">
                <a:solidFill>
                  <a:srgbClr val="12233A"/>
                </a:solidFill>
              </a:defRPr>
            </a:pPr>
            <a:r>
              <a:rPr sz="3600" b="1">
                <a:solidFill>
                  <a:srgbClr val="12233A"/>
                </a:solidFill>
              </a:rPr>
              <a:t>建设项目启动会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8BEF56-673F-42D1-969E-D9A90B296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05150"/>
            <a:ext cx="581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4465C"/>
                </a:solidFill>
              </a:defRPr>
            </a:pPr>
            <a:r>
              <a:rPr sz="1500" b="0">
                <a:solidFill>
                  <a:srgbClr val="34465C"/>
                </a:solidFill>
              </a:rPr>
              <a:t>流程在线 · 协同高效 · 风险可控 · 知识复用 · 决策有据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6F5042-EAF3-4694-BF39-4668662B0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43400"/>
            <a:ext cx="3714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B522C9-0068-40FE-A123-C61045894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52950"/>
            <a:ext cx="32004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2233A"/>
                </a:solidFill>
              </a:defRPr>
            </a:pPr>
            <a:r>
              <a:rPr sz="1725" b="1">
                <a:solidFill>
                  <a:srgbClr val="12233A"/>
                </a:solidFill>
              </a:rPr>
              <a:t>正式启动 / 2026年4月27日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C286FD-0888-49B9-B87A-90BB22237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A8C"/>
                </a:solidFill>
              </a:defRPr>
            </a:pPr>
            <a:r>
              <a:rPr sz="750" b="0">
                <a:solidFill>
                  <a:srgbClr val="6B7A8C"/>
                </a:solidFill>
              </a:rPr>
              <a:t>项目启动会 · 2026.04.27</a:t>
            </a:r>
          </a:p>
        </p:txBody>
      </p:sp>
    </p:spTree>
    <p:extLst>
      <p:ext uri="{BB962C8B-B14F-4D97-AF65-F5344CB8AC3E}">
        <p14:creationId xmlns:p14="http://schemas.microsoft.com/office/powerpoint/2010/main" val="99694625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AA4A574-D57E-4B40-9CA5-EBC92D23B57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4cb5a83e67467b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C7EB79-55D5-42F2-9355-AD9D5924D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7215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AFBD6F-E999-4D0C-A234-5851C573A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D5F52"/>
                </a:solidFill>
              </a:defRPr>
            </a:pPr>
            <a:r>
              <a:rPr sz="975" b="1">
                <a:solidFill>
                  <a:srgbClr val="0D5F52"/>
                </a:solidFill>
              </a:rPr>
              <a:t>AGENDA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846231-B435-4E84-9C3A-458062F67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385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D5F52"/>
                </a:solidFill>
              </a:defRPr>
            </a:pPr>
            <a:r>
              <a:rPr sz="975" b="1">
                <a:solidFill>
                  <a:srgbClr val="0D5F52"/>
                </a:solidFill>
              </a:rPr>
              <a:t>02 / 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3A4697-BAE1-48FC-93F2-B9A965A6A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B8833B-DB20-4F13-9BEC-35F7EB6F3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29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19050">
            <a:solidFill>
              <a:srgbClr val="1223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A8F57B-17C9-479A-A57C-95DD5A314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7239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2233A"/>
                </a:solidFill>
              </a:defRPr>
            </a:pPr>
            <a:r>
              <a:rPr sz="3000" b="1">
                <a:solidFill>
                  <a:srgbClr val="12233A"/>
                </a:solidFill>
              </a:rPr>
              <a:t>今天需要统一的四件事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9C289D-293D-42BB-83BC-6AE89BA2A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6858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4465C"/>
                </a:solidFill>
              </a:defRPr>
            </a:pPr>
            <a:r>
              <a:rPr sz="1425" b="0">
                <a:solidFill>
                  <a:srgbClr val="34465C"/>
                </a:solidFill>
              </a:rPr>
              <a:t>启动会的核心不是展开所有细节，而是把目标、计划、组织和推进机制一次对齐。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25DD56-3420-4C49-AD97-61885C4E7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57650"/>
            <a:ext cx="33845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EE53F2-5E7F-42FA-8727-002C35AA3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57650"/>
            <a:ext cx="762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D704A9-888A-4747-9736-F545D536B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286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2B1229-EFC3-4F69-BAA1-89EBB984D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62475"/>
            <a:ext cx="571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6CC4F8-DCEA-4F55-9A07-F173BE57A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4486275"/>
            <a:ext cx="57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77091A-08F9-4CFB-928E-F3B0BBE4E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19600"/>
            <a:ext cx="571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EE5F7A-B7EF-4CC6-B4B2-4C548F978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26720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D5F52"/>
                </a:solidFill>
              </a:defRPr>
            </a:pPr>
            <a:r>
              <a:rPr sz="1125" b="1">
                <a:solidFill>
                  <a:srgbClr val="0D5F52"/>
                </a:solidFill>
              </a:rPr>
              <a:t>01 项目目标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EFC867-8134-4425-A34B-6A3DE4BCD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876800"/>
            <a:ext cx="292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明确投标业务全生命周期</a:t>
            </a:r>
          </a:p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数智化建设方向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F7D9EF-8C69-4756-8160-A55E3BD4E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057650"/>
            <a:ext cx="33845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879FA1-6BE1-4A7A-9C7D-2709C5288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057650"/>
            <a:ext cx="762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B1D037-125E-4B24-B677-36A02C907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2800" y="4286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4E0D5DB-A95C-40CD-9D6C-C2059286F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6625" y="4457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9525">
            <a:solidFill>
              <a:srgbClr val="12233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F1F45D-A483-4215-9FE6-860B527D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8075" y="4543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9525">
            <a:solidFill>
              <a:srgbClr val="12233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C5489E-3FAC-4364-9620-15A4FABC1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2350" y="4524375"/>
            <a:ext cx="180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B7A4EB-5DBC-426F-AB8F-E5CEB25A6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1450" y="426720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D5F52"/>
                </a:solidFill>
              </a:defRPr>
            </a:pPr>
            <a:r>
              <a:rPr sz="1125" b="1">
                <a:solidFill>
                  <a:srgbClr val="0D5F52"/>
                </a:solidFill>
              </a:rPr>
              <a:t>02 项目规划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DEF5C9-D844-4C5F-8AA7-3782018ED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1850" y="4876800"/>
            <a:ext cx="292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按60个有效工作日</a:t>
            </a:r>
          </a:p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推进六阶段里程碑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3E6652-7E07-4D25-8B9A-93F275E42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4057650"/>
            <a:ext cx="33845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3AC6BFE-6EFD-48AD-9262-511585E4D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4057650"/>
            <a:ext cx="762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5E35C73-D6E9-4C43-8E45-3854ED1B0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5950" y="4286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9BDDEAB-8ED5-490C-A8F2-8E936748A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775" y="4429125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8A70"/>
          </a:solidFill>
          <a:ln xmlns:a="http://schemas.openxmlformats.org/drawingml/2006/main" w="9525">
            <a:solidFill>
              <a:srgbClr val="12233A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DFE67B3-AEF4-474B-997A-597D3F469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7400" y="4514850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A23A"/>
          </a:solidFill>
          <a:ln xmlns:a="http://schemas.openxmlformats.org/drawingml/2006/main" w="9525">
            <a:solidFill>
              <a:srgbClr val="12233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0A7918C-318F-481E-9160-D5277E7B8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5025" y="4600575"/>
            <a:ext cx="1905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5F45"/>
          </a:solidFill>
          <a:ln xmlns:a="http://schemas.openxmlformats.org/drawingml/2006/main" w="9525">
            <a:solidFill>
              <a:srgbClr val="12233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6B059C6-794C-4AB2-A338-439DDC45C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4600" y="426720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D5F52"/>
                </a:solidFill>
              </a:defRPr>
            </a:pPr>
            <a:r>
              <a:rPr sz="1125" b="1">
                <a:solidFill>
                  <a:srgbClr val="0D5F52"/>
                </a:solidFill>
              </a:rPr>
              <a:t>03 项目组织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729A2D8-924C-4F75-B2C1-FCACABFAD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4876800"/>
            <a:ext cx="292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确认双方角色、职责</a:t>
            </a:r>
          </a:p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和关键协同人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B18B7E9-40C3-4F50-B196-84A8E0936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A8C"/>
                </a:solidFill>
              </a:defRPr>
            </a:pPr>
            <a:r>
              <a:rPr sz="750" b="0">
                <a:solidFill>
                  <a:srgbClr val="6B7A8C"/>
                </a:solidFill>
              </a:rPr>
              <a:t>项目启动会 · 2026.04.27</a:t>
            </a:r>
          </a:p>
        </p:txBody>
      </p:sp>
    </p:spTree>
    <p:extLst>
      <p:ext uri="{BB962C8B-B14F-4D97-AF65-F5344CB8AC3E}">
        <p14:creationId xmlns:p14="http://schemas.microsoft.com/office/powerpoint/2010/main" val="209328786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AA4A574-D57E-4B40-9CA5-EBC92D23B57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d3c6812399454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9C1D4E-0672-483A-A074-36801292D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7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659BEE-2CCA-4FE4-AF1A-9AF0E06C6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D5F52"/>
                </a:solidFill>
              </a:defRPr>
            </a:pPr>
            <a:r>
              <a:rPr sz="975" b="1">
                <a:solidFill>
                  <a:srgbClr val="0D5F52"/>
                </a:solidFill>
              </a:rPr>
              <a:t>01 PROJECT GOALS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23C91C-52D9-4822-9236-D7146AF65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385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D5F52"/>
                </a:solidFill>
              </a:defRPr>
            </a:pPr>
            <a:r>
              <a:rPr sz="975" b="1">
                <a:solidFill>
                  <a:srgbClr val="0D5F52"/>
                </a:solidFill>
              </a:rPr>
              <a:t>03 / 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2A64BC-4BAE-44E1-8AC4-AD4FB426C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F858EE-66A4-4FC1-A9D6-EEB3BD824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29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19050">
            <a:solidFill>
              <a:srgbClr val="1223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E087F5-4EE9-49B6-A1DC-872166D57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6667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2233A"/>
                </a:solidFill>
              </a:defRPr>
            </a:pPr>
            <a:r>
              <a:rPr sz="3000" b="1">
                <a:solidFill>
                  <a:srgbClr val="12233A"/>
                </a:solidFill>
              </a:rPr>
              <a:t>项目目标：建设统一的数智化投标管理平台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45E4C7-723A-4BD4-88C1-C520DA06F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6667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4465C"/>
                </a:solidFill>
              </a:defRPr>
            </a:pPr>
            <a:r>
              <a:rPr sz="1425" b="0">
                <a:solidFill>
                  <a:srgbClr val="34465C"/>
                </a:solidFill>
              </a:rPr>
              <a:t>围绕商机、项目、任务、文档、资源、结果和知识沉淀，形成端到端闭环。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B4DDFB-5587-45C1-A8B7-BF7F88B55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48100"/>
            <a:ext cx="31432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D339D9-3BE1-484B-8055-AADFB547D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48100"/>
            <a:ext cx="3143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E517A1-FE10-405B-9711-AA18A8066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76700"/>
            <a:ext cx="2724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2233A"/>
                </a:solidFill>
              </a:defRPr>
            </a:pPr>
            <a:r>
              <a:rPr sz="2550" b="1">
                <a:solidFill>
                  <a:srgbClr val="12233A"/>
                </a:solidFill>
              </a:rPr>
              <a:t>全流程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29D774-12A2-4577-898A-3C64F244A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62915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4465C"/>
                </a:solidFill>
              </a:defRPr>
            </a:pPr>
            <a:r>
              <a:rPr sz="1200" b="0">
                <a:solidFill>
                  <a:srgbClr val="34465C"/>
                </a:solidFill>
              </a:rPr>
              <a:t>商机/标讯到</a:t>
            </a:r>
          </a:p>
          <a:p xmlns:a="http://schemas.openxmlformats.org/drawingml/2006/main">
            <a:pPr algn="l">
              <a:defRPr sz="1200" b="0">
                <a:solidFill>
                  <a:srgbClr val="34465C"/>
                </a:solidFill>
              </a:defRPr>
            </a:pPr>
            <a:r>
              <a:rPr sz="1200" b="0">
                <a:solidFill>
                  <a:srgbClr val="34465C"/>
                </a:solidFill>
              </a:rPr>
              <a:t>结果归档闭环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3B62A6-8F99-4445-8E55-92F341C0E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105400"/>
            <a:ext cx="268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A8C"/>
                </a:solidFill>
              </a:defRPr>
            </a:pPr>
            <a:r>
              <a:rPr sz="750" b="0">
                <a:solidFill>
                  <a:srgbClr val="6B7A8C"/>
                </a:solidFill>
              </a:rPr>
              <a:t>覆盖投标主链路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940B34-2E82-4AFC-AE53-B8B62FA64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848100"/>
            <a:ext cx="31432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FA656C-D0B7-4AA6-878B-A931FDCDF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848100"/>
            <a:ext cx="3143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2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AEC995-A9F0-470C-AA58-33A730AE4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76700"/>
            <a:ext cx="2724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2233A"/>
                </a:solidFill>
              </a:defRPr>
            </a:pPr>
            <a:r>
              <a:rPr sz="2550" b="1">
                <a:solidFill>
                  <a:srgbClr val="12233A"/>
                </a:solidFill>
              </a:rPr>
              <a:t>可追溯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7F4BE2-3F96-4EBA-A9EF-10059F78B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62915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4465C"/>
                </a:solidFill>
              </a:defRPr>
            </a:pPr>
            <a:r>
              <a:rPr sz="1200" b="0">
                <a:solidFill>
                  <a:srgbClr val="34465C"/>
                </a:solidFill>
              </a:rPr>
              <a:t>任务、资料、费用</a:t>
            </a:r>
          </a:p>
          <a:p xmlns:a="http://schemas.openxmlformats.org/drawingml/2006/main">
            <a:pPr algn="l">
              <a:defRPr sz="1200" b="0">
                <a:solidFill>
                  <a:srgbClr val="34465C"/>
                </a:solidFill>
              </a:defRPr>
            </a:pPr>
            <a:r>
              <a:rPr sz="1200" b="0">
                <a:solidFill>
                  <a:srgbClr val="34465C"/>
                </a:solidFill>
              </a:rPr>
              <a:t>资源全程留痕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83FD4D-B700-42A9-A59F-8C4D36994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5105400"/>
            <a:ext cx="268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A8C"/>
                </a:solidFill>
              </a:defRPr>
            </a:pPr>
            <a:r>
              <a:rPr sz="750" b="0">
                <a:solidFill>
                  <a:srgbClr val="6B7A8C"/>
                </a:solidFill>
              </a:rPr>
              <a:t>支撑管理复盘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87C964-DB7C-479D-9CD8-DD5DE4B03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848100"/>
            <a:ext cx="31432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B592CF-854D-4558-B4D5-BD9C55273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848100"/>
            <a:ext cx="3143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5F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6EEA8E-254A-40D6-AF64-5DC13FCE1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076700"/>
            <a:ext cx="2724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2233A"/>
                </a:solidFill>
              </a:defRPr>
            </a:pPr>
            <a:r>
              <a:rPr sz="2550" b="1">
                <a:solidFill>
                  <a:srgbClr val="12233A"/>
                </a:solidFill>
              </a:rPr>
              <a:t>智能化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4781211-9524-4DA6-BAB5-65A332DAB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62915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4465C"/>
                </a:solidFill>
              </a:defRPr>
            </a:pPr>
            <a:r>
              <a:rPr sz="1200" b="0">
                <a:solidFill>
                  <a:srgbClr val="34465C"/>
                </a:solidFill>
              </a:rPr>
              <a:t>AI分析、合规检查</a:t>
            </a:r>
          </a:p>
          <a:p xmlns:a="http://schemas.openxmlformats.org/drawingml/2006/main">
            <a:pPr algn="l">
              <a:defRPr sz="1200" b="0">
                <a:solidFill>
                  <a:srgbClr val="34465C"/>
                </a:solidFill>
              </a:defRPr>
            </a:pPr>
            <a:r>
              <a:rPr sz="1200" b="0">
                <a:solidFill>
                  <a:srgbClr val="34465C"/>
                </a:solidFill>
              </a:rPr>
              <a:t>知识推荐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CC394CB-1B8D-4EEF-821F-1EE17FDE6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105400"/>
            <a:ext cx="268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A8C"/>
                </a:solidFill>
              </a:defRPr>
            </a:pPr>
            <a:r>
              <a:rPr sz="750" b="0">
                <a:solidFill>
                  <a:srgbClr val="6B7A8C"/>
                </a:solidFill>
              </a:rPr>
              <a:t>提升效率与质量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4FE79C5-B4DF-4578-B732-899C571CD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A8C"/>
                </a:solidFill>
              </a:defRPr>
            </a:pPr>
            <a:r>
              <a:rPr sz="750" b="0">
                <a:solidFill>
                  <a:srgbClr val="6B7A8C"/>
                </a:solidFill>
              </a:rPr>
              <a:t>项目启动会 · 2026.04.27</a:t>
            </a:r>
          </a:p>
        </p:txBody>
      </p:sp>
    </p:spTree>
    <p:extLst>
      <p:ext uri="{BB962C8B-B14F-4D97-AF65-F5344CB8AC3E}">
        <p14:creationId xmlns:p14="http://schemas.microsoft.com/office/powerpoint/2010/main" val="6722496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AA4A574-D57E-4B40-9CA5-EBC92D23B57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5c9efb303546b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A939DB-2795-46C1-9FF1-592FC6924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7215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1E0CBE-92F2-4AE8-ACAD-D21FDAAF8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D5F52"/>
                </a:solidFill>
              </a:defRPr>
            </a:pPr>
            <a:r>
              <a:rPr sz="975" b="1">
                <a:solidFill>
                  <a:srgbClr val="0D5F52"/>
                </a:solidFill>
              </a:rPr>
              <a:t>VALUE CHANGE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BBB6BB-F349-402C-906B-A7CC32283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385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D5F52"/>
                </a:solidFill>
              </a:defRPr>
            </a:pPr>
            <a:r>
              <a:rPr sz="975" b="1">
                <a:solidFill>
                  <a:srgbClr val="0D5F52"/>
                </a:solidFill>
              </a:rPr>
              <a:t>04 / 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5C4F67-7727-460C-8992-589C723F5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31E26B-E81F-49C0-AF07-509F67B06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29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19050">
            <a:solidFill>
              <a:srgbClr val="1223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7D4372-3E75-47D4-A322-FA338178C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7239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2233A"/>
                </a:solidFill>
              </a:defRPr>
            </a:pPr>
            <a:r>
              <a:rPr sz="3000" b="1">
                <a:solidFill>
                  <a:srgbClr val="12233A"/>
                </a:solidFill>
              </a:rPr>
              <a:t>建设后的核心变化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5D7F15-0ADA-4638-A412-271B85CB9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6858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4465C"/>
                </a:solidFill>
              </a:defRPr>
            </a:pPr>
            <a:r>
              <a:rPr sz="1425" b="0">
                <a:solidFill>
                  <a:srgbClr val="34465C"/>
                </a:solidFill>
              </a:rPr>
              <a:t>从分散、线下、经验驱动，转向统一入口、过程可视和数据驱动。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4B22E8-8410-47B8-98D2-31654BC12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57650"/>
            <a:ext cx="33845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301B67-2714-4B48-A0BB-12A26885B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57650"/>
            <a:ext cx="762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90C70D-4CD8-446F-AE00-355811238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286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110AD7-8B08-46AC-BE04-4E1CB7D86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62475"/>
            <a:ext cx="571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321437-1D7A-4E79-A7A5-87B47D022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4486275"/>
            <a:ext cx="57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3E766F-DC79-4BA7-9300-2DC4C550D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19600"/>
            <a:ext cx="571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32B5DC-2E18-471B-A4EF-C8A6AEC3C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26720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D5F52"/>
                </a:solidFill>
              </a:defRPr>
            </a:pPr>
            <a:r>
              <a:rPr sz="1125" b="1">
                <a:solidFill>
                  <a:srgbClr val="0D5F52"/>
                </a:solidFill>
              </a:rPr>
              <a:t>统一入口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4358E7-93CF-4454-95E4-3520B738A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876800"/>
            <a:ext cx="292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标讯、项目、费用、资料</a:t>
            </a:r>
          </a:p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集中管理，减少信息断点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42F821-1912-463F-99DD-78B012AF8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057650"/>
            <a:ext cx="33845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94FC82-85A0-409F-AB77-D90E38A7B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057650"/>
            <a:ext cx="762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58B0BB-6220-47D5-BEBE-5AFB8290C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2800" y="4286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22D30B-F55B-44C1-83A3-56E9062B6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6625" y="4457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9525">
            <a:solidFill>
              <a:srgbClr val="12233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7CE23A-90C9-4F59-9C1C-65AF3EE1E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8075" y="4543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9525">
            <a:solidFill>
              <a:srgbClr val="12233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EC9087-A8A3-4F48-9D42-F505A85D1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2350" y="4524375"/>
            <a:ext cx="180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CB3DC9A-5EB9-4FF1-9E1E-E1CB22C99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1450" y="426720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D5F52"/>
                </a:solidFill>
              </a:defRPr>
            </a:pPr>
            <a:r>
              <a:rPr sz="1125" b="1">
                <a:solidFill>
                  <a:srgbClr val="0D5F52"/>
                </a:solidFill>
              </a:rPr>
              <a:t>过程可控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76196B7-9896-4106-B719-0B5B2D1CE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1850" y="4876800"/>
            <a:ext cx="292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任务看板、节点提醒、资源台账</a:t>
            </a:r>
          </a:p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让过程可跟踪可复盘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D969FCF-257E-4B67-BF7B-7DFE97A97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4057650"/>
            <a:ext cx="33845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806AE03-6FDB-4F2A-B4C6-ED6F30B00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4057650"/>
            <a:ext cx="762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C0B8524-B503-4FAD-B78E-D7A21A201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5950" y="4286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2BCD6E2-4455-4B99-A836-CE39647BB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775" y="4429125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8A70"/>
          </a:solidFill>
          <a:ln xmlns:a="http://schemas.openxmlformats.org/drawingml/2006/main" w="9525">
            <a:solidFill>
              <a:srgbClr val="12233A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E67C380-E642-4F9B-B1CA-41AF1C8BC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7400" y="4514850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A23A"/>
          </a:solidFill>
          <a:ln xmlns:a="http://schemas.openxmlformats.org/drawingml/2006/main" w="9525">
            <a:solidFill>
              <a:srgbClr val="12233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3DFD2DA-D76B-43AE-8E60-04910C9E7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5025" y="4600575"/>
            <a:ext cx="1905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5F45"/>
          </a:solidFill>
          <a:ln xmlns:a="http://schemas.openxmlformats.org/drawingml/2006/main" w="9525">
            <a:solidFill>
              <a:srgbClr val="12233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096BDF3-370D-4B1E-8C61-EDC209B5B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4600" y="426720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D5F52"/>
                </a:solidFill>
              </a:defRPr>
            </a:pPr>
            <a:r>
              <a:rPr sz="1125" b="1">
                <a:solidFill>
                  <a:srgbClr val="0D5F52"/>
                </a:solidFill>
              </a:rPr>
              <a:t>决策有据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1FF7CCD-38F2-4B4F-8350-29AE107B1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4876800"/>
            <a:ext cx="292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中标率、ROI、竞对、区域和客户</a:t>
            </a:r>
          </a:p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多维分析辅助投入判断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0A2BF4F-8A8A-45BF-8D62-1E7772458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A8C"/>
                </a:solidFill>
              </a:defRPr>
            </a:pPr>
            <a:r>
              <a:rPr sz="750" b="0">
                <a:solidFill>
                  <a:srgbClr val="6B7A8C"/>
                </a:solidFill>
              </a:rPr>
              <a:t>项目启动会 · 2026.04.27</a:t>
            </a:r>
          </a:p>
        </p:txBody>
      </p:sp>
    </p:spTree>
    <p:extLst>
      <p:ext uri="{BB962C8B-B14F-4D97-AF65-F5344CB8AC3E}">
        <p14:creationId xmlns:p14="http://schemas.microsoft.com/office/powerpoint/2010/main" val="157035424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AA4A574-D57E-4B40-9CA5-EBC92D23B57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fcb4b4aa994da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464DED-B15F-4457-A875-771E26378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7215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6A4A0A-9CD8-4299-BB40-41D08C81C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D5F52"/>
                </a:solidFill>
              </a:defRPr>
            </a:pPr>
            <a:r>
              <a:rPr sz="975" b="1">
                <a:solidFill>
                  <a:srgbClr val="0D5F52"/>
                </a:solidFill>
              </a:rPr>
              <a:t>TECH ENABLEMENT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0B8BF2-5C73-4319-BEBE-76A0C045F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385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D5F52"/>
                </a:solidFill>
              </a:defRPr>
            </a:pPr>
            <a:r>
              <a:rPr sz="975" b="1">
                <a:solidFill>
                  <a:srgbClr val="0D5F52"/>
                </a:solidFill>
              </a:rPr>
              <a:t>05 / 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258230-0A7E-497D-8279-69AD8F04A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0C3E35-6D86-42F8-A1C9-F4A71EF2A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29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19050">
            <a:solidFill>
              <a:srgbClr val="1223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58F7AD-4789-4E7E-A55B-05D840C59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7239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2233A"/>
                </a:solidFill>
              </a:defRPr>
            </a:pPr>
            <a:r>
              <a:rPr sz="3000" b="1">
                <a:solidFill>
                  <a:srgbClr val="12233A"/>
                </a:solidFill>
              </a:rPr>
              <a:t>技术手段对投标管理的现在与未来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64BD6D-1A26-403C-914E-9D871EADB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6858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4465C"/>
                </a:solidFill>
              </a:defRPr>
            </a:pPr>
            <a:r>
              <a:rPr sz="1425" b="0">
                <a:solidFill>
                  <a:srgbClr val="34465C"/>
                </a:solidFill>
              </a:rPr>
              <a:t>本期先把全过程搬到线上，后续持续形成智能投标能力中枢。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A30413-0058-4CA0-880B-EB59750EE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57650"/>
            <a:ext cx="33845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85045E-F7E7-4636-9226-89FD2D366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57650"/>
            <a:ext cx="762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E0D64C-2FA5-4A52-8B8E-2B4042081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286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8F6EAC-D5DA-4CE7-9CF8-9B084AC3F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62475"/>
            <a:ext cx="571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F212A0-1F5C-4082-A381-EC38C6335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4486275"/>
            <a:ext cx="57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0BABDD-5DFC-4600-BF0D-CC299B36E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19600"/>
            <a:ext cx="571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ACE475-3498-43A2-972C-DCD4C7039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26720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D5F52"/>
                </a:solidFill>
              </a:defRPr>
            </a:pPr>
            <a:r>
              <a:rPr sz="1125" b="1">
                <a:solidFill>
                  <a:srgbClr val="0D5F52"/>
                </a:solidFill>
              </a:rPr>
              <a:t>现阶段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703D3D-DA8E-4AD0-947D-05998AA2B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876800"/>
            <a:ext cx="292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标讯、项目、任务、文档、费用、结果</a:t>
            </a:r>
          </a:p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统一到同一套业务主链路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A0EA92-8BCA-43CE-ACF7-E6BF0AB2F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057650"/>
            <a:ext cx="33845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B81BF0-5B69-4B93-942C-399A11E52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057650"/>
            <a:ext cx="762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F60C5C-A03F-467A-9DE6-18F38CD6D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2800" y="4286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D1A47C-06A6-43B2-9C92-8E158D2C3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6625" y="4457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9525">
            <a:solidFill>
              <a:srgbClr val="12233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145B74-1DF2-4693-86C5-DBF3CA594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8075" y="4543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9525">
            <a:solidFill>
              <a:srgbClr val="12233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A522E69-9A1C-43E2-A73D-4BCD2C404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2350" y="4524375"/>
            <a:ext cx="180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0069304-ECF7-4E8D-A0A5-DF1A40796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1450" y="426720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D5F52"/>
                </a:solidFill>
              </a:defRPr>
            </a:pPr>
            <a:r>
              <a:rPr sz="1125" b="1">
                <a:solidFill>
                  <a:srgbClr val="0D5F52"/>
                </a:solidFill>
              </a:rPr>
              <a:t>能力沉淀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7D1542-58A8-47EE-AF1A-6AE974CF9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1850" y="4876800"/>
            <a:ext cx="292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资质库、案例库、模板库、BAR资源</a:t>
            </a:r>
          </a:p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支撑资料复用和责任追溯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A2C112B-8CA8-4E00-8770-0078FC003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4057650"/>
            <a:ext cx="33845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A24011E-03FB-4F73-9694-7B8FA7223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4057650"/>
            <a:ext cx="762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33FE723-E1C1-4474-BEC9-D7798FD85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5950" y="4286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ECC2E87-A312-448D-8082-39D5C4C89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775" y="4429125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8A70"/>
          </a:solidFill>
          <a:ln xmlns:a="http://schemas.openxmlformats.org/drawingml/2006/main" w="9525">
            <a:solidFill>
              <a:srgbClr val="12233A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B19C4DB-BFB5-42F2-8F59-4D884F792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7400" y="4514850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A23A"/>
          </a:solidFill>
          <a:ln xmlns:a="http://schemas.openxmlformats.org/drawingml/2006/main" w="9525">
            <a:solidFill>
              <a:srgbClr val="12233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CF1357E-09E6-4621-B7CD-12479DD3B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5025" y="4600575"/>
            <a:ext cx="1905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5F45"/>
          </a:solidFill>
          <a:ln xmlns:a="http://schemas.openxmlformats.org/drawingml/2006/main" w="9525">
            <a:solidFill>
              <a:srgbClr val="12233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5720B99-1137-4942-9AF8-3C3726424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4600" y="426720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D5F52"/>
                </a:solidFill>
              </a:defRPr>
            </a:pPr>
            <a:r>
              <a:rPr sz="1125" b="1">
                <a:solidFill>
                  <a:srgbClr val="0D5F52"/>
                </a:solidFill>
              </a:rPr>
              <a:t>未来演进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5BA4D64-0111-447D-A2E7-8B31F579E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4876800"/>
            <a:ext cx="292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CRM/OA/消息/电子签章分步打通</a:t>
            </a:r>
          </a:p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叠加AI解析与策略建议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9139BE1-F0B2-430E-A426-9D7C09F52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A8C"/>
                </a:solidFill>
              </a:defRPr>
            </a:pPr>
            <a:r>
              <a:rPr sz="750" b="0">
                <a:solidFill>
                  <a:srgbClr val="6B7A8C"/>
                </a:solidFill>
              </a:rPr>
              <a:t>项目启动会 · 2026.04.27</a:t>
            </a:r>
          </a:p>
        </p:txBody>
      </p:sp>
    </p:spTree>
    <p:extLst>
      <p:ext uri="{BB962C8B-B14F-4D97-AF65-F5344CB8AC3E}">
        <p14:creationId xmlns:p14="http://schemas.microsoft.com/office/powerpoint/2010/main" val="35726658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AA4A574-D57E-4B40-9CA5-EBC92D23B57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7588662eeb4a45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626E4A-F1DA-4C31-BA29-0F69BF873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7215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657817-B561-43FA-8151-04F033DC3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D5F52"/>
                </a:solidFill>
              </a:defRPr>
            </a:pPr>
            <a:r>
              <a:rPr sz="975" b="1">
                <a:solidFill>
                  <a:srgbClr val="0D5F52"/>
                </a:solidFill>
              </a:rPr>
              <a:t>MONITORING &amp; DECISION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08246D-6A1D-4344-A8A2-631FC44D7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385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D5F52"/>
                </a:solidFill>
              </a:defRPr>
            </a:pPr>
            <a:r>
              <a:rPr sz="975" b="1">
                <a:solidFill>
                  <a:srgbClr val="0D5F52"/>
                </a:solidFill>
              </a:rPr>
              <a:t>06 / 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0D7726-1CE9-4B9B-BE71-F70F0E97C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EC242E-532F-4830-AE39-A8E40654B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29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19050">
            <a:solidFill>
              <a:srgbClr val="1223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4ECCF2-768E-4AD9-A482-73418F790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7239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2233A"/>
                </a:solidFill>
              </a:defRPr>
            </a:pPr>
            <a:r>
              <a:rPr sz="3000" b="1">
                <a:solidFill>
                  <a:srgbClr val="12233A"/>
                </a:solidFill>
              </a:rPr>
              <a:t>业务监控与决策支持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B3351D-6E43-4739-891F-5F28FFF61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6858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4465C"/>
                </a:solidFill>
              </a:defRPr>
            </a:pPr>
            <a:r>
              <a:rPr sz="1425" b="0">
                <a:solidFill>
                  <a:srgbClr val="34465C"/>
                </a:solidFill>
              </a:rPr>
              <a:t>平台以过程监控、结果分析、经营洞察三层构建管理驾驶舱。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D70CB1-74E0-4098-B183-77146310B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57650"/>
            <a:ext cx="33845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3C392C-0770-4430-BB43-38F157EE8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57650"/>
            <a:ext cx="762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01368B-F84B-4FC9-98F8-06A7B63C0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286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316444-E2F3-44AA-AE14-A7941AE90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62475"/>
            <a:ext cx="571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D7D0F0-DB54-458D-955D-DD749CF37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4486275"/>
            <a:ext cx="57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3470D2-ED04-4247-AE0B-16C872056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19600"/>
            <a:ext cx="571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0D43C3-CBA6-4992-9461-1508A9E6B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26720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D5F52"/>
                </a:solidFill>
              </a:defRPr>
            </a:pPr>
            <a:r>
              <a:rPr sz="1125" b="1">
                <a:solidFill>
                  <a:srgbClr val="0D5F52"/>
                </a:solidFill>
              </a:rPr>
              <a:t>过程监控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6BEDBC-67FB-48D4-9177-0E4DF8B13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876800"/>
            <a:ext cx="292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标讯跟进、项目阶段、任务逾期</a:t>
            </a:r>
          </a:p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截标、用印、保证金提醒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577E59-71F6-437C-A609-AF8406E48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057650"/>
            <a:ext cx="33845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4591F0-F893-4813-9645-24CB4B804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057650"/>
            <a:ext cx="762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FB6974-CF74-4609-B9C5-3493DA6BB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2800" y="4286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C70C184-DAAB-4EA2-8761-1BA41325A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6625" y="4457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9525">
            <a:solidFill>
              <a:srgbClr val="12233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9DFA8F-DB36-49F2-81A2-BE26BEB2A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8075" y="4543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9525">
            <a:solidFill>
              <a:srgbClr val="12233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A28605-1404-40A0-B722-0816BE1FB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2350" y="4524375"/>
            <a:ext cx="180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140E4A-2837-4F5C-960B-675121D3A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1450" y="426720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D5F52"/>
                </a:solidFill>
              </a:defRPr>
            </a:pPr>
            <a:r>
              <a:rPr sz="1125" b="1">
                <a:solidFill>
                  <a:srgbClr val="0D5F52"/>
                </a:solidFill>
              </a:rPr>
              <a:t>结果分析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D01E7E-C86B-49D0-91FC-02764307A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1850" y="4876800"/>
            <a:ext cx="292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投标数量、中标率、中标金额</a:t>
            </a:r>
          </a:p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项目周期和费用投入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EC97D28-1BFE-43B9-BE68-748220A53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4057650"/>
            <a:ext cx="33845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DC4B5DC-56D5-475B-A8DD-4D0B34A8E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4057650"/>
            <a:ext cx="762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FF1184E-43C7-455C-A93A-D6EEB7AB0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5950" y="4286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47E1335-609C-4F4B-9807-81B09B499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775" y="4429125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8A70"/>
          </a:solidFill>
          <a:ln xmlns:a="http://schemas.openxmlformats.org/drawingml/2006/main" w="9525">
            <a:solidFill>
              <a:srgbClr val="12233A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FAFF8D3-F0E6-4E42-BB87-30F5195D8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7400" y="4514850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A23A"/>
          </a:solidFill>
          <a:ln xmlns:a="http://schemas.openxmlformats.org/drawingml/2006/main" w="9525">
            <a:solidFill>
              <a:srgbClr val="12233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8C03847-1CF0-4C5D-B9C3-445E215E7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5025" y="4600575"/>
            <a:ext cx="1905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5F45"/>
          </a:solidFill>
          <a:ln xmlns:a="http://schemas.openxmlformats.org/drawingml/2006/main" w="9525">
            <a:solidFill>
              <a:srgbClr val="12233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E8B6933-10A3-4CB5-B880-61BACB031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4600" y="426720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D5F52"/>
                </a:solidFill>
              </a:defRPr>
            </a:pPr>
            <a:r>
              <a:rPr sz="1125" b="1">
                <a:solidFill>
                  <a:srgbClr val="0D5F52"/>
                </a:solidFill>
              </a:rPr>
              <a:t>经营洞察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04A690B-702B-4EA7-B348-BD9F1D579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4876800"/>
            <a:ext cx="292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ROI、客户价值、历史中标概率</a:t>
            </a:r>
          </a:p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竞对参与和策略建议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6D29761-395B-4985-8190-D4D368AA5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A8C"/>
                </a:solidFill>
              </a:defRPr>
            </a:pPr>
            <a:r>
              <a:rPr sz="750" b="0">
                <a:solidFill>
                  <a:srgbClr val="6B7A8C"/>
                </a:solidFill>
              </a:rPr>
              <a:t>项目启动会 · 2026.04.27</a:t>
            </a:r>
          </a:p>
        </p:txBody>
      </p:sp>
    </p:spTree>
    <p:extLst>
      <p:ext uri="{BB962C8B-B14F-4D97-AF65-F5344CB8AC3E}">
        <p14:creationId xmlns:p14="http://schemas.microsoft.com/office/powerpoint/2010/main" val="191771659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AA4A574-D57E-4B40-9CA5-EBC92D23B57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b8e3eac5d44e8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0EE136-0651-42E5-99DA-4C300BE88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7215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8D38C9-4436-4EAF-94A3-557E9E453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D5F52"/>
                </a:solidFill>
              </a:defRPr>
            </a:pPr>
            <a:r>
              <a:rPr sz="975" b="1">
                <a:solidFill>
                  <a:srgbClr val="0D5F52"/>
                </a:solidFill>
              </a:rPr>
              <a:t>DATA PLATFORM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664295-1225-48B5-9468-B55BA14AF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385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D5F52"/>
                </a:solidFill>
              </a:defRPr>
            </a:pPr>
            <a:r>
              <a:rPr sz="975" b="1">
                <a:solidFill>
                  <a:srgbClr val="0D5F52"/>
                </a:solidFill>
              </a:rPr>
              <a:t>07 / 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C50CE5-204E-46E0-8A4F-FA5B95DFB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D631F2-56BD-4B66-8A15-0F8F809BF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29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19050">
            <a:solidFill>
              <a:srgbClr val="1223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EA04CF-BDFA-46E0-A69B-292E689B0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7239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2233A"/>
                </a:solidFill>
              </a:defRPr>
            </a:pPr>
            <a:r>
              <a:rPr sz="3000" b="1">
                <a:solidFill>
                  <a:srgbClr val="12233A"/>
                </a:solidFill>
              </a:rPr>
              <a:t>数据中台：先服务投标主链路和经营分析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AD16CF-C30C-4DCE-81B0-69C1EC308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6858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4465C"/>
                </a:solidFill>
              </a:defRPr>
            </a:pPr>
            <a:r>
              <a:rPr sz="1425" b="0">
                <a:solidFill>
                  <a:srgbClr val="34465C"/>
                </a:solidFill>
              </a:rPr>
              <a:t>以统一数据口径、统一数据服务、统一指标体系为建设原则。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782DA5-F1E9-4D63-A22B-A5BA9D362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57650"/>
            <a:ext cx="33845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120786-5412-4FE7-99F0-51B14E046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57650"/>
            <a:ext cx="762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8113FC-AE3A-43AA-B073-4FFE84D79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286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A92653-F3EB-4F3A-9A72-ABFCE1227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62475"/>
            <a:ext cx="571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D2A412-C558-4747-8ECA-A483CC004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4486275"/>
            <a:ext cx="57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75C877-7365-44CD-897A-D0D69538C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19600"/>
            <a:ext cx="571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A662BA-99E9-49C3-A6F4-2E5382415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26720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D5F52"/>
                </a:solidFill>
              </a:defRPr>
            </a:pPr>
            <a:r>
              <a:rPr sz="1125" b="1">
                <a:solidFill>
                  <a:srgbClr val="0D5F52"/>
                </a:solidFill>
              </a:rPr>
              <a:t>数据来源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015179-6651-48A4-B70F-2DBF773F8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876800"/>
            <a:ext cx="292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标讯/商机、项目过程、任务文档</a:t>
            </a:r>
          </a:p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费用保证金、账户证书、结果竞对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83B22A-5E78-4727-8604-16128F750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057650"/>
            <a:ext cx="33845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46CA9F-93B9-40D4-91F3-8539F3237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057650"/>
            <a:ext cx="762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FDB3BB-7471-4762-9414-1B54D46E0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2800" y="4286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505EA8-7A18-4D43-9F9D-B2FD4C446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6625" y="4457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9525">
            <a:solidFill>
              <a:srgbClr val="12233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DC8C72C-C4CA-4E6C-A072-F09799FBD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8075" y="4543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9525">
            <a:solidFill>
              <a:srgbClr val="12233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370BEF-5A90-4B7B-8B80-631E8AC2D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2350" y="4524375"/>
            <a:ext cx="180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9D94F44-8113-4DDE-82D8-0ABEBEB55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1450" y="426720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D5F52"/>
                </a:solidFill>
              </a:defRPr>
            </a:pPr>
            <a:r>
              <a:rPr sz="1125" b="1">
                <a:solidFill>
                  <a:srgbClr val="0D5F52"/>
                </a:solidFill>
              </a:rPr>
              <a:t>数据治理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466D612-3920-4B92-BDE9-D4DA503CF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1850" y="4876800"/>
            <a:ext cx="292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组织、用户、客户、项目、资源</a:t>
            </a:r>
          </a:p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模板、资质、案例统一口径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BB4A53B-CFBA-4BF8-A5CC-A706950B3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4057650"/>
            <a:ext cx="33845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9F2DB82-6101-4C30-8E5C-ECA5A245C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4057650"/>
            <a:ext cx="762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D828630-ADCE-4BEF-A41F-792BD6713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5950" y="4286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055EEDF-2CE9-4936-B83F-F6E82B862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775" y="4429125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8A70"/>
          </a:solidFill>
          <a:ln xmlns:a="http://schemas.openxmlformats.org/drawingml/2006/main" w="9525">
            <a:solidFill>
              <a:srgbClr val="12233A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098D306-EF8B-4448-8442-C1FC27A65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7400" y="4514850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A23A"/>
          </a:solidFill>
          <a:ln xmlns:a="http://schemas.openxmlformats.org/drawingml/2006/main" w="9525">
            <a:solidFill>
              <a:srgbClr val="12233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C5149BE-BF60-4E84-A00A-497A076C3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5025" y="4600575"/>
            <a:ext cx="1905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5F45"/>
          </a:solidFill>
          <a:ln xmlns:a="http://schemas.openxmlformats.org/drawingml/2006/main" w="9525">
            <a:solidFill>
              <a:srgbClr val="12233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4A0838-C4AC-422D-AC68-BB71BD3B9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4600" y="426720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D5F52"/>
                </a:solidFill>
              </a:defRPr>
            </a:pPr>
            <a:r>
              <a:rPr sz="1125" b="1">
                <a:solidFill>
                  <a:srgbClr val="0D5F52"/>
                </a:solidFill>
              </a:rPr>
              <a:t>数据服务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2C12F43-480B-4547-860D-DD5955AC9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4876800"/>
            <a:ext cx="292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标准API、驾驶舱指标、数据下钻</a:t>
            </a:r>
          </a:p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AI分析与风险识别服务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A085262-4E76-4F5B-A0AA-446E52DD7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A8C"/>
                </a:solidFill>
              </a:defRPr>
            </a:pPr>
            <a:r>
              <a:rPr sz="750" b="0">
                <a:solidFill>
                  <a:srgbClr val="6B7A8C"/>
                </a:solidFill>
              </a:rPr>
              <a:t>项目启动会 · 2026.04.27</a:t>
            </a:r>
          </a:p>
        </p:txBody>
      </p:sp>
    </p:spTree>
    <p:extLst>
      <p:ext uri="{BB962C8B-B14F-4D97-AF65-F5344CB8AC3E}">
        <p14:creationId xmlns:p14="http://schemas.microsoft.com/office/powerpoint/2010/main" val="78782248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AA4A574-D57E-4B40-9CA5-EBC92D23B57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012f3f736a49b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0FF80F-C41F-44C7-8AA4-6686319DC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7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63699A-86E3-4714-A5CF-45E09EDA6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D5F52"/>
                </a:solidFill>
              </a:defRPr>
            </a:pPr>
            <a:r>
              <a:rPr sz="975" b="1">
                <a:solidFill>
                  <a:srgbClr val="0D5F52"/>
                </a:solidFill>
              </a:rPr>
              <a:t>02 PROJECT PLAN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D051EF-5632-48D0-A26C-4859C7070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385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D5F52"/>
                </a:solidFill>
              </a:defRPr>
            </a:pPr>
            <a:r>
              <a:rPr sz="975" b="1">
                <a:solidFill>
                  <a:srgbClr val="0D5F52"/>
                </a:solidFill>
              </a:rPr>
              <a:t>08 / 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109D2C-B895-4EDA-8C0A-574E3504E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63D087-5703-40F3-977E-76B423F49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29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19050">
            <a:solidFill>
              <a:srgbClr val="1223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82B9B6-0DDF-4019-BE89-A776FB951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6667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2233A"/>
                </a:solidFill>
              </a:defRPr>
            </a:pPr>
            <a:r>
              <a:rPr sz="3000" b="1">
                <a:solidFill>
                  <a:srgbClr val="12233A"/>
                </a:solidFill>
              </a:rPr>
              <a:t>项目规划：60个有效工作日完成上线启动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A1926A-7891-44CB-A3F3-3B068813D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6667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4465C"/>
                </a:solidFill>
              </a:defRPr>
            </a:pPr>
            <a:r>
              <a:rPr sz="1425" b="0">
                <a:solidFill>
                  <a:srgbClr val="34465C"/>
                </a:solidFill>
              </a:rPr>
              <a:t>计划按有效工作日编排，周末和法定节假日不计入阶段工期。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ACF1DF-D354-4E73-990C-F320B1699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48100"/>
            <a:ext cx="31432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258832-2C74-4A87-B4D8-85D6C5225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48100"/>
            <a:ext cx="3143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8EC84C-F38B-4323-B93D-B082856A6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76700"/>
            <a:ext cx="2724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2233A"/>
                </a:solidFill>
              </a:defRPr>
            </a:pPr>
            <a:r>
              <a:rPr sz="2550" b="1">
                <a:solidFill>
                  <a:srgbClr val="12233A"/>
                </a:solidFill>
              </a:rPr>
              <a:t>60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83F5E9-6CEC-40B1-94FB-FBF6DC956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62915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4465C"/>
                </a:solidFill>
              </a:defRPr>
            </a:pPr>
            <a:r>
              <a:rPr sz="1200" b="0">
                <a:solidFill>
                  <a:srgbClr val="34465C"/>
                </a:solidFill>
              </a:rPr>
              <a:t>有效工作日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765CD8-4315-4620-B2D0-08D585CA1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105400"/>
            <a:ext cx="268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A8C"/>
                </a:solidFill>
              </a:defRPr>
            </a:pPr>
            <a:r>
              <a:rPr sz="750" b="0">
                <a:solidFill>
                  <a:srgbClr val="6B7A8C"/>
                </a:solidFill>
              </a:rPr>
              <a:t>2026-04-27 至 2026-07-23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1D859B-D50F-4615-934B-01B2E0A32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848100"/>
            <a:ext cx="31432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144763-B79A-4B01-8CEB-374982BE4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848100"/>
            <a:ext cx="3143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2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84A85C-0ED2-44A0-8B59-1A955C842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76700"/>
            <a:ext cx="2724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2233A"/>
                </a:solidFill>
              </a:defRPr>
            </a:pPr>
            <a:r>
              <a:rPr sz="2550" b="1">
                <a:solidFill>
                  <a:srgbClr val="12233A"/>
                </a:solidFill>
              </a:rPr>
              <a:t>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F4CC19-736C-492C-B501-48F4D3870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62915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4465C"/>
                </a:solidFill>
              </a:defRPr>
            </a:pPr>
            <a:r>
              <a:rPr sz="1200" b="0">
                <a:solidFill>
                  <a:srgbClr val="34465C"/>
                </a:solidFill>
              </a:rPr>
              <a:t>阶段里程碑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D672B4-1894-4E55-A35D-31D786E54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5105400"/>
            <a:ext cx="268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A8C"/>
                </a:solidFill>
              </a:defRPr>
            </a:pPr>
            <a:r>
              <a:rPr sz="750" b="0">
                <a:solidFill>
                  <a:srgbClr val="6B7A8C"/>
                </a:solidFill>
              </a:rPr>
              <a:t>启动调研 / 蓝图 / 实现 / 联调 / UAT / 上线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49B9BB-E1DE-4695-80AB-FBB16CF4D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848100"/>
            <a:ext cx="31432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E42359-A174-492C-8E8A-17768142E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848100"/>
            <a:ext cx="3143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5F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B545441-21B0-4FDA-8C25-BB2BE84E8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076700"/>
            <a:ext cx="2724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2233A"/>
                </a:solidFill>
              </a:defRPr>
            </a:pPr>
            <a:r>
              <a:rPr sz="2550" b="1">
                <a:solidFill>
                  <a:srgbClr val="12233A"/>
                </a:solidFill>
              </a:rPr>
              <a:t>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CB3948-7799-4026-8186-81B493F1C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62915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4465C"/>
                </a:solidFill>
              </a:defRPr>
            </a:pPr>
            <a:r>
              <a:rPr sz="1200" b="0">
                <a:solidFill>
                  <a:srgbClr val="34465C"/>
                </a:solidFill>
              </a:rPr>
              <a:t>上线前P0问题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A3B8AAD-7A2B-4E85-8961-F40594710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105400"/>
            <a:ext cx="268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A8C"/>
                </a:solidFill>
              </a:defRPr>
            </a:pPr>
            <a:r>
              <a:rPr sz="750" b="0">
                <a:solidFill>
                  <a:srgbClr val="6B7A8C"/>
                </a:solidFill>
              </a:rPr>
              <a:t>作为进入生产切换的门禁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2E51DBE-4195-41D8-9B47-331676D9E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A8C"/>
                </a:solidFill>
              </a:defRPr>
            </a:pPr>
            <a:r>
              <a:rPr sz="750" b="0">
                <a:solidFill>
                  <a:srgbClr val="6B7A8C"/>
                </a:solidFill>
              </a:rPr>
              <a:t>项目启动会 · 2026.04.27</a:t>
            </a:r>
          </a:p>
        </p:txBody>
      </p:sp>
    </p:spTree>
    <p:extLst>
      <p:ext uri="{BB962C8B-B14F-4D97-AF65-F5344CB8AC3E}">
        <p14:creationId xmlns:p14="http://schemas.microsoft.com/office/powerpoint/2010/main" val="197575048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AA4A574-D57E-4B40-9CA5-EBC92D23B57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26fc58a73f470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7A1E61-C31C-4CF0-8B9A-DB9E3C5CE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7215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115073-B945-493D-9D3C-5589DD4FF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D5F52"/>
                </a:solidFill>
              </a:defRPr>
            </a:pPr>
            <a:r>
              <a:rPr sz="975" b="1">
                <a:solidFill>
                  <a:srgbClr val="0D5F52"/>
                </a:solidFill>
              </a:rPr>
              <a:t>MILESTONE CONTROL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F40A98-A6A8-4C3F-A783-D343D9284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385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D5F52"/>
                </a:solidFill>
              </a:defRPr>
            </a:pPr>
            <a:r>
              <a:rPr sz="975" b="1">
                <a:solidFill>
                  <a:srgbClr val="0D5F52"/>
                </a:solidFill>
              </a:rPr>
              <a:t>09 / 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7B4EE1-A46A-4A9F-80D1-90B045761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5CA39C-873D-4EF7-AECC-BBB6B44CE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29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19050">
            <a:solidFill>
              <a:srgbClr val="1223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5EF103-D095-4B2A-9557-16E68B5E4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7239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2233A"/>
                </a:solidFill>
              </a:defRPr>
            </a:pPr>
            <a:r>
              <a:rPr sz="3000" b="1">
                <a:solidFill>
                  <a:srgbClr val="12233A"/>
                </a:solidFill>
              </a:rPr>
              <a:t>六阶段实施路线图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A16431-06FF-4077-9D2A-803FD7CA4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6858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4465C"/>
                </a:solidFill>
              </a:defRPr>
            </a:pPr>
            <a:r>
              <a:rPr sz="1425" b="0">
                <a:solidFill>
                  <a:srgbClr val="34465C"/>
                </a:solidFill>
              </a:rPr>
              <a:t>每一阶段都有明确目标、交付物和门禁，确保项目受控推进。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79A9E7-1493-472C-A67F-4199ECD52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57650"/>
            <a:ext cx="33845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80F276-78B5-41A7-8E1A-9027C9364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57650"/>
            <a:ext cx="762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33E788-5976-40E3-98F9-7E5D83AC5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286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6509BE-3C61-4E71-8EA5-BDFFADD80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62475"/>
            <a:ext cx="571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840F36-ABC9-4E47-8AE3-E3F657827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4486275"/>
            <a:ext cx="57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A634C5-9A12-4A28-9A4A-C43AF4CCF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19600"/>
            <a:ext cx="571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4AE3EE-BA65-4A8C-96D4-B45C17613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26720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D5F52"/>
                </a:solidFill>
              </a:defRPr>
            </a:pPr>
            <a:r>
              <a:rPr sz="1125" b="1">
                <a:solidFill>
                  <a:srgbClr val="0D5F52"/>
                </a:solidFill>
              </a:rPr>
              <a:t>启动与蓝图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74CDD3-0678-463E-BBAF-BDA76FDB2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876800"/>
            <a:ext cx="292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04/27-05/25</a:t>
            </a:r>
          </a:p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启动调研、范围基线、蓝图确认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7FC9D1-F7F4-41D2-B79C-6D8375245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057650"/>
            <a:ext cx="33845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34B195-F361-4873-A2C3-C9997D735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057650"/>
            <a:ext cx="762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11BD2D-8AC4-47D4-B95D-5B2E45FA9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2800" y="4286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ACCF06-83E6-46A9-A509-CD9A97469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6625" y="4457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9525">
            <a:solidFill>
              <a:srgbClr val="12233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A51A2BD-5620-462A-83C0-F25A08ECA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8075" y="4543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9525">
            <a:solidFill>
              <a:srgbClr val="12233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FA83E9-FA49-457E-8BBD-9FB05F2EF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2350" y="4524375"/>
            <a:ext cx="180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C10B58E-D63B-48F7-8CAE-C918C273D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1450" y="426720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D5F52"/>
                </a:solidFill>
              </a:defRPr>
            </a:pPr>
            <a:r>
              <a:rPr sz="1125" b="1">
                <a:solidFill>
                  <a:srgbClr val="0D5F52"/>
                </a:solidFill>
              </a:rPr>
              <a:t>实现与联调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F57BB5F-591B-4DDC-B4C8-44D5ABD36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1850" y="4876800"/>
            <a:ext cx="292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05/26-07/02</a:t>
            </a:r>
          </a:p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核心功能提测、接口联调、SIT通过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4F0BF4-DC6D-4C9F-86A9-25BED6DA1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4057650"/>
            <a:ext cx="33845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DD89F5-A0B7-4E2C-B512-95673957E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4057650"/>
            <a:ext cx="762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D9B0AE2-D421-4984-A337-806E6F88D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5950" y="4286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3ABCC3B-9CA9-471D-A28E-D9F769E0F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775" y="4429125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8A70"/>
          </a:solidFill>
          <a:ln xmlns:a="http://schemas.openxmlformats.org/drawingml/2006/main" w="9525">
            <a:solidFill>
              <a:srgbClr val="12233A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5BA230B-2673-4B07-886A-3CE854D3E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7400" y="4514850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A23A"/>
          </a:solidFill>
          <a:ln xmlns:a="http://schemas.openxmlformats.org/drawingml/2006/main" w="9525">
            <a:solidFill>
              <a:srgbClr val="12233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9EBFA22-EDD2-4414-BF17-E59C040B3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5025" y="4600575"/>
            <a:ext cx="1905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5F45"/>
          </a:solidFill>
          <a:ln xmlns:a="http://schemas.openxmlformats.org/drawingml/2006/main" w="9525">
            <a:solidFill>
              <a:srgbClr val="12233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E4EFB36-7018-49F8-8934-D16F5AE84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4600" y="426720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D5F52"/>
                </a:solidFill>
              </a:defRPr>
            </a:pPr>
            <a:r>
              <a:rPr sz="1125" b="1">
                <a:solidFill>
                  <a:srgbClr val="0D5F52"/>
                </a:solidFill>
              </a:rPr>
              <a:t>验收与上线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982DA60-6B74-4C37-A60D-17197BADE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4876800"/>
            <a:ext cx="292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07/03-07/23</a:t>
            </a:r>
          </a:p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UAT培训、Go/No-Go、正式上线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632EEB7-0B92-4B8C-8B33-EFA099249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A8C"/>
                </a:solidFill>
              </a:defRPr>
            </a:pPr>
            <a:r>
              <a:rPr sz="750" b="0">
                <a:solidFill>
                  <a:srgbClr val="6B7A8C"/>
                </a:solidFill>
              </a:rPr>
              <a:t>项目启动会 · 2026.04.27</a:t>
            </a:r>
          </a:p>
        </p:txBody>
      </p:sp>
    </p:spTree>
    <p:extLst>
      <p:ext uri="{BB962C8B-B14F-4D97-AF65-F5344CB8AC3E}">
        <p14:creationId xmlns:p14="http://schemas.microsoft.com/office/powerpoint/2010/main" val="176728969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AA4A574-D57E-4B40-9CA5-EBC92D23B57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dfc2e16511454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C91FC8-0E83-4309-8A21-ED012FC1A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7215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DC3F2B-B03D-4992-BF90-29536F898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D5F52"/>
                </a:solidFill>
              </a:defRPr>
            </a:pPr>
            <a:r>
              <a:rPr sz="975" b="1">
                <a:solidFill>
                  <a:srgbClr val="0D5F52"/>
                </a:solidFill>
              </a:rPr>
              <a:t>03 ORGANIZATION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7D8C0F-F02C-442B-80BD-475898D9B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385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D5F52"/>
                </a:solidFill>
              </a:defRPr>
            </a:pPr>
            <a:r>
              <a:rPr sz="975" b="1">
                <a:solidFill>
                  <a:srgbClr val="0D5F52"/>
                </a:solidFill>
              </a:rPr>
              <a:t>10 / 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030530-7281-4E17-BC45-03CBD1379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F06100-88FC-4459-97B9-EA9BA3357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29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19050">
            <a:solidFill>
              <a:srgbClr val="1223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0771A1-3603-4902-81C6-36A091D66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7239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2233A"/>
                </a:solidFill>
              </a:defRPr>
            </a:pPr>
            <a:r>
              <a:rPr sz="3000" b="1">
                <a:solidFill>
                  <a:srgbClr val="12233A"/>
                </a:solidFill>
              </a:rPr>
              <a:t>项目组织：领导牵引、PMO统筹、专题小组落地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E8C6FC-8C51-4604-A151-6F2B253F7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6858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4465C"/>
                </a:solidFill>
              </a:defRPr>
            </a:pPr>
            <a:r>
              <a:rPr sz="1425" b="0">
                <a:solidFill>
                  <a:srgbClr val="34465C"/>
                </a:solidFill>
              </a:rPr>
              <a:t>组织架构覆盖业务蓝图、技术集成、测试验收、上线运维四类关键工作。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DC330A-9790-4DE0-9E62-D467CA6ED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57650"/>
            <a:ext cx="33845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01769C-171A-4E77-BD99-F72945C96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57650"/>
            <a:ext cx="762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8F25A8-AA83-4C1C-BF42-03031A4CF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286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2FEA59-E551-4824-BE07-370D465E5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62475"/>
            <a:ext cx="571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8A8614-5B40-4FE6-A1F1-42F6AB1C3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4486275"/>
            <a:ext cx="57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C0D625-B92E-4B8B-9C27-9F570D301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19600"/>
            <a:ext cx="571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EBB57E-D0CD-43BA-A5FE-4899D147A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26720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D5F52"/>
                </a:solidFill>
              </a:defRPr>
            </a:pPr>
            <a:r>
              <a:rPr sz="1125" b="1">
                <a:solidFill>
                  <a:srgbClr val="0D5F52"/>
                </a:solidFill>
              </a:rPr>
              <a:t>领导小组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EE72C7-09A3-4BA9-AA69-A26C9FA26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876800"/>
            <a:ext cx="292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甲方项目负责人 / 乙方项目总监</a:t>
            </a:r>
          </a:p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负责重大决策和资源协调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94B590-F604-4A8D-8FB8-D3073981B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057650"/>
            <a:ext cx="33845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F7E4D7-00BB-4D69-9C29-D0BE1C9A7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057650"/>
            <a:ext cx="762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523156-B8AA-4F60-8C6D-11C43432F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2800" y="4286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9BC96C-6245-43CB-AA1A-1D4A77116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6625" y="4457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9525">
            <a:solidFill>
              <a:srgbClr val="12233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6EC099-3AC3-47F7-9728-0FA48E5A7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8075" y="4543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9525">
            <a:solidFill>
              <a:srgbClr val="12233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780F515-7589-4392-98FA-A672404EC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2350" y="4524375"/>
            <a:ext cx="180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E6977E0-ADC0-43FA-A50D-6AE82BECC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1450" y="426720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D5F52"/>
                </a:solidFill>
              </a:defRPr>
            </a:pPr>
            <a:r>
              <a:rPr sz="1125" b="1">
                <a:solidFill>
                  <a:srgbClr val="0D5F52"/>
                </a:solidFill>
              </a:rPr>
              <a:t>PMO统筹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44B8EC4-68FA-41C6-B6EF-658ADD153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1850" y="4876800"/>
            <a:ext cx="292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甲方业务牵头人 / 乙方项目经理</a:t>
            </a:r>
          </a:p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负责计划、风险、沟通和里程碑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06AB4B0-92A5-410B-90D1-474BA6DBD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4057650"/>
            <a:ext cx="33845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3E018E5-9E77-4356-BB2F-7E3BCB0D5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4057650"/>
            <a:ext cx="762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CE37A72-8738-423C-8B0B-CA0F30C14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5950" y="4286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D5E93D8-7197-4A08-9B38-0A01B0DAF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775" y="4429125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8A70"/>
          </a:solidFill>
          <a:ln xmlns:a="http://schemas.openxmlformats.org/drawingml/2006/main" w="9525">
            <a:solidFill>
              <a:srgbClr val="12233A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87E54C4-81E1-49DA-9946-69BF52CAC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7400" y="4514850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A23A"/>
          </a:solidFill>
          <a:ln xmlns:a="http://schemas.openxmlformats.org/drawingml/2006/main" w="9525">
            <a:solidFill>
              <a:srgbClr val="12233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722A83-F337-4F1F-8D53-904467280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5025" y="4600575"/>
            <a:ext cx="1905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5F45"/>
          </a:solidFill>
          <a:ln xmlns:a="http://schemas.openxmlformats.org/drawingml/2006/main" w="9525">
            <a:solidFill>
              <a:srgbClr val="12233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19B7F8E-731B-46CA-BC6C-9D7761FFD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4600" y="426720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D5F52"/>
                </a:solidFill>
              </a:defRPr>
            </a:pPr>
            <a:r>
              <a:rPr sz="1125" b="1">
                <a:solidFill>
                  <a:srgbClr val="0D5F52"/>
                </a:solidFill>
              </a:rPr>
              <a:t>执行小组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51EAEFA-E517-4583-9E0A-4AADD8599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4876800"/>
            <a:ext cx="292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业务与蓝图、技术与集成</a:t>
            </a:r>
          </a:p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测试培训、上线运维协同推进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82CFC67-0384-4AF3-A210-369A16685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A8C"/>
                </a:solidFill>
              </a:defRPr>
            </a:pPr>
            <a:r>
              <a:rPr sz="750" b="0">
                <a:solidFill>
                  <a:srgbClr val="6B7A8C"/>
                </a:solidFill>
              </a:rPr>
              <a:t>项目启动会 · 2026.04.27</a:t>
            </a:r>
          </a:p>
        </p:txBody>
      </p:sp>
    </p:spTree>
    <p:extLst>
      <p:ext uri="{BB962C8B-B14F-4D97-AF65-F5344CB8AC3E}">
        <p14:creationId xmlns:p14="http://schemas.microsoft.com/office/powerpoint/2010/main" val="65228939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AA4A574-D57E-4B40-9CA5-EBC92D23B57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b206ed705f410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1DA56F-EBC9-4863-A654-87676F888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7215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217480-2935-4B7D-A2F0-C242E3272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D5F52"/>
                </a:solidFill>
              </a:defRPr>
            </a:pPr>
            <a:r>
              <a:rPr sz="975" b="1">
                <a:solidFill>
                  <a:srgbClr val="0D5F52"/>
                </a:solidFill>
              </a:rPr>
              <a:t>RESPONSIBILITY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C3E1A6-7F59-46A3-99D5-D1BBC8E83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385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D5F52"/>
                </a:solidFill>
              </a:defRPr>
            </a:pPr>
            <a:r>
              <a:rPr sz="975" b="1">
                <a:solidFill>
                  <a:srgbClr val="0D5F52"/>
                </a:solidFill>
              </a:rPr>
              <a:t>11 / 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10A46C-CF03-4895-BB0E-5A52B9C7D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8ED76C-8AA1-4EAB-8B64-94D413F5E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29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19050">
            <a:solidFill>
              <a:srgbClr val="1223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43A9EA-7AFB-45A5-85C2-3A5EFCE27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7239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2233A"/>
                </a:solidFill>
              </a:defRPr>
            </a:pPr>
            <a:r>
              <a:rPr sz="3000" b="1">
                <a:solidFill>
                  <a:srgbClr val="12233A"/>
                </a:solidFill>
              </a:rPr>
              <a:t>职责分工：责任到角色，事项到小组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538CEF-87B2-4612-A658-9E5300AEF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6858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4465C"/>
                </a:solidFill>
              </a:defRPr>
            </a:pPr>
            <a:r>
              <a:rPr sz="1425" b="0">
                <a:solidFill>
                  <a:srgbClr val="34465C"/>
                </a:solidFill>
              </a:rPr>
              <a:t>双方角色需要在启动后一周内确认到人，保证调研、接口、UAT和上线窗口不悬空。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D70621-5AE7-4A49-8279-5198B0037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57650"/>
            <a:ext cx="33845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57C464-316E-4FEB-A8FF-C4165C37C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57650"/>
            <a:ext cx="762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171A15-0FB4-41EC-9A4E-C7F63E953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286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E0B1BC-8639-462E-8D98-96BFEB0C7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62475"/>
            <a:ext cx="571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CC313D-64D5-432F-B1B1-FA010435D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4486275"/>
            <a:ext cx="57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E1D580-C5E3-4C7F-A488-E246A9224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19600"/>
            <a:ext cx="571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7D3A76-198D-4AA8-93AD-E575F5159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26720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D5F52"/>
                </a:solidFill>
              </a:defRPr>
            </a:pPr>
            <a:r>
              <a:rPr sz="1125" b="1">
                <a:solidFill>
                  <a:srgbClr val="0D5F52"/>
                </a:solidFill>
              </a:rPr>
              <a:t>乙方项目组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CE9775-E670-4AAA-A66C-018856032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876800"/>
            <a:ext cx="292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项目总监、项目经理、实施顾问</a:t>
            </a:r>
          </a:p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开发团队、售后与运维保障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E6E361-1D8B-4A6F-BE4A-28EDE2364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057650"/>
            <a:ext cx="33845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8E3CBC-C1AD-4DF7-907C-6B3A27C24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057650"/>
            <a:ext cx="762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7278C1-222E-4983-B4C2-2A771B782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2800" y="4286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BADDE2-8F45-47F2-BE60-4CFD2BAB1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6625" y="4457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9525">
            <a:solidFill>
              <a:srgbClr val="12233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EC8B8B-B7FB-4ADF-AABC-FC700E670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8075" y="4543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9525">
            <a:solidFill>
              <a:srgbClr val="12233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67F58A-56E5-48AF-A2C2-65B1D860A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2350" y="4524375"/>
            <a:ext cx="180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E52DB9A-0A36-412B-8990-9D7500753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1450" y="426720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D5F52"/>
                </a:solidFill>
              </a:defRPr>
            </a:pPr>
            <a:r>
              <a:rPr sz="1125" b="1">
                <a:solidFill>
                  <a:srgbClr val="0D5F52"/>
                </a:solidFill>
              </a:rPr>
              <a:t>甲方项目组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2D4CE44-6C43-4513-8FD8-8DD2AD2B7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1850" y="4876800"/>
            <a:ext cx="292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项目负责人、业务牵头人</a:t>
            </a:r>
          </a:p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IT负责人、关键用户代表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494B69-DD35-48FE-8112-E0BC0265D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4057650"/>
            <a:ext cx="33845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C6AC5A-63E1-4FA1-9EB3-2C5373664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4057650"/>
            <a:ext cx="762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4A7EA23-99D7-455C-A494-7EA6C300B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5950" y="4286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5F5AF1A-F9E0-47FB-8D40-2E657F6AD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775" y="4429125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8A70"/>
          </a:solidFill>
          <a:ln xmlns:a="http://schemas.openxmlformats.org/drawingml/2006/main" w="9525">
            <a:solidFill>
              <a:srgbClr val="12233A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59801FC-9FC4-4304-AD5F-500DCB1AA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7400" y="4514850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A23A"/>
          </a:solidFill>
          <a:ln xmlns:a="http://schemas.openxmlformats.org/drawingml/2006/main" w="9525">
            <a:solidFill>
              <a:srgbClr val="12233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F1876D0-95B6-4C30-98C8-AF2D348EE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5025" y="4600575"/>
            <a:ext cx="1905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5F45"/>
          </a:solidFill>
          <a:ln xmlns:a="http://schemas.openxmlformats.org/drawingml/2006/main" w="9525">
            <a:solidFill>
              <a:srgbClr val="12233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1D2E72A-EAA2-4BC1-BAEF-CB8328268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4600" y="426720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D5F52"/>
                </a:solidFill>
              </a:defRPr>
            </a:pPr>
            <a:r>
              <a:rPr sz="1125" b="1">
                <a:solidFill>
                  <a:srgbClr val="0D5F52"/>
                </a:solidFill>
              </a:rPr>
              <a:t>专题接口人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8998EB0-4654-4537-B94C-25533685D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4876800"/>
            <a:ext cx="292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CRM、OA、组织架构、消息平台</a:t>
            </a:r>
          </a:p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提供资料、测试环境和联调窗口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0B9B445-1318-47B5-A034-C08B13045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A8C"/>
                </a:solidFill>
              </a:defRPr>
            </a:pPr>
            <a:r>
              <a:rPr sz="750" b="0">
                <a:solidFill>
                  <a:srgbClr val="6B7A8C"/>
                </a:solidFill>
              </a:rPr>
              <a:t>项目启动会 · 2026.04.27</a:t>
            </a:r>
          </a:p>
        </p:txBody>
      </p:sp>
    </p:spTree>
    <p:extLst>
      <p:ext uri="{BB962C8B-B14F-4D97-AF65-F5344CB8AC3E}">
        <p14:creationId xmlns:p14="http://schemas.microsoft.com/office/powerpoint/2010/main" val="67496059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AA4A574-D57E-4B40-9CA5-EBC92D23B57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f196cb59dc4266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09C0B8-75C5-48B1-83DE-9A63A4600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7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94B062-7326-4E46-AA29-B666D6BB1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D5F52"/>
                </a:solidFill>
              </a:defRPr>
            </a:pPr>
            <a:r>
              <a:rPr sz="975" b="1">
                <a:solidFill>
                  <a:srgbClr val="0D5F52"/>
                </a:solidFill>
              </a:rPr>
              <a:t>04 MANAGEMENT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6B3ECB-33DB-415B-A293-03EA063B0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385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D5F52"/>
                </a:solidFill>
              </a:defRPr>
            </a:pPr>
            <a:r>
              <a:rPr sz="975" b="1">
                <a:solidFill>
                  <a:srgbClr val="0D5F52"/>
                </a:solidFill>
              </a:rPr>
              <a:t>12 / 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802F63-EAAD-4CB0-B7DB-C07221CEC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349DEF-6CAA-42ED-83EB-1DB045857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29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19050">
            <a:solidFill>
              <a:srgbClr val="1223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8DB723-68B9-42BD-BB49-7F82A81B7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6667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2233A"/>
                </a:solidFill>
              </a:defRPr>
            </a:pPr>
            <a:r>
              <a:rPr sz="3000" b="1">
                <a:solidFill>
                  <a:srgbClr val="12233A"/>
                </a:solidFill>
              </a:rPr>
              <a:t>项目管理机制：用门禁确保质量和节奏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31DFA8-8B56-4E11-AE67-1D4799D5E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6667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4465C"/>
                </a:solidFill>
              </a:defRPr>
            </a:pPr>
            <a:r>
              <a:rPr sz="1425" b="0">
                <a:solidFill>
                  <a:srgbClr val="34465C"/>
                </a:solidFill>
              </a:rPr>
              <a:t>实施策略、沟通机制、质量控制、方法论和里程碑控制共同构成项目治理框架。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6E9C89-2029-42A6-95A6-884D41B7D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48100"/>
            <a:ext cx="31432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611902-8CA4-419B-A99D-3FAE31994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48100"/>
            <a:ext cx="3143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EDD40A-99FE-4C46-97B4-948B1A8ED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76700"/>
            <a:ext cx="2724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2233A"/>
                </a:solidFill>
              </a:defRPr>
            </a:pPr>
            <a:r>
              <a:rPr sz="2550" b="1">
                <a:solidFill>
                  <a:srgbClr val="12233A"/>
                </a:solidFill>
              </a:rPr>
              <a:t>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3D26BA-BBC1-4157-A630-9DBF312CC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62915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4465C"/>
                </a:solidFill>
              </a:defRPr>
            </a:pPr>
            <a:r>
              <a:rPr sz="1200" b="0">
                <a:solidFill>
                  <a:srgbClr val="34465C"/>
                </a:solidFill>
              </a:rPr>
              <a:t>管理机制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E356E6-F072-4305-9A62-38F5BF88B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105400"/>
            <a:ext cx="268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A8C"/>
                </a:solidFill>
              </a:defRPr>
            </a:pPr>
            <a:r>
              <a:rPr sz="750" b="0">
                <a:solidFill>
                  <a:srgbClr val="6B7A8C"/>
                </a:solidFill>
              </a:rPr>
              <a:t>实施 / 沟通 / 质量 / 方法论 / 里程碑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42DA17-DD04-4639-9D53-CB6914BD3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848100"/>
            <a:ext cx="31432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3026DC-200F-4FB5-866D-5B2EB46B3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848100"/>
            <a:ext cx="3143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2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4BC2D6-62BA-4291-8FCC-AEC8C175B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76700"/>
            <a:ext cx="2724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2233A"/>
                </a:solidFill>
              </a:defRPr>
            </a:pPr>
            <a:r>
              <a:rPr sz="2550" b="1">
                <a:solidFill>
                  <a:srgbClr val="12233A"/>
                </a:solidFill>
              </a:rPr>
              <a:t>24h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F3E59A-BEF8-41B8-96A2-C7B601BD9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62915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4465C"/>
                </a:solidFill>
              </a:defRPr>
            </a:pPr>
            <a:r>
              <a:rPr sz="1200" b="0">
                <a:solidFill>
                  <a:srgbClr val="34465C"/>
                </a:solidFill>
              </a:rPr>
              <a:t>P0处理方案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6C21DA-BEE2-4316-9D09-DFBE2B2EB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5105400"/>
            <a:ext cx="268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A8C"/>
                </a:solidFill>
              </a:defRPr>
            </a:pPr>
            <a:r>
              <a:rPr sz="750" b="0">
                <a:solidFill>
                  <a:srgbClr val="6B7A8C"/>
                </a:solidFill>
              </a:rPr>
              <a:t>阻塞上线或核心链路不可用时快速升级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EC4154-C293-4758-BA95-A78BE5EF7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848100"/>
            <a:ext cx="31432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3EF451-9B87-430B-B614-7FA19FE5A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848100"/>
            <a:ext cx="3143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5F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B753D2-CACE-451B-909F-45D839F7B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076700"/>
            <a:ext cx="2724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2233A"/>
                </a:solidFill>
              </a:defRPr>
            </a:pPr>
            <a:r>
              <a:rPr sz="2550" b="1">
                <a:solidFill>
                  <a:srgbClr val="12233A"/>
                </a:solidFill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CFFD49-25EF-4713-8873-31AF8073E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62915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4465C"/>
                </a:solidFill>
              </a:defRPr>
            </a:pPr>
            <a:r>
              <a:rPr sz="1200" b="0">
                <a:solidFill>
                  <a:srgbClr val="34465C"/>
                </a:solidFill>
              </a:rPr>
              <a:t>关键门禁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991E0F-78FC-4AB8-9DD4-84F7A07A1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105400"/>
            <a:ext cx="268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A8C"/>
                </a:solidFill>
              </a:defRPr>
            </a:pPr>
            <a:r>
              <a:rPr sz="750" b="0">
                <a:solidFill>
                  <a:srgbClr val="6B7A8C"/>
                </a:solidFill>
              </a:rPr>
              <a:t>蓝图、SIT、UAT、上线完成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7E04A46-4760-47FB-A14A-328B57B96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A8C"/>
                </a:solidFill>
              </a:defRPr>
            </a:pPr>
            <a:r>
              <a:rPr sz="750" b="0">
                <a:solidFill>
                  <a:srgbClr val="6B7A8C"/>
                </a:solidFill>
              </a:rPr>
              <a:t>项目启动会 · 2026.04.27</a:t>
            </a:r>
          </a:p>
        </p:txBody>
      </p:sp>
    </p:spTree>
    <p:extLst>
      <p:ext uri="{BB962C8B-B14F-4D97-AF65-F5344CB8AC3E}">
        <p14:creationId xmlns:p14="http://schemas.microsoft.com/office/powerpoint/2010/main" val="106339158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AA4A574-D57E-4B40-9CA5-EBC92D23B57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31d1a529c44e55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C6388B-8B0D-4419-85C9-CDD1B1575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7215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49469B-6601-4302-A67A-0492C699A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D5F52"/>
                </a:solidFill>
              </a:defRPr>
            </a:pPr>
            <a:r>
              <a:rPr sz="975" b="1">
                <a:solidFill>
                  <a:srgbClr val="0D5F52"/>
                </a:solidFill>
              </a:rPr>
              <a:t>COOPERATION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4DFE3D-4015-4026-8887-9844EF37D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385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D5F52"/>
                </a:solidFill>
              </a:defRPr>
            </a:pPr>
            <a:r>
              <a:rPr sz="975" b="1">
                <a:solidFill>
                  <a:srgbClr val="0D5F52"/>
                </a:solidFill>
              </a:rPr>
              <a:t>13 / 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9FBED4-454B-44D8-9FFB-E8769F781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AB3E96-4C15-470D-B657-DA8AEB8C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29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19050">
            <a:solidFill>
              <a:srgbClr val="1223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4DBA3B-BA1C-4128-9B9B-D8EB729C5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7239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2233A"/>
                </a:solidFill>
              </a:defRPr>
            </a:pPr>
            <a:r>
              <a:rPr sz="3000" b="1">
                <a:solidFill>
                  <a:srgbClr val="12233A"/>
                </a:solidFill>
              </a:rPr>
              <a:t>项目推动：需要甲方同步配合的事项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49192A-C2CD-4E85-B889-C028F250D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6858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4465C"/>
                </a:solidFill>
              </a:defRPr>
            </a:pPr>
            <a:r>
              <a:rPr sz="1425" b="0">
                <a:solidFill>
                  <a:srgbClr val="34465C"/>
                </a:solidFill>
              </a:rPr>
              <a:t>项目成败高度依赖关键用户、接口资料、环境准备和验收窗口的及时到位。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0D38BD-E6AB-42B2-B8C0-F1FF770FD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57650"/>
            <a:ext cx="33845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EE6F5F-7C81-44CA-8457-3E4A23B14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57650"/>
            <a:ext cx="762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810C2D-B400-4754-A385-CD9C4524E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286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A3A974-A7A5-4621-B4A9-F4B45B983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62475"/>
            <a:ext cx="571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4CB34A-67BB-4ED3-A80F-A48F0D4D5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4486275"/>
            <a:ext cx="57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0DE08D-013A-4A06-A6B8-1B563808B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19600"/>
            <a:ext cx="571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C63E78-739C-48BC-AFF0-B2B8CEBB2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26720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D5F52"/>
                </a:solidFill>
              </a:defRPr>
            </a:pPr>
            <a:r>
              <a:rPr sz="1125" b="1">
                <a:solidFill>
                  <a:srgbClr val="0D5F52"/>
                </a:solidFill>
              </a:rPr>
              <a:t>启动后3个工作日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9A0E0C-02A9-46F1-A58C-8AD80606D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876800"/>
            <a:ext cx="292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确认项目负责人、业务牵头人</a:t>
            </a:r>
          </a:p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IT负责人、关键用户和接口人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0CBF70-EE98-4CE2-80B2-64C649940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057650"/>
            <a:ext cx="33845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754464-72A2-47D5-9056-05487A711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057650"/>
            <a:ext cx="762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E43591-16FE-4AF0-BEE1-9206C31E1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2800" y="4286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42C433-5DC0-4439-9092-47CCECC78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6625" y="4457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9525">
            <a:solidFill>
              <a:srgbClr val="12233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6CD28E-56E5-435D-9F5C-4B4F1A55F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8075" y="4543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9525">
            <a:solidFill>
              <a:srgbClr val="12233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8945652-3E51-4BEE-8F67-9A7FE217F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2350" y="4524375"/>
            <a:ext cx="180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116E12D-0C0F-4129-B543-8BB6BE148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1450" y="426720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D5F52"/>
                </a:solidFill>
              </a:defRPr>
            </a:pPr>
            <a:r>
              <a:rPr sz="1125" b="1">
                <a:solidFill>
                  <a:srgbClr val="0D5F52"/>
                </a:solidFill>
              </a:rPr>
              <a:t>蓝图与实现阶段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287A341-D278-4D86-90A9-43BF56012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1850" y="4876800"/>
            <a:ext cx="292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提供现状流程、样例标书、资质案例</a:t>
            </a:r>
          </a:p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费用账户样本和测试数据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54D8252-7ACF-4020-B48D-1C97AE76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4057650"/>
            <a:ext cx="33845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19BFDCD-AA10-4C90-91BF-04E8BCCD9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4057650"/>
            <a:ext cx="762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8A8D3DD-9D91-4ADA-B5E7-2598A7B93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5950" y="4286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3F852ED-DA9A-49C0-B88D-ADC2BDC3B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775" y="4429125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8A70"/>
          </a:solidFill>
          <a:ln xmlns:a="http://schemas.openxmlformats.org/drawingml/2006/main" w="9525">
            <a:solidFill>
              <a:srgbClr val="12233A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1D1E20A-32F5-4049-8C49-4435913AE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7400" y="4514850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A23A"/>
          </a:solidFill>
          <a:ln xmlns:a="http://schemas.openxmlformats.org/drawingml/2006/main" w="9525">
            <a:solidFill>
              <a:srgbClr val="12233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E91906A-3415-404B-8F6E-A3ED1C7D3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5025" y="4600575"/>
            <a:ext cx="1905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5F45"/>
          </a:solidFill>
          <a:ln xmlns:a="http://schemas.openxmlformats.org/drawingml/2006/main" w="9525">
            <a:solidFill>
              <a:srgbClr val="12233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D3FEA17-FDDA-446E-A232-1F15CABE5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4600" y="426720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D5F52"/>
                </a:solidFill>
              </a:defRPr>
            </a:pPr>
            <a:r>
              <a:rPr sz="1125" b="1">
                <a:solidFill>
                  <a:srgbClr val="0D5F52"/>
                </a:solidFill>
              </a:rPr>
              <a:t>联调与UAT阶段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DD687D4-8FC7-4B10-9A10-2A40FB7CD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4876800"/>
            <a:ext cx="292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保障接口环境、联调窗口</a:t>
            </a:r>
          </a:p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关键用户集中测试与签字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1D72081-8BDC-41B3-BC41-6132C7A75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A8C"/>
                </a:solidFill>
              </a:defRPr>
            </a:pPr>
            <a:r>
              <a:rPr sz="750" b="0">
                <a:solidFill>
                  <a:srgbClr val="6B7A8C"/>
                </a:solidFill>
              </a:rPr>
              <a:t>项目启动会 · 2026.04.27</a:t>
            </a:r>
          </a:p>
        </p:txBody>
      </p:sp>
    </p:spTree>
    <p:extLst>
      <p:ext uri="{BB962C8B-B14F-4D97-AF65-F5344CB8AC3E}">
        <p14:creationId xmlns:p14="http://schemas.microsoft.com/office/powerpoint/2010/main" val="96095778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AA4A574-D57E-4B40-9CA5-EBC92D23B57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d22b8dd9ca443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6B5206-8724-441F-BB3E-9B42FAFA4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7215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485FDB-C16B-491A-BACC-013C0CD22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D5F52"/>
                </a:solidFill>
              </a:defRPr>
            </a:pPr>
            <a:r>
              <a:rPr sz="975" b="1">
                <a:solidFill>
                  <a:srgbClr val="0D5F52"/>
                </a:solidFill>
              </a:rPr>
              <a:t>NEXT 10 WORKDAYS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6BAA72-48E3-448A-A136-57A53208D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385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D5F52"/>
                </a:solidFill>
              </a:defRPr>
            </a:pPr>
            <a:r>
              <a:rPr sz="975" b="1">
                <a:solidFill>
                  <a:srgbClr val="0D5F52"/>
                </a:solidFill>
              </a:rPr>
              <a:t>14 / 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EA1430-AEDB-4F0A-864C-62F10FAB0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43B907-3035-48F6-BBE3-49A7E6402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29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19050">
            <a:solidFill>
              <a:srgbClr val="1223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DE8A91-0729-4D02-8AA8-D858A5479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7239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2233A"/>
                </a:solidFill>
              </a:defRPr>
            </a:pPr>
            <a:r>
              <a:rPr sz="3000" b="1">
                <a:solidFill>
                  <a:srgbClr val="12233A"/>
                </a:solidFill>
              </a:rPr>
              <a:t>近期工作计划：先把项目基线扎稳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842AD0-02B7-4DA6-8149-41C532F5C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6858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4465C"/>
                </a:solidFill>
              </a:defRPr>
            </a:pPr>
            <a:r>
              <a:rPr sz="1425" b="0">
                <a:solidFill>
                  <a:srgbClr val="34465C"/>
                </a:solidFill>
              </a:rPr>
              <a:t>第一阶段从启动会到主计划确认，共10个有效工作日。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4DACAD-5374-4ABA-B619-F0B8CFF16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57650"/>
            <a:ext cx="33845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B09EF8-7CA7-49D2-92C0-18233A65F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57650"/>
            <a:ext cx="762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BA4E63-133F-4B83-85F2-746EAE6F1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286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90F247-DB96-4984-8BDC-BAD16FAA7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62475"/>
            <a:ext cx="571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02862B-23E5-4977-9DD2-96DC31A31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4486275"/>
            <a:ext cx="57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B057A6-DB87-4740-97EF-74886CEB7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19600"/>
            <a:ext cx="571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72249F-E23D-4938-BFDD-D443E3F54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26720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D5F52"/>
                </a:solidFill>
              </a:defRPr>
            </a:pPr>
            <a:r>
              <a:rPr sz="1125" b="1">
                <a:solidFill>
                  <a:srgbClr val="0D5F52"/>
                </a:solidFill>
              </a:rPr>
              <a:t>04/27-04/30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1E9C5A-8331-4841-94C1-709615EE6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876800"/>
            <a:ext cx="292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启动会、项目组织确认</a:t>
            </a:r>
          </a:p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资料清单和环境/接口清单下发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4B84BE-EED9-4345-9F0D-3785AF785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057650"/>
            <a:ext cx="33845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7DDA73-00F6-4C9B-AAF9-F656E3886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057650"/>
            <a:ext cx="762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BA1CE8-3EA3-4DE1-B87B-83C95D4AD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2800" y="4286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11C52F-3144-4E34-946E-B22A34B3F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6625" y="4457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9525">
            <a:solidFill>
              <a:srgbClr val="12233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DEDAD2-7E94-43ED-8383-46F628B3C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8075" y="4543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9525">
            <a:solidFill>
              <a:srgbClr val="12233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5AF847E-CBD2-45E3-BD68-CD0BE03DD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2350" y="4524375"/>
            <a:ext cx="180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C41FBF7-A9C3-4FC7-B98B-220D3734D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1450" y="426720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D5F52"/>
                </a:solidFill>
              </a:defRPr>
            </a:pPr>
            <a:r>
              <a:rPr sz="1125" b="1">
                <a:solidFill>
                  <a:srgbClr val="0D5F52"/>
                </a:solidFill>
              </a:rPr>
              <a:t>05/06-05/12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F55AB9A-7287-4513-BFB4-001BCA81A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1850" y="4876800"/>
            <a:ext cx="292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业务现状调研</a:t>
            </a:r>
          </a:p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范围基线、风险清单和问题清单梳理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A6FF9D-6161-4295-B90C-0F76424FB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4057650"/>
            <a:ext cx="33845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DC0094F-6BEC-4748-B2AE-DF98C7A1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4057650"/>
            <a:ext cx="762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A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479A696-4963-4426-8A5A-CB998E794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5950" y="4286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6078"/>
            </a:srgbClr>
          </a:solidFill>
          <a:ln xmlns:a="http://schemas.openxmlformats.org/drawingml/2006/main" w="11430">
            <a:solidFill>
              <a:srgbClr val="12233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58500CF-0CF9-4972-A1E0-00ED167D3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775" y="4429125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8A70"/>
          </a:solidFill>
          <a:ln xmlns:a="http://schemas.openxmlformats.org/drawingml/2006/main" w="9525">
            <a:solidFill>
              <a:srgbClr val="12233A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4368E47-9935-4278-A776-6659BB5C8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7400" y="4514850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A23A"/>
          </a:solidFill>
          <a:ln xmlns:a="http://schemas.openxmlformats.org/drawingml/2006/main" w="9525">
            <a:solidFill>
              <a:srgbClr val="12233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66E8019-515E-4FD5-8730-82C1A0386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5025" y="4600575"/>
            <a:ext cx="1905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5F45"/>
          </a:solidFill>
          <a:ln xmlns:a="http://schemas.openxmlformats.org/drawingml/2006/main" w="9525">
            <a:solidFill>
              <a:srgbClr val="12233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73DDD16-DB76-4C90-96B5-529D7AEBA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4600" y="426720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D5F52"/>
                </a:solidFill>
              </a:defRPr>
            </a:pPr>
            <a:r>
              <a:rPr sz="1125" b="1">
                <a:solidFill>
                  <a:srgbClr val="0D5F52"/>
                </a:solidFill>
              </a:rPr>
              <a:t>05/13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E740F51-2BB0-4A4A-A36F-B48418870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4876800"/>
            <a:ext cx="292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第一阶段复盘</a:t>
            </a:r>
          </a:p>
          <a:p xmlns:a="http://schemas.openxmlformats.org/drawingml/2006/main">
            <a:pPr algn="l">
              <a:defRPr sz="1275" b="0">
                <a:solidFill>
                  <a:srgbClr val="12233A"/>
                </a:solidFill>
              </a:defRPr>
            </a:pPr>
            <a:r>
              <a:rPr sz="1275" b="0">
                <a:solidFill>
                  <a:srgbClr val="12233A"/>
                </a:solidFill>
              </a:rPr>
              <a:t>确认实施主计划和蓝图阶段安排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B5F12AC-A63F-43AE-8914-7F3B1AE85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A8C"/>
                </a:solidFill>
              </a:defRPr>
            </a:pPr>
            <a:r>
              <a:rPr sz="750" b="0">
                <a:solidFill>
                  <a:srgbClr val="6B7A8C"/>
                </a:solidFill>
              </a:rPr>
              <a:t>项目启动会 · 2026.04.27</a:t>
            </a:r>
          </a:p>
        </p:txBody>
      </p:sp>
    </p:spTree>
    <p:extLst>
      <p:ext uri="{BB962C8B-B14F-4D97-AF65-F5344CB8AC3E}">
        <p14:creationId xmlns:p14="http://schemas.microsoft.com/office/powerpoint/2010/main" val="117674457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2026-04-21T13:28:25.7080000Z</dcterms:created>
  <dcterms:modified xsi:type="dcterms:W3CDTF">2026-04-21T13:28:25.7080000Z</dcterms:modified>
</coreProperties>
</file>