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/>
    <p:restoredTop sz="94658"/>
  </p:normalViewPr>
  <p:slideViewPr>
    <p:cSldViewPr snapToGrid="0">
      <p:cViewPr varScale="1">
        <p:scale>
          <a:sx n="120" d="100"/>
          <a:sy n="120" d="100"/>
        </p:scale>
        <p:origin x="3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808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DB8A3A5D-6DFF-97AA-CFDF-2838DF13CF2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40DE935-EC41-6FB5-0673-2716B72D44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6B9025-E9A3-7B4C-A3EF-D6875121D363}" type="datetimeFigureOut">
              <a:t>2026/4/22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5AB1DDE-3420-3D6D-96BF-EEBEE995FE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A18C9B-6F7D-A191-39CC-FEB2BDA46D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9410B0-EF53-1F46-A572-09C2E139F84D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471007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封面页，明确本次为投标管理平台建设项目启动会，并以SOW实施计划为汇报基线。</a:t>
            </a:r>
          </a:p>
          <a:p>
            <a:endParaRPr/>
          </a:p>
          <a:p>
            <a:r>
              <a:t>[Sources]</a:t>
            </a:r>
          </a:p>
          <a:p>
            <a:r>
              <a:t>- docs/项目启动会PPT大纲与核心内容.md</a:t>
            </a:r>
          </a:p>
          <a:p>
            <a:r>
              <a:t>- docs/西域数智化投标管理平台-实施计划书-6月25日上线版.md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强调启动会不是泛泛介绍，而是把项目如何做、何时交、需要谁配合讲清楚。</a:t>
            </a:r>
          </a:p>
          <a:p>
            <a:endParaRPr/>
          </a:p>
          <a:p>
            <a:r>
              <a:t>[Sources]</a:t>
            </a:r>
          </a:p>
          <a:p>
            <a:r>
              <a:t>- docs/项目启动会PPT大纲与核心内容.md</a:t>
            </a:r>
          </a:p>
          <a:p>
            <a:r>
              <a:t>- docs/西域数智化投标管理平台-实施计划书-6月25日上线版.md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项目目标用三句话讲清楚：流程闭环、过程可控、智能辅助。</a:t>
            </a:r>
          </a:p>
          <a:p>
            <a:endParaRPr/>
          </a:p>
          <a:p>
            <a:r>
              <a:t>[Sources]</a:t>
            </a:r>
          </a:p>
          <a:p>
            <a:r>
              <a:t>- docs/项目启动会PPT大纲与核心内容.md</a:t>
            </a:r>
          </a:p>
          <a:p>
            <a:r>
              <a:t>- docs/西域数智化投标管理平台-实施计划书-6月25日上线版.md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正式范围和验收边界以SOW和白名单为准。</a:t>
            </a:r>
          </a:p>
          <a:p>
            <a:endParaRPr/>
          </a:p>
          <a:p>
            <a:r>
              <a:t>[Sources]</a:t>
            </a:r>
          </a:p>
          <a:p>
            <a:r>
              <a:t>- docs/项目启动会PPT大纲与核心内容.md</a:t>
            </a:r>
          </a:p>
          <a:p>
            <a:r>
              <a:t>- docs/西域数智化投标管理平台-实施计划书-6月25日上线版.md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用客户管理语言描述价值，不停留在功能清单。</a:t>
            </a:r>
          </a:p>
          <a:p>
            <a:endParaRPr/>
          </a:p>
          <a:p>
            <a:r>
              <a:t>[Sources]</a:t>
            </a:r>
          </a:p>
          <a:p>
            <a:r>
              <a:t>- docs/项目启动会PPT大纲与核心内容.md</a:t>
            </a:r>
          </a:p>
          <a:p>
            <a:r>
              <a:t>- docs/西域数智化投标管理平台-实施计划书-6月25日上线版.md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重点说明两组交叉窗口：05/06-05/12、06/04-06/10。</a:t>
            </a:r>
          </a:p>
          <a:p>
            <a:endParaRPr/>
          </a:p>
          <a:p>
            <a:r>
              <a:t>[Sources]</a:t>
            </a:r>
          </a:p>
          <a:p>
            <a:r>
              <a:t>- docs/项目启动会PPT大纲与核心内容.md</a:t>
            </a:r>
          </a:p>
          <a:p>
            <a:r>
              <a:t>- docs/西域数智化投标管理平台-实施计划书-6月25日上线版.md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这页回应客户最关心的前期调研时间不足风险。</a:t>
            </a:r>
          </a:p>
          <a:p>
            <a:endParaRPr/>
          </a:p>
          <a:p>
            <a:r>
              <a:t>[Sources]</a:t>
            </a:r>
          </a:p>
          <a:p>
            <a:r>
              <a:t>- docs/项目启动会PPT大纲与核心内容.md</a:t>
            </a:r>
          </a:p>
          <a:p>
            <a:r>
              <a:t>- docs/西域数智化投标管理平台-实施计划书-6月25日上线版.md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强化调研活动的颗粒度，避免客户觉得前期安排过短。</a:t>
            </a:r>
          </a:p>
          <a:p>
            <a:endParaRPr/>
          </a:p>
          <a:p>
            <a:r>
              <a:t>[Sources]</a:t>
            </a:r>
          </a:p>
          <a:p>
            <a:r>
              <a:t>- docs/项目启动会PPT大纲与核心内容.md</a:t>
            </a:r>
          </a:p>
          <a:p>
            <a:r>
              <a:t>- docs/西域数智化投标管理平台-实施计划书-6月25日上线版.md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强调蓝图输出即实施基线。</a:t>
            </a:r>
          </a:p>
          <a:p>
            <a:endParaRPr/>
          </a:p>
          <a:p>
            <a:r>
              <a:t>[Sources]</a:t>
            </a:r>
          </a:p>
          <a:p>
            <a:r>
              <a:t>- docs/项目启动会PPT大纲与核心内容.md</a:t>
            </a:r>
          </a:p>
          <a:p>
            <a:r>
              <a:t>- docs/西域数智化投标管理平台-实施计划书-6月25日上线版.md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这页回应系统实现和集成联调之间不能完全串行的问题。</a:t>
            </a:r>
          </a:p>
          <a:p>
            <a:endParaRPr/>
          </a:p>
          <a:p>
            <a:r>
              <a:t>[Sources]</a:t>
            </a:r>
          </a:p>
          <a:p>
            <a:r>
              <a:t>- docs/项目启动会PPT大纲与核心内容.md</a:t>
            </a:r>
          </a:p>
          <a:p>
            <a:r>
              <a:t>- docs/西域数智化投标管理平台-实施计划书-6月25日上线版.md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系统实现页要有SOW颗粒度，便于客户理解工作量。</a:t>
            </a:r>
          </a:p>
          <a:p>
            <a:endParaRPr/>
          </a:p>
          <a:p>
            <a:r>
              <a:t>[Sources]</a:t>
            </a:r>
          </a:p>
          <a:p>
            <a:r>
              <a:t>- docs/项目启动会PPT大纲与核心内容.md</a:t>
            </a:r>
          </a:p>
          <a:p>
            <a:r>
              <a:t>- docs/西域数智化投标管理平台-实施计划书-6月25日上线版.md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联调页要说明为什么提前启动，且交付物能被验收。</a:t>
            </a:r>
          </a:p>
          <a:p>
            <a:endParaRPr/>
          </a:p>
          <a:p>
            <a:r>
              <a:t>[Sources]</a:t>
            </a:r>
          </a:p>
          <a:p>
            <a:r>
              <a:t>- docs/项目启动会PPT大纲与核心内容.md</a:t>
            </a:r>
          </a:p>
          <a:p>
            <a:r>
              <a:t>- docs/西域数智化投标管理平台-实施计划书-6月25日上线版.md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强调UAT和上线准备是门禁，不是形式性动作。</a:t>
            </a:r>
          </a:p>
          <a:p>
            <a:endParaRPr/>
          </a:p>
          <a:p>
            <a:r>
              <a:t>[Sources]</a:t>
            </a:r>
          </a:p>
          <a:p>
            <a:r>
              <a:t>- docs/项目启动会PPT大纲与核心内容.md</a:t>
            </a:r>
          </a:p>
          <a:p>
            <a:r>
              <a:t>- docs/西域数智化投标管理平台-实施计划书-6月25日上线版.md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组织页突出决策层、统筹层和执行层。</a:t>
            </a:r>
          </a:p>
          <a:p>
            <a:endParaRPr/>
          </a:p>
          <a:p>
            <a:r>
              <a:t>[Sources]</a:t>
            </a:r>
          </a:p>
          <a:p>
            <a:r>
              <a:t>- docs/项目启动会PPT大纲与核心内容.md</a:t>
            </a:r>
          </a:p>
          <a:p>
            <a:r>
              <a:t>- docs/西域数智化投标管理平台-实施计划书-6月25日上线版.md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职责表要直接服务项目推进。</a:t>
            </a:r>
          </a:p>
          <a:p>
            <a:endParaRPr/>
          </a:p>
          <a:p>
            <a:r>
              <a:t>[Sources]</a:t>
            </a:r>
          </a:p>
          <a:p>
            <a:r>
              <a:t>- docs/项目启动会PPT大纲与核心内容.md</a:t>
            </a:r>
          </a:p>
          <a:p>
            <a:r>
              <a:t>- docs/西域数智化投标管理平台-实施计划书-6月25日上线版.md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项目管理页承接计划与组织，说明如何管住交付。</a:t>
            </a:r>
          </a:p>
          <a:p>
            <a:endParaRPr/>
          </a:p>
          <a:p>
            <a:r>
              <a:t>[Sources]</a:t>
            </a:r>
          </a:p>
          <a:p>
            <a:r>
              <a:t>- docs/项目启动会PPT大纲与核心内容.md</a:t>
            </a:r>
          </a:p>
          <a:p>
            <a:r>
              <a:t>- docs/西域数智化投标管理平台-实施计划书-6月25日上线版.md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这页要讲清楚客户配合决定计划可执行性。</a:t>
            </a:r>
          </a:p>
          <a:p>
            <a:endParaRPr/>
          </a:p>
          <a:p>
            <a:r>
              <a:t>[Sources]</a:t>
            </a:r>
          </a:p>
          <a:p>
            <a:r>
              <a:t>- docs/项目启动会PPT大纲与核心内容.md</a:t>
            </a:r>
          </a:p>
          <a:p>
            <a:r>
              <a:t>- docs/西域数智化投标管理平台-实施计划书-6月25日上线版.md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近期计划直接落到两周到四周内可执行动作。</a:t>
            </a:r>
          </a:p>
          <a:p>
            <a:endParaRPr/>
          </a:p>
          <a:p>
            <a:r>
              <a:t>[Sources]</a:t>
            </a:r>
          </a:p>
          <a:p>
            <a:r>
              <a:t>- docs/项目启动会PPT大纲与核心内容.md</a:t>
            </a:r>
          </a:p>
          <a:p>
            <a:r>
              <a:t>- docs/西域数智化投标管理平台-实施计划书-6月25日上线版.md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收尾页形成客户共识，并自然引导进入启动后的行动安排。</a:t>
            </a:r>
          </a:p>
          <a:p>
            <a:endParaRPr/>
          </a:p>
          <a:p>
            <a:r>
              <a:t>[Sources]</a:t>
            </a:r>
          </a:p>
          <a:p>
            <a:r>
              <a:t>- docs/项目启动会PPT大纲与核心内容.md</a:t>
            </a:r>
          </a:p>
          <a:p>
            <a:r>
              <a:t>- docs/西域数智化投标管理平台-实施计划书-6月25日上线版.md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173C962-49EA-409C-B4F5-A2CAB38052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83D637B9-231D-4DDC-A5AA-36F955DD6D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54520F0-E129-4F69-9B6D-D5E45C0621A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61728C7-FDE2-4578-8CE9-74661788388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F2A84AB-8E2B-412F-8CC5-D83FB87020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2AF9278-D216-4EC3-A334-1E0BF8FA156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106326" y="3062287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4BB1A8C-E1D8-4826-9037-C37EB0376577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66675" cy="4333875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D950857-40AD-46ED-B1BD-149B3C0DC151}"/>
              </a:ext>
            </a:extLst>
          </p:cNvPr>
          <p:cNvSpPr>
            <a:spLocks noGrp="1"/>
          </p:cNvSpPr>
          <p:nvPr/>
        </p:nvSpPr>
        <p:spPr>
          <a:xfrm>
            <a:off x="819150" y="83820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PROJECT KICK-OFF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8C832A-9AE8-413C-940B-493DE07657C8}"/>
              </a:ext>
            </a:extLst>
          </p:cNvPr>
          <p:cNvSpPr>
            <a:spLocks noGrp="1"/>
          </p:cNvSpPr>
          <p:nvPr/>
        </p:nvSpPr>
        <p:spPr>
          <a:xfrm>
            <a:off x="781050" y="1238250"/>
            <a:ext cx="7477125" cy="175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12233A"/>
                </a:solidFill>
              </a:defRPr>
            </a:pPr>
            <a:r>
              <a:rPr sz="3600" b="1">
                <a:solidFill>
                  <a:srgbClr val="12233A"/>
                </a:solidFill>
              </a:rPr>
              <a:t>西域数智化投标管理平台</a:t>
            </a:r>
          </a:p>
          <a:p>
            <a:pPr algn="l">
              <a:defRPr sz="3600" b="1">
                <a:solidFill>
                  <a:srgbClr val="12233A"/>
                </a:solidFill>
              </a:defRPr>
            </a:pPr>
            <a:r>
              <a:rPr sz="3600" b="1">
                <a:solidFill>
                  <a:srgbClr val="12233A"/>
                </a:solidFill>
              </a:rPr>
              <a:t>建设项目启动会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CEE33CC-7E96-47A2-9A72-EF94F57918BD}"/>
              </a:ext>
            </a:extLst>
          </p:cNvPr>
          <p:cNvSpPr>
            <a:spLocks noGrp="1"/>
          </p:cNvSpPr>
          <p:nvPr/>
        </p:nvSpPr>
        <p:spPr>
          <a:xfrm>
            <a:off x="781050" y="2576512"/>
            <a:ext cx="58102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34465C"/>
                </a:solidFill>
              </a:defRPr>
            </a:pPr>
            <a:r>
              <a:rPr lang="zh-CN" altLang="en-US" sz="1500">
                <a:solidFill>
                  <a:srgbClr val="34465C"/>
                </a:solidFill>
              </a:rPr>
              <a:t>对齐</a:t>
            </a:r>
            <a:r>
              <a:rPr sz="1500" b="0">
                <a:solidFill>
                  <a:srgbClr val="34465C"/>
                </a:solidFill>
              </a:rPr>
              <a:t>目标、边界、节奏和配合方式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BF4423B7-CE02-4DD9-837C-195CCC24E12E}"/>
              </a:ext>
            </a:extLst>
          </p:cNvPr>
          <p:cNvSpPr>
            <a:spLocks noGrp="1"/>
          </p:cNvSpPr>
          <p:nvPr/>
        </p:nvSpPr>
        <p:spPr>
          <a:xfrm>
            <a:off x="819150" y="4343400"/>
            <a:ext cx="3714750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B4CA121-A074-411B-ACEA-C7AF7EB84F45}"/>
              </a:ext>
            </a:extLst>
          </p:cNvPr>
          <p:cNvSpPr>
            <a:spLocks noGrp="1"/>
          </p:cNvSpPr>
          <p:nvPr/>
        </p:nvSpPr>
        <p:spPr>
          <a:xfrm>
            <a:off x="1066800" y="4552950"/>
            <a:ext cx="3200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2233A"/>
                </a:solidFill>
              </a:defRPr>
            </a:pPr>
            <a:r>
              <a:rPr sz="1725" b="1">
                <a:solidFill>
                  <a:srgbClr val="12233A"/>
                </a:solidFill>
              </a:rPr>
              <a:t>6/25上线倒排 · 40个有效工作日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4C9B6CA-7A82-49F1-AD5F-B5481EAA1B6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1285017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0004F54-BD87-4244-87BF-F05AE559E683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01 会议目标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FF86A1E-E95B-4A9E-A527-114E0AF0DBB5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02 / 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FE4F00C-46B1-43C7-B047-A63FA9BB03C4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22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8D10A583-7E70-42AD-8889-272E854E6B71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1F8A70"/>
          </a:solidFill>
          <a:ln w="1905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EA78C73-CBE9-4B8C-856C-021E6DC46D6C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2390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今天先把四件事对齐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07AF838-68F3-43DE-B30B-38E84F098AAE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项目怎么做、什么时候交、谁来配合、问题怎么推进。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4D74F28B-F96F-4BFE-A3E0-0A4048616E67}"/>
              </a:ext>
            </a:extLst>
          </p:cNvPr>
          <p:cNvSpPr>
            <a:spLocks noGrp="1"/>
          </p:cNvSpPr>
          <p:nvPr/>
        </p:nvSpPr>
        <p:spPr>
          <a:xfrm>
            <a:off x="800100" y="4057650"/>
            <a:ext cx="3384550" cy="1676400"/>
          </a:xfrm>
          <a:prstGeom prst="roundRect">
            <a:avLst>
              <a:gd name="adj" fmla="val 4545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510DD29-2109-4F3C-A24D-2FF6AD2AA291}"/>
              </a:ext>
            </a:extLst>
          </p:cNvPr>
          <p:cNvSpPr>
            <a:spLocks noGrp="1"/>
          </p:cNvSpPr>
          <p:nvPr/>
        </p:nvSpPr>
        <p:spPr>
          <a:xfrm>
            <a:off x="800100" y="4057650"/>
            <a:ext cx="76200" cy="1676400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FAF2B14-0314-499F-9271-74AD5D1EDD7D}"/>
              </a:ext>
            </a:extLst>
          </p:cNvPr>
          <p:cNvSpPr>
            <a:spLocks noGrp="1"/>
          </p:cNvSpPr>
          <p:nvPr/>
        </p:nvSpPr>
        <p:spPr>
          <a:xfrm>
            <a:off x="1009650" y="4286250"/>
            <a:ext cx="514350" cy="514350"/>
          </a:xfrm>
          <a:prstGeom prst="ellipse">
            <a:avLst/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B7A948A-F00C-4E91-B830-8CE68A38C7BE}"/>
              </a:ext>
            </a:extLst>
          </p:cNvPr>
          <p:cNvSpPr>
            <a:spLocks noGrp="1"/>
          </p:cNvSpPr>
          <p:nvPr/>
        </p:nvSpPr>
        <p:spPr>
          <a:xfrm>
            <a:off x="1162050" y="4562475"/>
            <a:ext cx="57150" cy="114300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21B4F8E-2F58-4748-AEEC-A4EA9E75CAE2}"/>
              </a:ext>
            </a:extLst>
          </p:cNvPr>
          <p:cNvSpPr>
            <a:spLocks noGrp="1"/>
          </p:cNvSpPr>
          <p:nvPr/>
        </p:nvSpPr>
        <p:spPr>
          <a:xfrm>
            <a:off x="1247775" y="4486275"/>
            <a:ext cx="57150" cy="190500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EF5E692-562E-427A-BD69-359704A3120F}"/>
              </a:ext>
            </a:extLst>
          </p:cNvPr>
          <p:cNvSpPr>
            <a:spLocks noGrp="1"/>
          </p:cNvSpPr>
          <p:nvPr/>
        </p:nvSpPr>
        <p:spPr>
          <a:xfrm>
            <a:off x="1333500" y="4419600"/>
            <a:ext cx="57150" cy="257175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789B29F-3B7D-4E04-A36E-60242C0BF1B6}"/>
              </a:ext>
            </a:extLst>
          </p:cNvPr>
          <p:cNvSpPr>
            <a:spLocks noGrp="1"/>
          </p:cNvSpPr>
          <p:nvPr/>
        </p:nvSpPr>
        <p:spPr>
          <a:xfrm>
            <a:off x="1638300" y="42672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D5F52"/>
                </a:solidFill>
              </a:defRPr>
            </a:pPr>
            <a:r>
              <a:rPr sz="1125" b="1">
                <a:solidFill>
                  <a:srgbClr val="0D5F52"/>
                </a:solidFill>
              </a:rPr>
              <a:t>范围边界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A58C706-CEB7-4552-878E-665D53936B53}"/>
              </a:ext>
            </a:extLst>
          </p:cNvPr>
          <p:cNvSpPr>
            <a:spLocks noGrp="1"/>
          </p:cNvSpPr>
          <p:nvPr/>
        </p:nvSpPr>
        <p:spPr>
          <a:xfrm>
            <a:off x="1028700" y="4876800"/>
            <a:ext cx="29273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2233A"/>
                </a:solidFill>
              </a:defRPr>
            </a:pPr>
            <a:r>
              <a:rPr lang="zh-CN" altLang="en-US" sz="1275" b="0">
                <a:solidFill>
                  <a:srgbClr val="12233A"/>
                </a:solidFill>
              </a:rPr>
              <a:t>基于</a:t>
            </a:r>
            <a:r>
              <a:rPr lang="en-US" altLang="zh-CN" sz="1275" b="0">
                <a:solidFill>
                  <a:srgbClr val="12233A"/>
                </a:solidFill>
              </a:rPr>
              <a:t>SOW</a:t>
            </a:r>
            <a:r>
              <a:rPr lang="zh-CN" altLang="en-US" sz="1275" b="0">
                <a:solidFill>
                  <a:srgbClr val="12233A"/>
                </a:solidFill>
              </a:rPr>
              <a:t>，尊重合同契约。但需要满足西域的核心痛点。</a:t>
            </a:r>
            <a:endParaRPr sz="1275" b="0">
              <a:solidFill>
                <a:srgbClr val="12233A"/>
              </a:solidFill>
            </a:endParaRP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80BCF0DC-8111-458A-8527-32544C589789}"/>
              </a:ext>
            </a:extLst>
          </p:cNvPr>
          <p:cNvSpPr>
            <a:spLocks noGrp="1"/>
          </p:cNvSpPr>
          <p:nvPr/>
        </p:nvSpPr>
        <p:spPr>
          <a:xfrm>
            <a:off x="4413250" y="4057650"/>
            <a:ext cx="3384550" cy="1676400"/>
          </a:xfrm>
          <a:prstGeom prst="roundRect">
            <a:avLst>
              <a:gd name="adj" fmla="val 4545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34A8CCD-4A79-4BBC-A3E3-9E31A86E0B98}"/>
              </a:ext>
            </a:extLst>
          </p:cNvPr>
          <p:cNvSpPr>
            <a:spLocks noGrp="1"/>
          </p:cNvSpPr>
          <p:nvPr/>
        </p:nvSpPr>
        <p:spPr>
          <a:xfrm>
            <a:off x="4413250" y="4057650"/>
            <a:ext cx="76200" cy="1676400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C0BB8F77-1AC3-4DC3-8CC4-A6528EE5DCAB}"/>
              </a:ext>
            </a:extLst>
          </p:cNvPr>
          <p:cNvSpPr>
            <a:spLocks noGrp="1"/>
          </p:cNvSpPr>
          <p:nvPr/>
        </p:nvSpPr>
        <p:spPr>
          <a:xfrm>
            <a:off x="4622800" y="4286250"/>
            <a:ext cx="514350" cy="514350"/>
          </a:xfrm>
          <a:prstGeom prst="ellipse">
            <a:avLst/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346D4820-9D65-4DC8-86AA-8B49164A8A5F}"/>
              </a:ext>
            </a:extLst>
          </p:cNvPr>
          <p:cNvSpPr>
            <a:spLocks noGrp="1"/>
          </p:cNvSpPr>
          <p:nvPr/>
        </p:nvSpPr>
        <p:spPr>
          <a:xfrm>
            <a:off x="4746625" y="4457700"/>
            <a:ext cx="95250" cy="95250"/>
          </a:xfrm>
          <a:prstGeom prst="ellipse">
            <a:avLst/>
          </a:prstGeom>
          <a:solidFill>
            <a:srgbClr val="1F8A70"/>
          </a:solidFill>
          <a:ln w="9525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D4D1E908-471E-4C0A-BA8C-76D99EA3B019}"/>
              </a:ext>
            </a:extLst>
          </p:cNvPr>
          <p:cNvSpPr>
            <a:spLocks noGrp="1"/>
          </p:cNvSpPr>
          <p:nvPr/>
        </p:nvSpPr>
        <p:spPr>
          <a:xfrm>
            <a:off x="4918075" y="4543425"/>
            <a:ext cx="95250" cy="95250"/>
          </a:xfrm>
          <a:prstGeom prst="ellipse">
            <a:avLst/>
          </a:prstGeom>
          <a:solidFill>
            <a:srgbClr val="1F8A70"/>
          </a:solidFill>
          <a:ln w="9525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36A03E7-1C9A-45A3-80F7-0D446DA37B51}"/>
              </a:ext>
            </a:extLst>
          </p:cNvPr>
          <p:cNvSpPr>
            <a:spLocks noGrp="1"/>
          </p:cNvSpPr>
          <p:nvPr/>
        </p:nvSpPr>
        <p:spPr>
          <a:xfrm>
            <a:off x="4832350" y="4524375"/>
            <a:ext cx="180975" cy="28575"/>
          </a:xfrm>
          <a:prstGeom prst="rect">
            <a:avLst/>
          </a:prstGeom>
          <a:solidFill>
            <a:srgbClr val="122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9317E7F-36CC-45E2-ADC3-19A7AF9BEFDF}"/>
              </a:ext>
            </a:extLst>
          </p:cNvPr>
          <p:cNvSpPr>
            <a:spLocks noGrp="1"/>
          </p:cNvSpPr>
          <p:nvPr/>
        </p:nvSpPr>
        <p:spPr>
          <a:xfrm>
            <a:off x="5251450" y="42672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D5F52"/>
                </a:solidFill>
              </a:defRPr>
            </a:pPr>
            <a:r>
              <a:rPr sz="1125" b="1">
                <a:solidFill>
                  <a:srgbClr val="0D5F52"/>
                </a:solidFill>
              </a:rPr>
              <a:t>上线计划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666821B-4B4B-4AA4-BCB3-0AC52AEC4CD7}"/>
              </a:ext>
            </a:extLst>
          </p:cNvPr>
          <p:cNvSpPr>
            <a:spLocks noGrp="1"/>
          </p:cNvSpPr>
          <p:nvPr/>
        </p:nvSpPr>
        <p:spPr>
          <a:xfrm>
            <a:off x="4641850" y="4876800"/>
            <a:ext cx="29273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2233A"/>
                </a:solidFill>
              </a:defRPr>
            </a:pPr>
            <a:r>
              <a:rPr sz="1275" b="0">
                <a:solidFill>
                  <a:srgbClr val="12233A"/>
                </a:solidFill>
              </a:rPr>
              <a:t>围绕6月25日上线倒排，说明哪些工作要并行、哪些节点必须守住。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9A29D5B6-E40D-41E1-B8AF-21232BF4058F}"/>
              </a:ext>
            </a:extLst>
          </p:cNvPr>
          <p:cNvSpPr>
            <a:spLocks noGrp="1"/>
          </p:cNvSpPr>
          <p:nvPr/>
        </p:nvSpPr>
        <p:spPr>
          <a:xfrm>
            <a:off x="8026400" y="4057650"/>
            <a:ext cx="3384550" cy="1676400"/>
          </a:xfrm>
          <a:prstGeom prst="roundRect">
            <a:avLst>
              <a:gd name="adj" fmla="val 4545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19E185-8A03-4611-AD7A-2DF37F3399F3}"/>
              </a:ext>
            </a:extLst>
          </p:cNvPr>
          <p:cNvSpPr>
            <a:spLocks noGrp="1"/>
          </p:cNvSpPr>
          <p:nvPr/>
        </p:nvSpPr>
        <p:spPr>
          <a:xfrm>
            <a:off x="8026400" y="4057650"/>
            <a:ext cx="76200" cy="1676400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74A2E5BB-8D32-4243-8FF6-591EE3A01A8A}"/>
              </a:ext>
            </a:extLst>
          </p:cNvPr>
          <p:cNvSpPr>
            <a:spLocks noGrp="1"/>
          </p:cNvSpPr>
          <p:nvPr/>
        </p:nvSpPr>
        <p:spPr>
          <a:xfrm>
            <a:off x="8235950" y="4286250"/>
            <a:ext cx="514350" cy="514350"/>
          </a:xfrm>
          <a:prstGeom prst="ellipse">
            <a:avLst/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6AA57221-39C0-416E-8467-57039503F156}"/>
              </a:ext>
            </a:extLst>
          </p:cNvPr>
          <p:cNvSpPr>
            <a:spLocks noGrp="1"/>
          </p:cNvSpPr>
          <p:nvPr/>
        </p:nvSpPr>
        <p:spPr>
          <a:xfrm>
            <a:off x="8359775" y="442912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1F8A70"/>
          </a:solidFill>
          <a:ln w="9525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722F215A-652B-45E0-9029-CDEB6E2F51A3}"/>
              </a:ext>
            </a:extLst>
          </p:cNvPr>
          <p:cNvSpPr>
            <a:spLocks noGrp="1"/>
          </p:cNvSpPr>
          <p:nvPr/>
        </p:nvSpPr>
        <p:spPr>
          <a:xfrm>
            <a:off x="8407400" y="451485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D6A23A"/>
          </a:solidFill>
          <a:ln w="9525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CE6824A8-054D-45CC-B81A-147CADD707FB}"/>
              </a:ext>
            </a:extLst>
          </p:cNvPr>
          <p:cNvSpPr>
            <a:spLocks noGrp="1"/>
          </p:cNvSpPr>
          <p:nvPr/>
        </p:nvSpPr>
        <p:spPr>
          <a:xfrm>
            <a:off x="8455025" y="460057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D95F45"/>
          </a:solidFill>
          <a:ln w="9525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FBA35A6-940B-47CB-8FD4-A2B05493D1A3}"/>
              </a:ext>
            </a:extLst>
          </p:cNvPr>
          <p:cNvSpPr>
            <a:spLocks noGrp="1"/>
          </p:cNvSpPr>
          <p:nvPr/>
        </p:nvSpPr>
        <p:spPr>
          <a:xfrm>
            <a:off x="8864600" y="42672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D5F52"/>
                </a:solidFill>
              </a:defRPr>
            </a:pPr>
            <a:r>
              <a:rPr sz="1125" b="1">
                <a:solidFill>
                  <a:srgbClr val="0D5F52"/>
                </a:solidFill>
              </a:rPr>
              <a:t>组织协同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F8719CA-EF89-4151-9637-FAACC2C1B816}"/>
              </a:ext>
            </a:extLst>
          </p:cNvPr>
          <p:cNvSpPr>
            <a:spLocks noGrp="1"/>
          </p:cNvSpPr>
          <p:nvPr/>
        </p:nvSpPr>
        <p:spPr>
          <a:xfrm>
            <a:off x="8255000" y="4876800"/>
            <a:ext cx="29273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2233A"/>
                </a:solidFill>
              </a:defRPr>
            </a:pPr>
            <a:r>
              <a:rPr sz="1275" b="0">
                <a:solidFill>
                  <a:srgbClr val="12233A"/>
                </a:solidFill>
              </a:rPr>
              <a:t>负责人、关键用户、接口人和例会节奏，今天先对到人。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6258BE3-A087-4081-A841-FAB8A5C4791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494566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2983603-13B7-4D47-BE6F-60D2B6D654EF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02 项目目标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91BBF13-DBC9-4F8D-9CF2-BF78E052C6F6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03 / 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D1EBB0-19CE-4AB8-A8D8-862D3F097B46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22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E9B9BED-0776-45B6-A9C4-0B77EE61D20C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1F8A70"/>
          </a:solidFill>
          <a:ln w="1905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0AF05B4-1014-4ED2-BC47-0361C0E6A125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6667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目标：让投标过程在线、可管、可复盘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2467255-C4CE-434B-AF40-A3AE29349D74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667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从标讯到中标结果，把过程和经验都沉淀下来。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64B4B97E-1BBD-47CE-BEAE-9E5C0A87295C}"/>
              </a:ext>
            </a:extLst>
          </p:cNvPr>
          <p:cNvSpPr>
            <a:spLocks noGrp="1"/>
          </p:cNvSpPr>
          <p:nvPr/>
        </p:nvSpPr>
        <p:spPr>
          <a:xfrm>
            <a:off x="876300" y="38481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108DB0A-DCC9-4C68-AE02-B5A8C2932C89}"/>
              </a:ext>
            </a:extLst>
          </p:cNvPr>
          <p:cNvSpPr>
            <a:spLocks noGrp="1"/>
          </p:cNvSpPr>
          <p:nvPr/>
        </p:nvSpPr>
        <p:spPr>
          <a:xfrm>
            <a:off x="876300" y="3848100"/>
            <a:ext cx="3143250" cy="66675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F192FB0-8ECE-4B5B-A4FB-66E336204BBA}"/>
              </a:ext>
            </a:extLst>
          </p:cNvPr>
          <p:cNvSpPr>
            <a:spLocks noGrp="1"/>
          </p:cNvSpPr>
          <p:nvPr/>
        </p:nvSpPr>
        <p:spPr>
          <a:xfrm>
            <a:off x="1085850" y="40767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2233A"/>
                </a:solidFill>
              </a:defRPr>
            </a:pPr>
            <a:r>
              <a:rPr sz="2550" b="1">
                <a:solidFill>
                  <a:srgbClr val="12233A"/>
                </a:solidFill>
              </a:rPr>
              <a:t>全流程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3A5BE50-7061-427D-BE2D-7380D4DE8406}"/>
              </a:ext>
            </a:extLst>
          </p:cNvPr>
          <p:cNvSpPr>
            <a:spLocks noGrp="1"/>
          </p:cNvSpPr>
          <p:nvPr/>
        </p:nvSpPr>
        <p:spPr>
          <a:xfrm>
            <a:off x="1104900" y="46291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4465C"/>
                </a:solidFill>
              </a:defRPr>
            </a:pPr>
            <a:r>
              <a:rPr sz="1200" b="0">
                <a:solidFill>
                  <a:srgbClr val="34465C"/>
                </a:solidFill>
              </a:rPr>
              <a:t>商机/标讯到结果闭环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0EB56CD-0EC0-460A-BE02-115B45A1EBE8}"/>
              </a:ext>
            </a:extLst>
          </p:cNvPr>
          <p:cNvSpPr>
            <a:spLocks noGrp="1"/>
          </p:cNvSpPr>
          <p:nvPr/>
        </p:nvSpPr>
        <p:spPr>
          <a:xfrm>
            <a:off x="1104900" y="51054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主线不掉线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11890EBF-0722-4AC5-92B6-B94622FC8326}"/>
              </a:ext>
            </a:extLst>
          </p:cNvPr>
          <p:cNvSpPr>
            <a:spLocks noGrp="1"/>
          </p:cNvSpPr>
          <p:nvPr/>
        </p:nvSpPr>
        <p:spPr>
          <a:xfrm>
            <a:off x="4400550" y="38481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C77377D-18A2-4716-955D-E3CBF5040C93}"/>
              </a:ext>
            </a:extLst>
          </p:cNvPr>
          <p:cNvSpPr>
            <a:spLocks noGrp="1"/>
          </p:cNvSpPr>
          <p:nvPr/>
        </p:nvSpPr>
        <p:spPr>
          <a:xfrm>
            <a:off x="4400550" y="3848100"/>
            <a:ext cx="3143250" cy="66675"/>
          </a:xfrm>
          <a:prstGeom prst="rect">
            <a:avLst/>
          </a:prstGeom>
          <a:solidFill>
            <a:srgbClr val="D6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5BC1E6E-E11F-4B2F-A7ED-02C2E9D4E072}"/>
              </a:ext>
            </a:extLst>
          </p:cNvPr>
          <p:cNvSpPr>
            <a:spLocks noGrp="1"/>
          </p:cNvSpPr>
          <p:nvPr/>
        </p:nvSpPr>
        <p:spPr>
          <a:xfrm>
            <a:off x="4610100" y="40767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2233A"/>
                </a:solidFill>
              </a:defRPr>
            </a:pPr>
            <a:r>
              <a:rPr sz="2550" b="1">
                <a:solidFill>
                  <a:srgbClr val="12233A"/>
                </a:solidFill>
              </a:rPr>
              <a:t>可追溯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F359E5F-FD4D-4A64-8907-D22100298EAA}"/>
              </a:ext>
            </a:extLst>
          </p:cNvPr>
          <p:cNvSpPr>
            <a:spLocks noGrp="1"/>
          </p:cNvSpPr>
          <p:nvPr/>
        </p:nvSpPr>
        <p:spPr>
          <a:xfrm>
            <a:off x="4629150" y="46291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4465C"/>
                </a:solidFill>
              </a:defRPr>
            </a:pPr>
            <a:r>
              <a:rPr sz="1200" b="0">
                <a:solidFill>
                  <a:srgbClr val="34465C"/>
                </a:solidFill>
              </a:rPr>
              <a:t>任务、文档、资源、费用有记录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034127F-B5CC-4BEA-B941-3A6FF0F5594C}"/>
              </a:ext>
            </a:extLst>
          </p:cNvPr>
          <p:cNvSpPr>
            <a:spLocks noGrp="1"/>
          </p:cNvSpPr>
          <p:nvPr/>
        </p:nvSpPr>
        <p:spPr>
          <a:xfrm>
            <a:off x="4629150" y="51054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责任和证据清楚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788FF781-4191-4228-A3DE-A7EE4054E25D}"/>
              </a:ext>
            </a:extLst>
          </p:cNvPr>
          <p:cNvSpPr>
            <a:spLocks noGrp="1"/>
          </p:cNvSpPr>
          <p:nvPr/>
        </p:nvSpPr>
        <p:spPr>
          <a:xfrm>
            <a:off x="7924800" y="38481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D664F8B-3D82-4CC4-B815-F1C23E250F01}"/>
              </a:ext>
            </a:extLst>
          </p:cNvPr>
          <p:cNvSpPr>
            <a:spLocks noGrp="1"/>
          </p:cNvSpPr>
          <p:nvPr/>
        </p:nvSpPr>
        <p:spPr>
          <a:xfrm>
            <a:off x="7924800" y="3848100"/>
            <a:ext cx="3143250" cy="66675"/>
          </a:xfrm>
          <a:prstGeom prst="rect">
            <a:avLst/>
          </a:prstGeom>
          <a:solidFill>
            <a:srgbClr val="D95F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7028E44-6A42-4192-B8FB-4BD30E11E1ED}"/>
              </a:ext>
            </a:extLst>
          </p:cNvPr>
          <p:cNvSpPr>
            <a:spLocks noGrp="1"/>
          </p:cNvSpPr>
          <p:nvPr/>
        </p:nvSpPr>
        <p:spPr>
          <a:xfrm>
            <a:off x="8134350" y="40767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2233A"/>
                </a:solidFill>
              </a:defRPr>
            </a:pPr>
            <a:r>
              <a:rPr sz="2550" b="1">
                <a:solidFill>
                  <a:srgbClr val="12233A"/>
                </a:solidFill>
              </a:rPr>
              <a:t>智能化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385AC6E-D79D-419B-8A7D-18CAFCDCD84B}"/>
              </a:ext>
            </a:extLst>
          </p:cNvPr>
          <p:cNvSpPr>
            <a:spLocks noGrp="1"/>
          </p:cNvSpPr>
          <p:nvPr/>
        </p:nvSpPr>
        <p:spPr>
          <a:xfrm>
            <a:off x="8153400" y="46291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4465C"/>
                </a:solidFill>
              </a:defRPr>
            </a:pPr>
            <a:r>
              <a:rPr sz="1200" b="0">
                <a:solidFill>
                  <a:srgbClr val="34465C"/>
                </a:solidFill>
              </a:rPr>
              <a:t>AI分析、合规检查、评分辅助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48665D4-A151-4143-8A5D-CFE2AD43C5EC}"/>
              </a:ext>
            </a:extLst>
          </p:cNvPr>
          <p:cNvSpPr>
            <a:spLocks noGrp="1"/>
          </p:cNvSpPr>
          <p:nvPr/>
        </p:nvSpPr>
        <p:spPr>
          <a:xfrm>
            <a:off x="8153400" y="51054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风险早一点看见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D0423C4-756D-486A-B1CA-BA225FAFCF82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1956219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5">
            <a:extLst>
              <a:ext uri="{FF2B5EF4-FFF2-40B4-BE49-F238E27FC236}">
                <a16:creationId xmlns:a16="http://schemas.microsoft.com/office/drawing/2014/main" id="{6F2A84AB-8E2B-412F-8CC5-D83FB87020B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2D31D4A9-0452-493D-9BBE-C4E907C080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451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441C4AC-7AAC-4532-B477-5CB61BEC638D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02 项目目标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09B7223-4A19-40FC-9E16-973810C97B3C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04 / 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51EDEB8-0B8D-48E7-8732-51FFE8290152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22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15712715-2588-4610-8D72-8D9E296D7496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1F8A70"/>
          </a:solidFill>
          <a:ln w="1905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70B88D-1C86-44A2-A3DF-D5A3531D10CA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09625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本期范围先按白名单执行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2AFCAFD-F533-4810-80CB-4937B164747B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能上线、能验收的放进本期；还没闭环的先不挤进来。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D0F4670C-FAAA-4EA2-A5D8-A1AA247765BE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371850"/>
          </a:xfrm>
          <a:prstGeom prst="roundRect">
            <a:avLst>
              <a:gd name="adj" fmla="val 2260"/>
            </a:avLst>
          </a:prstGeom>
          <a:solidFill>
            <a:srgbClr val="FFFFFF">
              <a:alpha val="90980"/>
            </a:srgbClr>
          </a:solidFill>
          <a:ln w="10478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5EF4706-3F25-4AF7-87E7-EDE614FB3D55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42900"/>
          </a:xfrm>
          <a:prstGeom prst="rect">
            <a:avLst/>
          </a:prstGeom>
          <a:solidFill>
            <a:srgbClr val="0D5F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6FC923B-7592-45F1-A65E-74CDF696E0E4}"/>
              </a:ext>
            </a:extLst>
          </p:cNvPr>
          <p:cNvSpPr>
            <a:spLocks noGrp="1"/>
          </p:cNvSpPr>
          <p:nvPr/>
        </p:nvSpPr>
        <p:spPr>
          <a:xfrm>
            <a:off x="819150" y="2943225"/>
            <a:ext cx="1352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工作包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EEF99B2-C341-44E3-AFD9-48313304092D}"/>
              </a:ext>
            </a:extLst>
          </p:cNvPr>
          <p:cNvSpPr>
            <a:spLocks noGrp="1"/>
          </p:cNvSpPr>
          <p:nvPr/>
        </p:nvSpPr>
        <p:spPr>
          <a:xfrm>
            <a:off x="2438400" y="2943225"/>
            <a:ext cx="6305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主要活动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41A22A7-1DBF-422C-BE1D-D3A634963B7F}"/>
              </a:ext>
            </a:extLst>
          </p:cNvPr>
          <p:cNvSpPr>
            <a:spLocks noGrp="1"/>
          </p:cNvSpPr>
          <p:nvPr/>
        </p:nvSpPr>
        <p:spPr>
          <a:xfrm>
            <a:off x="9010650" y="2943225"/>
            <a:ext cx="2362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阶段输出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49E3693-C3D3-4EBA-822D-97B0C93BB885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10820400" cy="757238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7A06947-0F6D-4288-BDE2-5D5DA360FEB2}"/>
              </a:ext>
            </a:extLst>
          </p:cNvPr>
          <p:cNvSpPr>
            <a:spLocks noGrp="1"/>
          </p:cNvSpPr>
          <p:nvPr/>
        </p:nvSpPr>
        <p:spPr>
          <a:xfrm>
            <a:off x="2305050" y="3200400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350E190-584E-4943-8EF1-2824530802A1}"/>
              </a:ext>
            </a:extLst>
          </p:cNvPr>
          <p:cNvSpPr>
            <a:spLocks noGrp="1"/>
          </p:cNvSpPr>
          <p:nvPr/>
        </p:nvSpPr>
        <p:spPr>
          <a:xfrm>
            <a:off x="8877300" y="3200400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7BCBB03-E508-4DE3-90A9-C05E3F070F7D}"/>
              </a:ext>
            </a:extLst>
          </p:cNvPr>
          <p:cNvSpPr>
            <a:spLocks noGrp="1"/>
          </p:cNvSpPr>
          <p:nvPr/>
        </p:nvSpPr>
        <p:spPr>
          <a:xfrm>
            <a:off x="819150" y="3286125"/>
            <a:ext cx="1352550" cy="5857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业务主线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0BE4B25-9930-4896-913D-D10BE41C45A9}"/>
              </a:ext>
            </a:extLst>
          </p:cNvPr>
          <p:cNvSpPr>
            <a:spLocks noGrp="1"/>
          </p:cNvSpPr>
          <p:nvPr/>
        </p:nvSpPr>
        <p:spPr>
          <a:xfrm>
            <a:off x="2457450" y="3276600"/>
            <a:ext cx="626745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标讯录入、AI分析、项目立项、任务协同、标书过程、结果归档。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57FB4D4-4CFC-434E-BDE9-CBF60755BE64}"/>
              </a:ext>
            </a:extLst>
          </p:cNvPr>
          <p:cNvSpPr>
            <a:spLocks noGrp="1"/>
          </p:cNvSpPr>
          <p:nvPr/>
        </p:nvSpPr>
        <p:spPr>
          <a:xfrm>
            <a:off x="9029700" y="3276600"/>
            <a:ext cx="232410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主链路页面与接口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C6111B8-7BE7-4A03-8B78-941BE0C8D90E}"/>
              </a:ext>
            </a:extLst>
          </p:cNvPr>
          <p:cNvSpPr>
            <a:spLocks noGrp="1"/>
          </p:cNvSpPr>
          <p:nvPr/>
        </p:nvSpPr>
        <p:spPr>
          <a:xfrm>
            <a:off x="685800" y="3957638"/>
            <a:ext cx="10820400" cy="757238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B9CF52-ACE4-4793-BCB4-34B2A934E1C5}"/>
              </a:ext>
            </a:extLst>
          </p:cNvPr>
          <p:cNvSpPr>
            <a:spLocks noGrp="1"/>
          </p:cNvSpPr>
          <p:nvPr/>
        </p:nvSpPr>
        <p:spPr>
          <a:xfrm>
            <a:off x="2305050" y="3957638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C2FD434-87E4-4CE6-8C17-7726035691E1}"/>
              </a:ext>
            </a:extLst>
          </p:cNvPr>
          <p:cNvSpPr>
            <a:spLocks noGrp="1"/>
          </p:cNvSpPr>
          <p:nvPr/>
        </p:nvSpPr>
        <p:spPr>
          <a:xfrm>
            <a:off x="8877300" y="3957638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8FE53B8-5371-41AF-B0B5-0784089473EB}"/>
              </a:ext>
            </a:extLst>
          </p:cNvPr>
          <p:cNvSpPr>
            <a:spLocks noGrp="1"/>
          </p:cNvSpPr>
          <p:nvPr/>
        </p:nvSpPr>
        <p:spPr>
          <a:xfrm>
            <a:off x="819150" y="4043363"/>
            <a:ext cx="1352550" cy="5857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知识资产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132A10D-4B17-4B60-AC73-5C795C3E6197}"/>
              </a:ext>
            </a:extLst>
          </p:cNvPr>
          <p:cNvSpPr>
            <a:spLocks noGrp="1"/>
          </p:cNvSpPr>
          <p:nvPr/>
        </p:nvSpPr>
        <p:spPr>
          <a:xfrm>
            <a:off x="2457450" y="4033838"/>
            <a:ext cx="626745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资质、案例、模板、平台账户、BAR证书、合同借阅统一管理。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759755E-9BE0-4C42-8659-3463A49CA167}"/>
              </a:ext>
            </a:extLst>
          </p:cNvPr>
          <p:cNvSpPr>
            <a:spLocks noGrp="1"/>
          </p:cNvSpPr>
          <p:nvPr/>
        </p:nvSpPr>
        <p:spPr>
          <a:xfrm>
            <a:off x="9029700" y="4033838"/>
            <a:ext cx="232410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知识与资源中心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5A4B189-B7CA-4961-A343-C065192E2FF8}"/>
              </a:ext>
            </a:extLst>
          </p:cNvPr>
          <p:cNvSpPr>
            <a:spLocks noGrp="1"/>
          </p:cNvSpPr>
          <p:nvPr/>
        </p:nvSpPr>
        <p:spPr>
          <a:xfrm>
            <a:off x="685800" y="4714875"/>
            <a:ext cx="10820400" cy="757238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22FCB9D-B8DC-491C-A773-A93339581C03}"/>
              </a:ext>
            </a:extLst>
          </p:cNvPr>
          <p:cNvSpPr>
            <a:spLocks noGrp="1"/>
          </p:cNvSpPr>
          <p:nvPr/>
        </p:nvSpPr>
        <p:spPr>
          <a:xfrm>
            <a:off x="2305050" y="4714875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D7ABF1B-75A0-4C17-BBF2-CBE876670F33}"/>
              </a:ext>
            </a:extLst>
          </p:cNvPr>
          <p:cNvSpPr>
            <a:spLocks noGrp="1"/>
          </p:cNvSpPr>
          <p:nvPr/>
        </p:nvSpPr>
        <p:spPr>
          <a:xfrm>
            <a:off x="8877300" y="4714875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DEE9F17-F7CD-4F85-9A35-43AE39433382}"/>
              </a:ext>
            </a:extLst>
          </p:cNvPr>
          <p:cNvSpPr>
            <a:spLocks noGrp="1"/>
          </p:cNvSpPr>
          <p:nvPr/>
        </p:nvSpPr>
        <p:spPr>
          <a:xfrm>
            <a:off x="819150" y="4800600"/>
            <a:ext cx="1352550" cy="5857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数据分析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B6A25C6-D569-4910-B18B-37D7DAAFCF9F}"/>
              </a:ext>
            </a:extLst>
          </p:cNvPr>
          <p:cNvSpPr>
            <a:spLocks noGrp="1"/>
          </p:cNvSpPr>
          <p:nvPr/>
        </p:nvSpPr>
        <p:spPr>
          <a:xfrm>
            <a:off x="2457450" y="4791075"/>
            <a:ext cx="626745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管理驾驶舱、中标率、ROI、竞对、区域和产品线分析。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AC63BA4-D7B6-46B3-8159-C6F78E648D1B}"/>
              </a:ext>
            </a:extLst>
          </p:cNvPr>
          <p:cNvSpPr>
            <a:spLocks noGrp="1"/>
          </p:cNvSpPr>
          <p:nvPr/>
        </p:nvSpPr>
        <p:spPr>
          <a:xfrm>
            <a:off x="9029700" y="4791075"/>
            <a:ext cx="232410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驾驶舱与报表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0C2E944-0D84-4BA2-9A1F-02514EC192B5}"/>
              </a:ext>
            </a:extLst>
          </p:cNvPr>
          <p:cNvSpPr>
            <a:spLocks noGrp="1"/>
          </p:cNvSpPr>
          <p:nvPr/>
        </p:nvSpPr>
        <p:spPr>
          <a:xfrm>
            <a:off x="685800" y="5472113"/>
            <a:ext cx="10820400" cy="757238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9C09163-6BED-4855-B3DD-B4AA643712F8}"/>
              </a:ext>
            </a:extLst>
          </p:cNvPr>
          <p:cNvSpPr>
            <a:spLocks noGrp="1"/>
          </p:cNvSpPr>
          <p:nvPr/>
        </p:nvSpPr>
        <p:spPr>
          <a:xfrm>
            <a:off x="2305050" y="5472113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B2D501C-09F9-49C0-8872-D7C31DC7014C}"/>
              </a:ext>
            </a:extLst>
          </p:cNvPr>
          <p:cNvSpPr>
            <a:spLocks noGrp="1"/>
          </p:cNvSpPr>
          <p:nvPr/>
        </p:nvSpPr>
        <p:spPr>
          <a:xfrm>
            <a:off x="8877300" y="5472113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B5C94AF-9834-484A-B9C0-E39138213923}"/>
              </a:ext>
            </a:extLst>
          </p:cNvPr>
          <p:cNvSpPr>
            <a:spLocks noGrp="1"/>
          </p:cNvSpPr>
          <p:nvPr/>
        </p:nvSpPr>
        <p:spPr>
          <a:xfrm>
            <a:off x="819150" y="5557838"/>
            <a:ext cx="1352550" cy="5857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集成发布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E6476A0-0501-447E-AA6C-F71C2A9ED38D}"/>
              </a:ext>
            </a:extLst>
          </p:cNvPr>
          <p:cNvSpPr>
            <a:spLocks noGrp="1"/>
          </p:cNvSpPr>
          <p:nvPr/>
        </p:nvSpPr>
        <p:spPr>
          <a:xfrm>
            <a:off x="2457450" y="5548313"/>
            <a:ext cx="626745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CRM、OA、组织架构、消息提醒分步接入，并完成上线演练。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0011599-2FC5-43EC-A14C-823D9F77E1D9}"/>
              </a:ext>
            </a:extLst>
          </p:cNvPr>
          <p:cNvSpPr>
            <a:spLocks noGrp="1"/>
          </p:cNvSpPr>
          <p:nvPr/>
        </p:nvSpPr>
        <p:spPr>
          <a:xfrm>
            <a:off x="9029700" y="5548313"/>
            <a:ext cx="232410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联调与上线材料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6FAF3F6-5475-49E9-B871-E65B037478BA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169463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5">
            <a:extLst>
              <a:ext uri="{FF2B5EF4-FFF2-40B4-BE49-F238E27FC236}">
                <a16:creationId xmlns:a16="http://schemas.microsoft.com/office/drawing/2014/main" id="{6F2A84AB-8E2B-412F-8CC5-D83FB87020B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2B38CCA-9503-4166-9769-32AD84ADF3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451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297A43E-0D29-4937-9DB9-57D0349333A2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02 项目目标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E811FDC-AEC0-457E-B3E6-BB401D160C86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05 / 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E4B1569-41D3-45C8-B78D-31334D765CF7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22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C8199B3E-00AB-49E1-BB95-A51A98D39A59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1F8A70"/>
          </a:solidFill>
          <a:ln w="1905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0D54A2B-ED03-4F69-9D06-79D0258947DD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09625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上线后，希望管理方式有这些变化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0187C9F-7030-46DF-AE01-119881039187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少一点分散追问，多一点过程透明。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21990FA0-3491-4118-A066-E472A65DF407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371850"/>
          </a:xfrm>
          <a:prstGeom prst="roundRect">
            <a:avLst>
              <a:gd name="adj" fmla="val 2260"/>
            </a:avLst>
          </a:prstGeom>
          <a:solidFill>
            <a:srgbClr val="FFFFFF">
              <a:alpha val="90980"/>
            </a:srgbClr>
          </a:solidFill>
          <a:ln w="10478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1B8B86F-3EE1-4FF0-B626-B2EA7D321395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42900"/>
          </a:xfrm>
          <a:prstGeom prst="rect">
            <a:avLst/>
          </a:prstGeom>
          <a:solidFill>
            <a:srgbClr val="0D5F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96F1080-4F9D-49C7-87E8-8674729654C7}"/>
              </a:ext>
            </a:extLst>
          </p:cNvPr>
          <p:cNvSpPr>
            <a:spLocks noGrp="1"/>
          </p:cNvSpPr>
          <p:nvPr/>
        </p:nvSpPr>
        <p:spPr>
          <a:xfrm>
            <a:off x="819150" y="2943225"/>
            <a:ext cx="1352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工作包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03082A4-39EA-49E7-B80C-65786360B6B8}"/>
              </a:ext>
            </a:extLst>
          </p:cNvPr>
          <p:cNvSpPr>
            <a:spLocks noGrp="1"/>
          </p:cNvSpPr>
          <p:nvPr/>
        </p:nvSpPr>
        <p:spPr>
          <a:xfrm>
            <a:off x="2438400" y="2943225"/>
            <a:ext cx="6305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主要活动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0612A5B-5DBC-423E-A6D9-88F9472C45F6}"/>
              </a:ext>
            </a:extLst>
          </p:cNvPr>
          <p:cNvSpPr>
            <a:spLocks noGrp="1"/>
          </p:cNvSpPr>
          <p:nvPr/>
        </p:nvSpPr>
        <p:spPr>
          <a:xfrm>
            <a:off x="9010650" y="2943225"/>
            <a:ext cx="2362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阶段输出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86362D3-1AC4-425B-8AEC-9D0CD5F5E442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10820400" cy="757238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43AF86C-1AB9-447B-A473-03558D96FB6D}"/>
              </a:ext>
            </a:extLst>
          </p:cNvPr>
          <p:cNvSpPr>
            <a:spLocks noGrp="1"/>
          </p:cNvSpPr>
          <p:nvPr/>
        </p:nvSpPr>
        <p:spPr>
          <a:xfrm>
            <a:off x="2305050" y="3200400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296DD4C-F6E1-45DC-B207-82B2002AB9AB}"/>
              </a:ext>
            </a:extLst>
          </p:cNvPr>
          <p:cNvSpPr>
            <a:spLocks noGrp="1"/>
          </p:cNvSpPr>
          <p:nvPr/>
        </p:nvSpPr>
        <p:spPr>
          <a:xfrm>
            <a:off x="8877300" y="3200400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75410F4-B997-4131-B089-E065E7E2C5CF}"/>
              </a:ext>
            </a:extLst>
          </p:cNvPr>
          <p:cNvSpPr>
            <a:spLocks noGrp="1"/>
          </p:cNvSpPr>
          <p:nvPr/>
        </p:nvSpPr>
        <p:spPr>
          <a:xfrm>
            <a:off x="819150" y="3286125"/>
            <a:ext cx="1352550" cy="5857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统一入口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0507AE8-C994-47A1-8471-062DCD89CFB2}"/>
              </a:ext>
            </a:extLst>
          </p:cNvPr>
          <p:cNvSpPr>
            <a:spLocks noGrp="1"/>
          </p:cNvSpPr>
          <p:nvPr/>
        </p:nvSpPr>
        <p:spPr>
          <a:xfrm>
            <a:off x="2457450" y="3276600"/>
            <a:ext cx="626745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标讯、项目、资料、费用统一入口、统一台账。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43C3DE6-0BE4-4556-8D08-9E7E83C63912}"/>
              </a:ext>
            </a:extLst>
          </p:cNvPr>
          <p:cNvSpPr>
            <a:spLocks noGrp="1"/>
          </p:cNvSpPr>
          <p:nvPr/>
        </p:nvSpPr>
        <p:spPr>
          <a:xfrm>
            <a:off x="9029700" y="3276600"/>
            <a:ext cx="232410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少反复找人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0734C88-3A2F-4482-A3BE-525E54E1E11D}"/>
              </a:ext>
            </a:extLst>
          </p:cNvPr>
          <p:cNvSpPr>
            <a:spLocks noGrp="1"/>
          </p:cNvSpPr>
          <p:nvPr/>
        </p:nvSpPr>
        <p:spPr>
          <a:xfrm>
            <a:off x="685800" y="3957638"/>
            <a:ext cx="10820400" cy="757238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103CC4C-8186-4FE2-8A4B-8615ADFC486B}"/>
              </a:ext>
            </a:extLst>
          </p:cNvPr>
          <p:cNvSpPr>
            <a:spLocks noGrp="1"/>
          </p:cNvSpPr>
          <p:nvPr/>
        </p:nvSpPr>
        <p:spPr>
          <a:xfrm>
            <a:off x="2305050" y="3957638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F172169-02D9-4436-BF07-E2D8E4E14E75}"/>
              </a:ext>
            </a:extLst>
          </p:cNvPr>
          <p:cNvSpPr>
            <a:spLocks noGrp="1"/>
          </p:cNvSpPr>
          <p:nvPr/>
        </p:nvSpPr>
        <p:spPr>
          <a:xfrm>
            <a:off x="8877300" y="3957638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CCDCFA7-B206-4FA9-94A0-179CB1BD574C}"/>
              </a:ext>
            </a:extLst>
          </p:cNvPr>
          <p:cNvSpPr>
            <a:spLocks noGrp="1"/>
          </p:cNvSpPr>
          <p:nvPr/>
        </p:nvSpPr>
        <p:spPr>
          <a:xfrm>
            <a:off x="819150" y="4043363"/>
            <a:ext cx="1352550" cy="5857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过程可控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C045FA3-D99E-480F-B166-99126E3F4750}"/>
              </a:ext>
            </a:extLst>
          </p:cNvPr>
          <p:cNvSpPr>
            <a:spLocks noGrp="1"/>
          </p:cNvSpPr>
          <p:nvPr/>
        </p:nvSpPr>
        <p:spPr>
          <a:xfrm>
            <a:off x="2457450" y="4033838"/>
            <a:ext cx="626745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任务、文档、审批、证书、保证金都有记录。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40F238A-19F2-4B96-9284-5416C03F6D87}"/>
              </a:ext>
            </a:extLst>
          </p:cNvPr>
          <p:cNvSpPr>
            <a:spLocks noGrp="1"/>
          </p:cNvSpPr>
          <p:nvPr/>
        </p:nvSpPr>
        <p:spPr>
          <a:xfrm>
            <a:off x="9029700" y="4033838"/>
            <a:ext cx="232410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责任说得清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ECEE8BA-74E7-4097-95D5-E42D0DC829F1}"/>
              </a:ext>
            </a:extLst>
          </p:cNvPr>
          <p:cNvSpPr>
            <a:spLocks noGrp="1"/>
          </p:cNvSpPr>
          <p:nvPr/>
        </p:nvSpPr>
        <p:spPr>
          <a:xfrm>
            <a:off x="685800" y="4714875"/>
            <a:ext cx="10820400" cy="757238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0213D92-DF93-4088-B666-D442061B2770}"/>
              </a:ext>
            </a:extLst>
          </p:cNvPr>
          <p:cNvSpPr>
            <a:spLocks noGrp="1"/>
          </p:cNvSpPr>
          <p:nvPr/>
        </p:nvSpPr>
        <p:spPr>
          <a:xfrm>
            <a:off x="2305050" y="4714875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A495FEC-D3EF-4740-A620-7AB7B28263A9}"/>
              </a:ext>
            </a:extLst>
          </p:cNvPr>
          <p:cNvSpPr>
            <a:spLocks noGrp="1"/>
          </p:cNvSpPr>
          <p:nvPr/>
        </p:nvSpPr>
        <p:spPr>
          <a:xfrm>
            <a:off x="8877300" y="4714875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A1E3D7F-6DE1-4C8D-91A1-5A1E3CC785BE}"/>
              </a:ext>
            </a:extLst>
          </p:cNvPr>
          <p:cNvSpPr>
            <a:spLocks noGrp="1"/>
          </p:cNvSpPr>
          <p:nvPr/>
        </p:nvSpPr>
        <p:spPr>
          <a:xfrm>
            <a:off x="819150" y="4800600"/>
            <a:ext cx="1352550" cy="5857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风险前置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FD6F07F-BAF7-4410-ABE6-4FF4EA63A1A7}"/>
              </a:ext>
            </a:extLst>
          </p:cNvPr>
          <p:cNvSpPr>
            <a:spLocks noGrp="1"/>
          </p:cNvSpPr>
          <p:nvPr/>
        </p:nvSpPr>
        <p:spPr>
          <a:xfrm>
            <a:off x="2457450" y="4791075"/>
            <a:ext cx="626745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截标、资质、合规、评分等风险提前提醒。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C2AF65F-6676-49A0-B8C2-D4B5A5CE34A7}"/>
              </a:ext>
            </a:extLst>
          </p:cNvPr>
          <p:cNvSpPr>
            <a:spLocks noGrp="1"/>
          </p:cNvSpPr>
          <p:nvPr/>
        </p:nvSpPr>
        <p:spPr>
          <a:xfrm>
            <a:off x="9029700" y="4791075"/>
            <a:ext cx="232410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少临时救火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BBCCBC2-CBFB-43AA-9446-8D231C23C59F}"/>
              </a:ext>
            </a:extLst>
          </p:cNvPr>
          <p:cNvSpPr>
            <a:spLocks noGrp="1"/>
          </p:cNvSpPr>
          <p:nvPr/>
        </p:nvSpPr>
        <p:spPr>
          <a:xfrm>
            <a:off x="685800" y="5472113"/>
            <a:ext cx="10820400" cy="757238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1BC97E5-ADBC-4ACE-9523-8FF41EEEEDA2}"/>
              </a:ext>
            </a:extLst>
          </p:cNvPr>
          <p:cNvSpPr>
            <a:spLocks noGrp="1"/>
          </p:cNvSpPr>
          <p:nvPr/>
        </p:nvSpPr>
        <p:spPr>
          <a:xfrm>
            <a:off x="2305050" y="5472113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75FE356-C8FA-4B4E-AA8E-6C0A853CC4B5}"/>
              </a:ext>
            </a:extLst>
          </p:cNvPr>
          <p:cNvSpPr>
            <a:spLocks noGrp="1"/>
          </p:cNvSpPr>
          <p:nvPr/>
        </p:nvSpPr>
        <p:spPr>
          <a:xfrm>
            <a:off x="8877300" y="5472113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A36BA0A-7F06-48B0-95CE-EACF22A3475D}"/>
              </a:ext>
            </a:extLst>
          </p:cNvPr>
          <p:cNvSpPr>
            <a:spLocks noGrp="1"/>
          </p:cNvSpPr>
          <p:nvPr/>
        </p:nvSpPr>
        <p:spPr>
          <a:xfrm>
            <a:off x="819150" y="5557838"/>
            <a:ext cx="1352550" cy="5857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决策有据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3623981-75A1-4DD1-8BF2-577D7912F0C0}"/>
              </a:ext>
            </a:extLst>
          </p:cNvPr>
          <p:cNvSpPr>
            <a:spLocks noGrp="1"/>
          </p:cNvSpPr>
          <p:nvPr/>
        </p:nvSpPr>
        <p:spPr>
          <a:xfrm>
            <a:off x="2457450" y="5548313"/>
            <a:ext cx="626745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中标率、投入产出、竞对态势、区域分布能看得见。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62E4E68-97B3-48EA-85F4-2499001CCC48}"/>
              </a:ext>
            </a:extLst>
          </p:cNvPr>
          <p:cNvSpPr>
            <a:spLocks noGrp="1"/>
          </p:cNvSpPr>
          <p:nvPr/>
        </p:nvSpPr>
        <p:spPr>
          <a:xfrm>
            <a:off x="9029700" y="5548313"/>
            <a:ext cx="232410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复盘有依据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E553AE6-8AB2-45B2-BF59-98996254B98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1871688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6F2A84AB-8E2B-412F-8CC5-D83FB87020B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B1797C04-C10B-4B6F-AFC3-6DAA54F356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8431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3B418C5-3734-49BF-80B5-0DBB9AB84CFB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03 项目规划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5DB340B-76D0-43EF-A0C6-A5D34C8F2EE0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06 / 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2BBF737-C724-4E47-AAE9-63C6795E6719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22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6E69F1B-7E42-4352-8992-D1F1581A0AE9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1F8A70"/>
          </a:solidFill>
          <a:ln w="1905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8C448C1-2654-48F5-B88B-39DA4BA82931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6286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项目节奏：按6/25上线倒排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C8DB03-2DC5-4EA9-B503-986BB4710DB1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286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周末和法定节假日不算工期；时间紧，所以部分工作要前后搭着做。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65CA04BF-377F-4596-8FA4-BB98CEE01AE1}"/>
              </a:ext>
            </a:extLst>
          </p:cNvPr>
          <p:cNvSpPr>
            <a:spLocks noGrp="1"/>
          </p:cNvSpPr>
          <p:nvPr/>
        </p:nvSpPr>
        <p:spPr>
          <a:xfrm>
            <a:off x="7239000" y="914400"/>
            <a:ext cx="1352550" cy="1123950"/>
          </a:xfrm>
          <a:prstGeom prst="roundRect">
            <a:avLst>
              <a:gd name="adj" fmla="val 678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BD347BA-20F7-44DE-B6DF-F843347F3452}"/>
              </a:ext>
            </a:extLst>
          </p:cNvPr>
          <p:cNvSpPr>
            <a:spLocks noGrp="1"/>
          </p:cNvSpPr>
          <p:nvPr/>
        </p:nvSpPr>
        <p:spPr>
          <a:xfrm>
            <a:off x="7239000" y="914400"/>
            <a:ext cx="1352550" cy="47625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0AEBAEA-69A1-4D53-8A48-B4F1D27AAE16}"/>
              </a:ext>
            </a:extLst>
          </p:cNvPr>
          <p:cNvSpPr>
            <a:spLocks noGrp="1"/>
          </p:cNvSpPr>
          <p:nvPr/>
        </p:nvSpPr>
        <p:spPr>
          <a:xfrm>
            <a:off x="7391400" y="1057275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5F52"/>
                </a:solidFill>
              </a:defRPr>
            </a:pPr>
            <a:r>
              <a:rPr sz="900" b="1">
                <a:solidFill>
                  <a:srgbClr val="0D5F52"/>
                </a:solidFill>
              </a:rPr>
              <a:t>周期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A67D0A-B271-45FD-85FE-3BFC369AA119}"/>
              </a:ext>
            </a:extLst>
          </p:cNvPr>
          <p:cNvSpPr>
            <a:spLocks noGrp="1"/>
          </p:cNvSpPr>
          <p:nvPr/>
        </p:nvSpPr>
        <p:spPr>
          <a:xfrm>
            <a:off x="7391400" y="1314450"/>
            <a:ext cx="10477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2233A"/>
                </a:solidFill>
              </a:defRPr>
            </a:pPr>
            <a:r>
              <a:rPr sz="900" b="0">
                <a:solidFill>
                  <a:srgbClr val="12233A"/>
                </a:solidFill>
              </a:rPr>
              <a:t>约40个有效工作日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303F52BC-6F83-4D31-963F-4CC41DA59801}"/>
              </a:ext>
            </a:extLst>
          </p:cNvPr>
          <p:cNvSpPr>
            <a:spLocks noGrp="1"/>
          </p:cNvSpPr>
          <p:nvPr/>
        </p:nvSpPr>
        <p:spPr>
          <a:xfrm>
            <a:off x="8705850" y="914400"/>
            <a:ext cx="1352550" cy="1123950"/>
          </a:xfrm>
          <a:prstGeom prst="roundRect">
            <a:avLst>
              <a:gd name="adj" fmla="val 678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4131F02-B8E6-4239-874E-9ED217DC89B9}"/>
              </a:ext>
            </a:extLst>
          </p:cNvPr>
          <p:cNvSpPr>
            <a:spLocks noGrp="1"/>
          </p:cNvSpPr>
          <p:nvPr/>
        </p:nvSpPr>
        <p:spPr>
          <a:xfrm>
            <a:off x="8705850" y="914400"/>
            <a:ext cx="1352550" cy="47625"/>
          </a:xfrm>
          <a:prstGeom prst="rect">
            <a:avLst/>
          </a:prstGeom>
          <a:solidFill>
            <a:srgbClr val="D6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9C93BF3-BB95-45D1-8507-1E36100CFDC0}"/>
              </a:ext>
            </a:extLst>
          </p:cNvPr>
          <p:cNvSpPr>
            <a:spLocks noGrp="1"/>
          </p:cNvSpPr>
          <p:nvPr/>
        </p:nvSpPr>
        <p:spPr>
          <a:xfrm>
            <a:off x="8858250" y="1057275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5F52"/>
                </a:solidFill>
              </a:defRPr>
            </a:pPr>
            <a:r>
              <a:rPr sz="900" b="1">
                <a:solidFill>
                  <a:srgbClr val="0D5F52"/>
                </a:solidFill>
              </a:rPr>
              <a:t>阶段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07C49A5-677A-4EA7-8A1A-ADAED62C9397}"/>
              </a:ext>
            </a:extLst>
          </p:cNvPr>
          <p:cNvSpPr>
            <a:spLocks noGrp="1"/>
          </p:cNvSpPr>
          <p:nvPr/>
        </p:nvSpPr>
        <p:spPr>
          <a:xfrm>
            <a:off x="8858250" y="1314450"/>
            <a:ext cx="10477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2233A"/>
                </a:solidFill>
              </a:defRPr>
            </a:pPr>
            <a:r>
              <a:rPr sz="900" b="0">
                <a:solidFill>
                  <a:srgbClr val="12233A"/>
                </a:solidFill>
              </a:rPr>
              <a:t>6个阶段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F292A84E-1047-48EE-AAD7-9E858AAE85F8}"/>
              </a:ext>
            </a:extLst>
          </p:cNvPr>
          <p:cNvSpPr>
            <a:spLocks noGrp="1"/>
          </p:cNvSpPr>
          <p:nvPr/>
        </p:nvSpPr>
        <p:spPr>
          <a:xfrm>
            <a:off x="10172700" y="914400"/>
            <a:ext cx="1352550" cy="1123950"/>
          </a:xfrm>
          <a:prstGeom prst="roundRect">
            <a:avLst>
              <a:gd name="adj" fmla="val 678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936B9A7-1B42-4F75-8D74-A87B4B241A8F}"/>
              </a:ext>
            </a:extLst>
          </p:cNvPr>
          <p:cNvSpPr>
            <a:spLocks noGrp="1"/>
          </p:cNvSpPr>
          <p:nvPr/>
        </p:nvSpPr>
        <p:spPr>
          <a:xfrm>
            <a:off x="10172700" y="914400"/>
            <a:ext cx="1352550" cy="47625"/>
          </a:xfrm>
          <a:prstGeom prst="rect">
            <a:avLst/>
          </a:prstGeom>
          <a:solidFill>
            <a:srgbClr val="D95F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FFC26EE-744E-41FE-9C39-33E3EFA31CC6}"/>
              </a:ext>
            </a:extLst>
          </p:cNvPr>
          <p:cNvSpPr>
            <a:spLocks noGrp="1"/>
          </p:cNvSpPr>
          <p:nvPr/>
        </p:nvSpPr>
        <p:spPr>
          <a:xfrm>
            <a:off x="10325100" y="1057275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5F52"/>
                </a:solidFill>
              </a:defRPr>
            </a:pPr>
            <a:r>
              <a:rPr sz="900" b="1">
                <a:solidFill>
                  <a:srgbClr val="0D5F52"/>
                </a:solidFill>
              </a:rPr>
              <a:t>交叉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91C2581-D847-47B9-9299-2A5CFCE185CB}"/>
              </a:ext>
            </a:extLst>
          </p:cNvPr>
          <p:cNvSpPr>
            <a:spLocks noGrp="1"/>
          </p:cNvSpPr>
          <p:nvPr/>
        </p:nvSpPr>
        <p:spPr>
          <a:xfrm>
            <a:off x="10325100" y="1314450"/>
            <a:ext cx="10477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2233A"/>
                </a:solidFill>
              </a:defRPr>
            </a:pPr>
            <a:r>
              <a:rPr sz="900" b="0">
                <a:solidFill>
                  <a:srgbClr val="12233A"/>
                </a:solidFill>
              </a:rPr>
              <a:t>2组前置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9BEFD07-8651-4019-A6A3-0EBD2A091CB5}"/>
              </a:ext>
            </a:extLst>
          </p:cNvPr>
          <p:cNvSpPr>
            <a:spLocks noGrp="1"/>
          </p:cNvSpPr>
          <p:nvPr/>
        </p:nvSpPr>
        <p:spPr>
          <a:xfrm>
            <a:off x="2266950" y="3162300"/>
            <a:ext cx="11430" cy="3009900"/>
          </a:xfrm>
          <a:prstGeom prst="rect">
            <a:avLst/>
          </a:prstGeom>
          <a:solidFill>
            <a:srgbClr val="B6C3D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402B43C-E321-4C3D-927C-7EBB8DE89D37}"/>
              </a:ext>
            </a:extLst>
          </p:cNvPr>
          <p:cNvSpPr>
            <a:spLocks noGrp="1"/>
          </p:cNvSpPr>
          <p:nvPr/>
        </p:nvSpPr>
        <p:spPr>
          <a:xfrm>
            <a:off x="2019300" y="2933700"/>
            <a:ext cx="533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04/27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DF39C21-8318-4A43-A03E-0848C9268B2E}"/>
              </a:ext>
            </a:extLst>
          </p:cNvPr>
          <p:cNvSpPr>
            <a:spLocks noGrp="1"/>
          </p:cNvSpPr>
          <p:nvPr/>
        </p:nvSpPr>
        <p:spPr>
          <a:xfrm>
            <a:off x="5427958" y="3162300"/>
            <a:ext cx="11430" cy="3009900"/>
          </a:xfrm>
          <a:prstGeom prst="rect">
            <a:avLst/>
          </a:prstGeom>
          <a:solidFill>
            <a:srgbClr val="B6C3D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BA52674-F99E-4315-8E2C-40512D0FBC3B}"/>
              </a:ext>
            </a:extLst>
          </p:cNvPr>
          <p:cNvSpPr>
            <a:spLocks noGrp="1"/>
          </p:cNvSpPr>
          <p:nvPr/>
        </p:nvSpPr>
        <p:spPr>
          <a:xfrm>
            <a:off x="5180308" y="2933700"/>
            <a:ext cx="533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05/19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F3B7D4A-CB09-464A-9465-3FC7F9D84C99}"/>
              </a:ext>
            </a:extLst>
          </p:cNvPr>
          <p:cNvSpPr>
            <a:spLocks noGrp="1"/>
          </p:cNvSpPr>
          <p:nvPr/>
        </p:nvSpPr>
        <p:spPr>
          <a:xfrm>
            <a:off x="8588967" y="3162300"/>
            <a:ext cx="11430" cy="3009900"/>
          </a:xfrm>
          <a:prstGeom prst="rect">
            <a:avLst/>
          </a:prstGeom>
          <a:solidFill>
            <a:srgbClr val="B6C3D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04EB689-8436-407C-82B2-5B5E74BAE09D}"/>
              </a:ext>
            </a:extLst>
          </p:cNvPr>
          <p:cNvSpPr>
            <a:spLocks noGrp="1"/>
          </p:cNvSpPr>
          <p:nvPr/>
        </p:nvSpPr>
        <p:spPr>
          <a:xfrm>
            <a:off x="8341317" y="2933700"/>
            <a:ext cx="533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06/10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AD7D359-B475-4A73-8E5E-6857A80B4024}"/>
              </a:ext>
            </a:extLst>
          </p:cNvPr>
          <p:cNvSpPr>
            <a:spLocks noGrp="1"/>
          </p:cNvSpPr>
          <p:nvPr/>
        </p:nvSpPr>
        <p:spPr>
          <a:xfrm>
            <a:off x="10744200" y="3162300"/>
            <a:ext cx="11430" cy="3009900"/>
          </a:xfrm>
          <a:prstGeom prst="rect">
            <a:avLst/>
          </a:prstGeom>
          <a:solidFill>
            <a:srgbClr val="B6C3D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A9C44E1-6CD0-47C6-A5F7-6C59C05111E7}"/>
              </a:ext>
            </a:extLst>
          </p:cNvPr>
          <p:cNvSpPr>
            <a:spLocks noGrp="1"/>
          </p:cNvSpPr>
          <p:nvPr/>
        </p:nvSpPr>
        <p:spPr>
          <a:xfrm>
            <a:off x="10496550" y="2933700"/>
            <a:ext cx="533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06/25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31998206-AC50-4450-AE48-94B828D96B69}"/>
              </a:ext>
            </a:extLst>
          </p:cNvPr>
          <p:cNvSpPr>
            <a:spLocks noGrp="1"/>
          </p:cNvSpPr>
          <p:nvPr/>
        </p:nvSpPr>
        <p:spPr>
          <a:xfrm>
            <a:off x="3560090" y="3219450"/>
            <a:ext cx="957343" cy="2819400"/>
          </a:xfrm>
          <a:prstGeom prst="roundRect">
            <a:avLst>
              <a:gd name="adj" fmla="val 7960"/>
            </a:avLst>
          </a:prstGeom>
          <a:solidFill>
            <a:srgbClr val="D6A23A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5F2C322-2878-4886-B2A1-8F491C2D6A07}"/>
              </a:ext>
            </a:extLst>
          </p:cNvPr>
          <p:cNvSpPr>
            <a:spLocks noGrp="1"/>
          </p:cNvSpPr>
          <p:nvPr/>
        </p:nvSpPr>
        <p:spPr>
          <a:xfrm>
            <a:off x="3483890" y="6076950"/>
            <a:ext cx="1109743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34465C"/>
                </a:solidFill>
              </a:defRPr>
            </a:pPr>
            <a:r>
              <a:rPr sz="750" b="0">
                <a:solidFill>
                  <a:srgbClr val="34465C"/>
                </a:solidFill>
              </a:rPr>
              <a:t>调研/蓝图交叉</a:t>
            </a: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FDFBAFFB-F63B-4D4E-A6F8-1298D5F36412}"/>
              </a:ext>
            </a:extLst>
          </p:cNvPr>
          <p:cNvSpPr>
            <a:spLocks noGrp="1"/>
          </p:cNvSpPr>
          <p:nvPr/>
        </p:nvSpPr>
        <p:spPr>
          <a:xfrm>
            <a:off x="7726874" y="3219450"/>
            <a:ext cx="957343" cy="2819400"/>
          </a:xfrm>
          <a:prstGeom prst="roundRect">
            <a:avLst>
              <a:gd name="adj" fmla="val 7960"/>
            </a:avLst>
          </a:prstGeom>
          <a:solidFill>
            <a:srgbClr val="D95F45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DCA41B0-1624-425A-8571-D282B2171A62}"/>
              </a:ext>
            </a:extLst>
          </p:cNvPr>
          <p:cNvSpPr>
            <a:spLocks noGrp="1"/>
          </p:cNvSpPr>
          <p:nvPr/>
        </p:nvSpPr>
        <p:spPr>
          <a:xfrm>
            <a:off x="7650674" y="6076950"/>
            <a:ext cx="1109743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34465C"/>
                </a:solidFill>
              </a:defRPr>
            </a:pPr>
            <a:r>
              <a:rPr sz="750" b="0">
                <a:solidFill>
                  <a:srgbClr val="34465C"/>
                </a:solidFill>
              </a:rPr>
              <a:t>实现/联调交叉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2A0C439-9428-4ED2-B05B-91954E5425A7}"/>
              </a:ext>
            </a:extLst>
          </p:cNvPr>
          <p:cNvSpPr>
            <a:spLocks noGrp="1"/>
          </p:cNvSpPr>
          <p:nvPr/>
        </p:nvSpPr>
        <p:spPr>
          <a:xfrm>
            <a:off x="704850" y="3371850"/>
            <a:ext cx="1390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2233A"/>
                </a:solidFill>
              </a:defRPr>
            </a:pPr>
            <a:r>
              <a:rPr sz="863" b="1">
                <a:solidFill>
                  <a:srgbClr val="12233A"/>
                </a:solidFill>
              </a:rPr>
              <a:t>启动与业务调研</a:t>
            </a: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D7D8FE42-EAE9-4832-B81E-8D7151EAA228}"/>
              </a:ext>
            </a:extLst>
          </p:cNvPr>
          <p:cNvSpPr>
            <a:spLocks noGrp="1"/>
          </p:cNvSpPr>
          <p:nvPr/>
        </p:nvSpPr>
        <p:spPr>
          <a:xfrm>
            <a:off x="2266950" y="3333750"/>
            <a:ext cx="8477250" cy="190500"/>
          </a:xfrm>
          <a:prstGeom prst="roundRect">
            <a:avLst>
              <a:gd name="adj" fmla="val 40000"/>
            </a:avLst>
          </a:prstGeom>
          <a:solidFill>
            <a:srgbClr val="E7EE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3762BFAF-3018-4812-A10C-70B8BE7BD68A}"/>
              </a:ext>
            </a:extLst>
          </p:cNvPr>
          <p:cNvSpPr>
            <a:spLocks noGrp="1"/>
          </p:cNvSpPr>
          <p:nvPr/>
        </p:nvSpPr>
        <p:spPr>
          <a:xfrm>
            <a:off x="2266950" y="3305175"/>
            <a:ext cx="2250483" cy="247650"/>
          </a:xfrm>
          <a:prstGeom prst="roundRect">
            <a:avLst>
              <a:gd name="adj" fmla="val 30769"/>
            </a:avLst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A5F5175-A0E9-4A95-9CA2-9B6FD65E0E31}"/>
              </a:ext>
            </a:extLst>
          </p:cNvPr>
          <p:cNvSpPr>
            <a:spLocks noGrp="1"/>
          </p:cNvSpPr>
          <p:nvPr/>
        </p:nvSpPr>
        <p:spPr>
          <a:xfrm>
            <a:off x="2343150" y="3352800"/>
            <a:ext cx="1219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9个工作日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9D0AEEB-8B78-4118-9F80-BF3C38336D2E}"/>
              </a:ext>
            </a:extLst>
          </p:cNvPr>
          <p:cNvSpPr>
            <a:spLocks noGrp="1"/>
          </p:cNvSpPr>
          <p:nvPr/>
        </p:nvSpPr>
        <p:spPr>
          <a:xfrm>
            <a:off x="10915650" y="3362325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04/27-05/12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9BCFA94-53C4-4393-883C-EF95771EF03A}"/>
              </a:ext>
            </a:extLst>
          </p:cNvPr>
          <p:cNvSpPr>
            <a:spLocks noGrp="1"/>
          </p:cNvSpPr>
          <p:nvPr/>
        </p:nvSpPr>
        <p:spPr>
          <a:xfrm>
            <a:off x="704850" y="3829050"/>
            <a:ext cx="1390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2233A"/>
                </a:solidFill>
              </a:defRPr>
            </a:pPr>
            <a:r>
              <a:rPr sz="863" b="1">
                <a:solidFill>
                  <a:srgbClr val="12233A"/>
                </a:solidFill>
              </a:rPr>
              <a:t>蓝图设计与确认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3AA69F2D-B629-4FDA-ADCC-23FB404DAA9C}"/>
              </a:ext>
            </a:extLst>
          </p:cNvPr>
          <p:cNvSpPr>
            <a:spLocks noGrp="1"/>
          </p:cNvSpPr>
          <p:nvPr/>
        </p:nvSpPr>
        <p:spPr>
          <a:xfrm>
            <a:off x="2266950" y="3790950"/>
            <a:ext cx="8477250" cy="190500"/>
          </a:xfrm>
          <a:prstGeom prst="roundRect">
            <a:avLst>
              <a:gd name="adj" fmla="val 40000"/>
            </a:avLst>
          </a:prstGeom>
          <a:solidFill>
            <a:srgbClr val="E7EE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F2DBDA54-0AD6-4936-97C1-7A7C62E1D609}"/>
              </a:ext>
            </a:extLst>
          </p:cNvPr>
          <p:cNvSpPr>
            <a:spLocks noGrp="1"/>
          </p:cNvSpPr>
          <p:nvPr/>
        </p:nvSpPr>
        <p:spPr>
          <a:xfrm>
            <a:off x="3560090" y="3762375"/>
            <a:ext cx="1963119" cy="247650"/>
          </a:xfrm>
          <a:prstGeom prst="roundRect">
            <a:avLst>
              <a:gd name="adj" fmla="val 30769"/>
            </a:avLst>
          </a:prstGeom>
          <a:solidFill>
            <a:srgbClr val="D6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A17E321-13FA-48AC-BC85-B2472DE348FA}"/>
              </a:ext>
            </a:extLst>
          </p:cNvPr>
          <p:cNvSpPr>
            <a:spLocks noGrp="1"/>
          </p:cNvSpPr>
          <p:nvPr/>
        </p:nvSpPr>
        <p:spPr>
          <a:xfrm>
            <a:off x="3636290" y="3810000"/>
            <a:ext cx="1219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10个工作日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37B2574-16A1-422F-AB71-5B7BCA26CFAE}"/>
              </a:ext>
            </a:extLst>
          </p:cNvPr>
          <p:cNvSpPr>
            <a:spLocks noGrp="1"/>
          </p:cNvSpPr>
          <p:nvPr/>
        </p:nvSpPr>
        <p:spPr>
          <a:xfrm>
            <a:off x="10915650" y="3819525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05/06-05/19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434595D-1280-4E32-92D5-6C5CFCB3DFE0}"/>
              </a:ext>
            </a:extLst>
          </p:cNvPr>
          <p:cNvSpPr>
            <a:spLocks noGrp="1"/>
          </p:cNvSpPr>
          <p:nvPr/>
        </p:nvSpPr>
        <p:spPr>
          <a:xfrm>
            <a:off x="704850" y="4286250"/>
            <a:ext cx="1390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2233A"/>
                </a:solidFill>
              </a:defRPr>
            </a:pPr>
            <a:r>
              <a:rPr sz="863" b="1">
                <a:solidFill>
                  <a:srgbClr val="12233A"/>
                </a:solidFill>
              </a:rPr>
              <a:t>系统实现与配置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8C28BAA4-2A6D-4900-9798-594AC2651707}"/>
              </a:ext>
            </a:extLst>
          </p:cNvPr>
          <p:cNvSpPr>
            <a:spLocks noGrp="1"/>
          </p:cNvSpPr>
          <p:nvPr/>
        </p:nvSpPr>
        <p:spPr>
          <a:xfrm>
            <a:off x="2266950" y="4248150"/>
            <a:ext cx="8477250" cy="190500"/>
          </a:xfrm>
          <a:prstGeom prst="roundRect">
            <a:avLst>
              <a:gd name="adj" fmla="val 40000"/>
            </a:avLst>
          </a:prstGeom>
          <a:solidFill>
            <a:srgbClr val="E7EE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729CFF25-235B-44D5-BB6E-A993B4D5E725}"/>
              </a:ext>
            </a:extLst>
          </p:cNvPr>
          <p:cNvSpPr>
            <a:spLocks noGrp="1"/>
          </p:cNvSpPr>
          <p:nvPr/>
        </p:nvSpPr>
        <p:spPr>
          <a:xfrm>
            <a:off x="5571641" y="4219575"/>
            <a:ext cx="3112576" cy="247650"/>
          </a:xfrm>
          <a:prstGeom prst="roundRect">
            <a:avLst>
              <a:gd name="adj" fmla="val 30769"/>
            </a:avLst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58DA4EE-5399-41BD-91DA-D98AA21B5B8A}"/>
              </a:ext>
            </a:extLst>
          </p:cNvPr>
          <p:cNvSpPr>
            <a:spLocks noGrp="1"/>
          </p:cNvSpPr>
          <p:nvPr/>
        </p:nvSpPr>
        <p:spPr>
          <a:xfrm>
            <a:off x="5647841" y="4267200"/>
            <a:ext cx="1219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16个工作日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22D09D9F-2CB8-4C73-89B8-47A89B95542F}"/>
              </a:ext>
            </a:extLst>
          </p:cNvPr>
          <p:cNvSpPr>
            <a:spLocks noGrp="1"/>
          </p:cNvSpPr>
          <p:nvPr/>
        </p:nvSpPr>
        <p:spPr>
          <a:xfrm>
            <a:off x="10915650" y="4276725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05/20-06/10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19B9793-E044-483B-BD37-EF5C2006D811}"/>
              </a:ext>
            </a:extLst>
          </p:cNvPr>
          <p:cNvSpPr>
            <a:spLocks noGrp="1"/>
          </p:cNvSpPr>
          <p:nvPr/>
        </p:nvSpPr>
        <p:spPr>
          <a:xfrm>
            <a:off x="704850" y="4743450"/>
            <a:ext cx="1390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2233A"/>
                </a:solidFill>
              </a:defRPr>
            </a:pPr>
            <a:r>
              <a:rPr sz="863" b="1">
                <a:solidFill>
                  <a:srgbClr val="12233A"/>
                </a:solidFill>
              </a:rPr>
              <a:t>集成联调与数据初始化</a:t>
            </a:r>
          </a:p>
        </p:txBody>
      </p:sp>
      <p:sp>
        <p:nvSpPr>
          <p:cNvPr id="50" name="圆角矩形 49">
            <a:extLst>
              <a:ext uri="{FF2B5EF4-FFF2-40B4-BE49-F238E27FC236}">
                <a16:creationId xmlns:a16="http://schemas.microsoft.com/office/drawing/2014/main" id="{9E7CE610-E61B-41A6-A731-38DCD8D22D83}"/>
              </a:ext>
            </a:extLst>
          </p:cNvPr>
          <p:cNvSpPr>
            <a:spLocks noGrp="1"/>
          </p:cNvSpPr>
          <p:nvPr/>
        </p:nvSpPr>
        <p:spPr>
          <a:xfrm>
            <a:off x="2266950" y="4705350"/>
            <a:ext cx="8477250" cy="190500"/>
          </a:xfrm>
          <a:prstGeom prst="roundRect">
            <a:avLst>
              <a:gd name="adj" fmla="val 40000"/>
            </a:avLst>
          </a:prstGeom>
          <a:solidFill>
            <a:srgbClr val="E7EE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FF101B78-29D5-46F7-AC8E-E86D351A3364}"/>
              </a:ext>
            </a:extLst>
          </p:cNvPr>
          <p:cNvSpPr>
            <a:spLocks noGrp="1"/>
          </p:cNvSpPr>
          <p:nvPr/>
        </p:nvSpPr>
        <p:spPr>
          <a:xfrm>
            <a:off x="7726874" y="4676775"/>
            <a:ext cx="1963119" cy="247650"/>
          </a:xfrm>
          <a:prstGeom prst="roundRect">
            <a:avLst>
              <a:gd name="adj" fmla="val 30769"/>
            </a:avLst>
          </a:prstGeom>
          <a:solidFill>
            <a:srgbClr val="D95F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1930824-021F-408F-B203-AF3D451D981D}"/>
              </a:ext>
            </a:extLst>
          </p:cNvPr>
          <p:cNvSpPr>
            <a:spLocks noGrp="1"/>
          </p:cNvSpPr>
          <p:nvPr/>
        </p:nvSpPr>
        <p:spPr>
          <a:xfrm>
            <a:off x="7803074" y="4724400"/>
            <a:ext cx="1219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10个工作日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FC18A6F-F37D-4B3C-A965-7786E795B361}"/>
              </a:ext>
            </a:extLst>
          </p:cNvPr>
          <p:cNvSpPr>
            <a:spLocks noGrp="1"/>
          </p:cNvSpPr>
          <p:nvPr/>
        </p:nvSpPr>
        <p:spPr>
          <a:xfrm>
            <a:off x="10915650" y="4733925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06/04-06/17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3432A31-AD99-4A11-B8F6-6A9C780F4B1B}"/>
              </a:ext>
            </a:extLst>
          </p:cNvPr>
          <p:cNvSpPr>
            <a:spLocks noGrp="1"/>
          </p:cNvSpPr>
          <p:nvPr/>
        </p:nvSpPr>
        <p:spPr>
          <a:xfrm>
            <a:off x="704850" y="5200650"/>
            <a:ext cx="1390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2233A"/>
                </a:solidFill>
              </a:defRPr>
            </a:pPr>
            <a:r>
              <a:rPr sz="863" b="1">
                <a:solidFill>
                  <a:srgbClr val="12233A"/>
                </a:solidFill>
              </a:rPr>
              <a:t>UAT培训上线准备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96391C1D-278A-4453-8A9E-9F1AA08F896E}"/>
              </a:ext>
            </a:extLst>
          </p:cNvPr>
          <p:cNvSpPr>
            <a:spLocks noGrp="1"/>
          </p:cNvSpPr>
          <p:nvPr/>
        </p:nvSpPr>
        <p:spPr>
          <a:xfrm>
            <a:off x="2266950" y="5162550"/>
            <a:ext cx="8477250" cy="190500"/>
          </a:xfrm>
          <a:prstGeom prst="roundRect">
            <a:avLst>
              <a:gd name="adj" fmla="val 40000"/>
            </a:avLst>
          </a:prstGeom>
          <a:solidFill>
            <a:srgbClr val="E7EE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圆角矩形 55">
            <a:extLst>
              <a:ext uri="{FF2B5EF4-FFF2-40B4-BE49-F238E27FC236}">
                <a16:creationId xmlns:a16="http://schemas.microsoft.com/office/drawing/2014/main" id="{0866C8CC-5FA4-4674-B948-DDD9D27D3181}"/>
              </a:ext>
            </a:extLst>
          </p:cNvPr>
          <p:cNvSpPr>
            <a:spLocks noGrp="1"/>
          </p:cNvSpPr>
          <p:nvPr/>
        </p:nvSpPr>
        <p:spPr>
          <a:xfrm>
            <a:off x="9307378" y="5133975"/>
            <a:ext cx="1388390" cy="247650"/>
          </a:xfrm>
          <a:prstGeom prst="roundRect">
            <a:avLst>
              <a:gd name="adj" fmla="val 30769"/>
            </a:avLst>
          </a:prstGeom>
          <a:solidFill>
            <a:srgbClr val="0D5F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6EEB3575-AE32-4B4F-BAD5-AA280FCAE439}"/>
              </a:ext>
            </a:extLst>
          </p:cNvPr>
          <p:cNvSpPr>
            <a:spLocks noGrp="1"/>
          </p:cNvSpPr>
          <p:nvPr/>
        </p:nvSpPr>
        <p:spPr>
          <a:xfrm>
            <a:off x="9383578" y="5181600"/>
            <a:ext cx="1219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7个工作日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C8CD3C34-AD26-42BC-8AFC-450F27A5FE43}"/>
              </a:ext>
            </a:extLst>
          </p:cNvPr>
          <p:cNvSpPr>
            <a:spLocks noGrp="1"/>
          </p:cNvSpPr>
          <p:nvPr/>
        </p:nvSpPr>
        <p:spPr>
          <a:xfrm>
            <a:off x="10915650" y="5191125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06/15-06/24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992FDB47-DFA6-4963-B289-2D408D22AE2D}"/>
              </a:ext>
            </a:extLst>
          </p:cNvPr>
          <p:cNvSpPr>
            <a:spLocks noGrp="1"/>
          </p:cNvSpPr>
          <p:nvPr/>
        </p:nvSpPr>
        <p:spPr>
          <a:xfrm>
            <a:off x="704850" y="5657850"/>
            <a:ext cx="1390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2233A"/>
                </a:solidFill>
              </a:defRPr>
            </a:pPr>
            <a:r>
              <a:rPr sz="863" b="1">
                <a:solidFill>
                  <a:srgbClr val="12233A"/>
                </a:solidFill>
              </a:rPr>
              <a:t>上线与试运行启动</a:t>
            </a:r>
          </a:p>
        </p:txBody>
      </p:sp>
      <p:sp>
        <p:nvSpPr>
          <p:cNvPr id="60" name="圆角矩形 59">
            <a:extLst>
              <a:ext uri="{FF2B5EF4-FFF2-40B4-BE49-F238E27FC236}">
                <a16:creationId xmlns:a16="http://schemas.microsoft.com/office/drawing/2014/main" id="{62A58D2C-FA1C-4EEC-9DD3-51D57601C310}"/>
              </a:ext>
            </a:extLst>
          </p:cNvPr>
          <p:cNvSpPr>
            <a:spLocks noGrp="1"/>
          </p:cNvSpPr>
          <p:nvPr/>
        </p:nvSpPr>
        <p:spPr>
          <a:xfrm>
            <a:off x="2266950" y="5619750"/>
            <a:ext cx="8477250" cy="190500"/>
          </a:xfrm>
          <a:prstGeom prst="roundRect">
            <a:avLst>
              <a:gd name="adj" fmla="val 40000"/>
            </a:avLst>
          </a:prstGeom>
          <a:solidFill>
            <a:srgbClr val="E7EE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圆角矩形 60">
            <a:extLst>
              <a:ext uri="{FF2B5EF4-FFF2-40B4-BE49-F238E27FC236}">
                <a16:creationId xmlns:a16="http://schemas.microsoft.com/office/drawing/2014/main" id="{E8F1E861-53B6-493D-BA1C-3AF37A8A7A3A}"/>
              </a:ext>
            </a:extLst>
          </p:cNvPr>
          <p:cNvSpPr>
            <a:spLocks noGrp="1"/>
          </p:cNvSpPr>
          <p:nvPr/>
        </p:nvSpPr>
        <p:spPr>
          <a:xfrm>
            <a:off x="10744200" y="5591175"/>
            <a:ext cx="419100" cy="247650"/>
          </a:xfrm>
          <a:prstGeom prst="roundRect">
            <a:avLst>
              <a:gd name="adj" fmla="val 30769"/>
            </a:avLst>
          </a:prstGeom>
          <a:solidFill>
            <a:srgbClr val="D6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4DA2C313-5192-409B-A9D1-D5A900E7FD0D}"/>
              </a:ext>
            </a:extLst>
          </p:cNvPr>
          <p:cNvSpPr>
            <a:spLocks noGrp="1"/>
          </p:cNvSpPr>
          <p:nvPr/>
        </p:nvSpPr>
        <p:spPr>
          <a:xfrm>
            <a:off x="10820400" y="5638800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1个工作日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FD81B300-E2D3-428C-9138-BC593B1A5D25}"/>
              </a:ext>
            </a:extLst>
          </p:cNvPr>
          <p:cNvSpPr>
            <a:spLocks noGrp="1"/>
          </p:cNvSpPr>
          <p:nvPr/>
        </p:nvSpPr>
        <p:spPr>
          <a:xfrm>
            <a:off x="10915650" y="5648325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06/25-06/25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E66D90E3-6D1E-41A1-A3DB-1BF7D8661B1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1246467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5">
            <a:extLst>
              <a:ext uri="{FF2B5EF4-FFF2-40B4-BE49-F238E27FC236}">
                <a16:creationId xmlns:a16="http://schemas.microsoft.com/office/drawing/2014/main" id="{6F2A84AB-8E2B-412F-8CC5-D83FB87020B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C2F5AA0-817A-41C0-A86D-68783673A8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686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3CD1E9E-8547-4C20-8FEE-231C81DB7F5D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03 项目规划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237BF6-5D17-4FDA-95B9-A5DFE332557E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07 / 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FCEC79C-387E-493F-92DC-4D5E724A5425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22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0937258-B236-4EBE-9262-E377E39BA251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1F8A70"/>
          </a:solidFill>
          <a:ln w="1905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241F4D-84F7-4AE3-98AE-AC1E33A2EDD1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810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调研和蓝图要交叉推进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F6F38E-4081-4306-AA85-E0BA82E4E04A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边调研、边出蓝图、边校准，避免后面返工。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3E4A6985-F24D-4829-9CE2-5C37F91B507F}"/>
              </a:ext>
            </a:extLst>
          </p:cNvPr>
          <p:cNvSpPr>
            <a:spLocks noGrp="1"/>
          </p:cNvSpPr>
          <p:nvPr/>
        </p:nvSpPr>
        <p:spPr>
          <a:xfrm>
            <a:off x="4307898" y="3200400"/>
            <a:ext cx="1906732" cy="1847850"/>
          </a:xfrm>
          <a:prstGeom prst="roundRect">
            <a:avLst>
              <a:gd name="adj" fmla="val 4124"/>
            </a:avLst>
          </a:prstGeom>
          <a:solidFill>
            <a:srgbClr val="D95F45">
              <a:alpha val="2823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A267A56-E24E-4654-A94D-1CECC7BBEC67}"/>
              </a:ext>
            </a:extLst>
          </p:cNvPr>
          <p:cNvSpPr>
            <a:spLocks noGrp="1"/>
          </p:cNvSpPr>
          <p:nvPr/>
        </p:nvSpPr>
        <p:spPr>
          <a:xfrm>
            <a:off x="4117398" y="2933700"/>
            <a:ext cx="2287732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D95F45"/>
                </a:solidFill>
              </a:defRPr>
            </a:pPr>
            <a:r>
              <a:rPr sz="788" b="1">
                <a:solidFill>
                  <a:srgbClr val="D95F45"/>
                </a:solidFill>
              </a:rPr>
              <a:t>2026-05-06 ~ 2026-05-12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50EA74A-9D67-45C7-AA47-967E08B1D8DF}"/>
              </a:ext>
            </a:extLst>
          </p:cNvPr>
          <p:cNvSpPr>
            <a:spLocks noGrp="1"/>
          </p:cNvSpPr>
          <p:nvPr/>
        </p:nvSpPr>
        <p:spPr>
          <a:xfrm>
            <a:off x="723900" y="3505200"/>
            <a:ext cx="819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38" b="1">
                <a:solidFill>
                  <a:srgbClr val="12233A"/>
                </a:solidFill>
              </a:defRPr>
            </a:pPr>
            <a:r>
              <a:rPr sz="938" b="1">
                <a:solidFill>
                  <a:srgbClr val="12233A"/>
                </a:solidFill>
              </a:rPr>
              <a:t>业务调研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B9B24C30-84A4-4980-92E9-1CCD0FF72167}"/>
              </a:ext>
            </a:extLst>
          </p:cNvPr>
          <p:cNvSpPr>
            <a:spLocks noGrp="1"/>
          </p:cNvSpPr>
          <p:nvPr/>
        </p:nvSpPr>
        <p:spPr>
          <a:xfrm>
            <a:off x="1619250" y="3486150"/>
            <a:ext cx="6572250" cy="266700"/>
          </a:xfrm>
          <a:prstGeom prst="roundRect">
            <a:avLst>
              <a:gd name="adj" fmla="val 28571"/>
            </a:avLst>
          </a:prstGeom>
          <a:solidFill>
            <a:srgbClr val="E7EE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5FBC1C72-04E2-445D-A8A1-F55BB911D611}"/>
              </a:ext>
            </a:extLst>
          </p:cNvPr>
          <p:cNvSpPr>
            <a:spLocks noGrp="1"/>
          </p:cNvSpPr>
          <p:nvPr/>
        </p:nvSpPr>
        <p:spPr>
          <a:xfrm>
            <a:off x="1619250" y="3448050"/>
            <a:ext cx="4595380" cy="342900"/>
          </a:xfrm>
          <a:prstGeom prst="roundRect">
            <a:avLst>
              <a:gd name="adj" fmla="val 22222"/>
            </a:avLst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293E02F-B4D8-408E-B0A1-61E9864330AE}"/>
              </a:ext>
            </a:extLst>
          </p:cNvPr>
          <p:cNvSpPr>
            <a:spLocks noGrp="1"/>
          </p:cNvSpPr>
          <p:nvPr/>
        </p:nvSpPr>
        <p:spPr>
          <a:xfrm>
            <a:off x="1733550" y="3524250"/>
            <a:ext cx="228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访谈 + 样例 + 复核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077898C-9116-4E93-A06F-FF6885FC97CF}"/>
              </a:ext>
            </a:extLst>
          </p:cNvPr>
          <p:cNvSpPr>
            <a:spLocks noGrp="1"/>
          </p:cNvSpPr>
          <p:nvPr/>
        </p:nvSpPr>
        <p:spPr>
          <a:xfrm>
            <a:off x="8343900" y="3524250"/>
            <a:ext cx="95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B7A8C"/>
                </a:solidFill>
              </a:defRPr>
            </a:pPr>
            <a:r>
              <a:rPr sz="788" b="0">
                <a:solidFill>
                  <a:srgbClr val="6B7A8C"/>
                </a:solidFill>
              </a:rPr>
              <a:t>04/27-05/12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AD2B0AD-FA42-42A3-848C-D01E724C7A20}"/>
              </a:ext>
            </a:extLst>
          </p:cNvPr>
          <p:cNvSpPr>
            <a:spLocks noGrp="1"/>
          </p:cNvSpPr>
          <p:nvPr/>
        </p:nvSpPr>
        <p:spPr>
          <a:xfrm>
            <a:off x="723900" y="4229100"/>
            <a:ext cx="819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38" b="1">
                <a:solidFill>
                  <a:srgbClr val="12233A"/>
                </a:solidFill>
              </a:defRPr>
            </a:pPr>
            <a:r>
              <a:rPr sz="938" b="1">
                <a:solidFill>
                  <a:srgbClr val="12233A"/>
                </a:solidFill>
              </a:rPr>
              <a:t>蓝图设计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CAB72F42-2671-48D2-87CD-4D51B1CB427E}"/>
              </a:ext>
            </a:extLst>
          </p:cNvPr>
          <p:cNvSpPr>
            <a:spLocks noGrp="1"/>
          </p:cNvSpPr>
          <p:nvPr/>
        </p:nvSpPr>
        <p:spPr>
          <a:xfrm>
            <a:off x="1619250" y="4210050"/>
            <a:ext cx="6572250" cy="266700"/>
          </a:xfrm>
          <a:prstGeom prst="roundRect">
            <a:avLst>
              <a:gd name="adj" fmla="val 28571"/>
            </a:avLst>
          </a:prstGeom>
          <a:solidFill>
            <a:srgbClr val="E7EE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FE710785-E501-447D-B0AE-9BFB745D5B30}"/>
              </a:ext>
            </a:extLst>
          </p:cNvPr>
          <p:cNvSpPr>
            <a:spLocks noGrp="1"/>
          </p:cNvSpPr>
          <p:nvPr/>
        </p:nvSpPr>
        <p:spPr>
          <a:xfrm>
            <a:off x="4307898" y="4171950"/>
            <a:ext cx="3997902" cy="342900"/>
          </a:xfrm>
          <a:prstGeom prst="roundRect">
            <a:avLst>
              <a:gd name="adj" fmla="val 22222"/>
            </a:avLst>
          </a:prstGeom>
          <a:solidFill>
            <a:srgbClr val="D6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51E68E3-2FC7-41B2-B1A1-3CDBC569D6F4}"/>
              </a:ext>
            </a:extLst>
          </p:cNvPr>
          <p:cNvSpPr>
            <a:spLocks noGrp="1"/>
          </p:cNvSpPr>
          <p:nvPr/>
        </p:nvSpPr>
        <p:spPr>
          <a:xfrm>
            <a:off x="4422198" y="4248150"/>
            <a:ext cx="228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初稿 + 评审 + 确认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5BF6C1C-0953-4F94-A528-486D114A7FAC}"/>
              </a:ext>
            </a:extLst>
          </p:cNvPr>
          <p:cNvSpPr>
            <a:spLocks noGrp="1"/>
          </p:cNvSpPr>
          <p:nvPr/>
        </p:nvSpPr>
        <p:spPr>
          <a:xfrm>
            <a:off x="8343900" y="4248150"/>
            <a:ext cx="95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B7A8C"/>
                </a:solidFill>
              </a:defRPr>
            </a:pPr>
            <a:r>
              <a:rPr sz="788" b="0">
                <a:solidFill>
                  <a:srgbClr val="6B7A8C"/>
                </a:solidFill>
              </a:rPr>
              <a:t>05/06-05/19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7597C6A2-3459-4714-8C6E-2A6833AE9FCE}"/>
              </a:ext>
            </a:extLst>
          </p:cNvPr>
          <p:cNvSpPr>
            <a:spLocks noGrp="1"/>
          </p:cNvSpPr>
          <p:nvPr/>
        </p:nvSpPr>
        <p:spPr>
          <a:xfrm>
            <a:off x="9029700" y="2952750"/>
            <a:ext cx="2209800" cy="1562100"/>
          </a:xfrm>
          <a:prstGeom prst="roundRect">
            <a:avLst>
              <a:gd name="adj" fmla="val 4878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4C1AAF-E9F9-421D-8780-788D2D89A2FA}"/>
              </a:ext>
            </a:extLst>
          </p:cNvPr>
          <p:cNvSpPr>
            <a:spLocks noGrp="1"/>
          </p:cNvSpPr>
          <p:nvPr/>
        </p:nvSpPr>
        <p:spPr>
          <a:xfrm>
            <a:off x="9029700" y="2952750"/>
            <a:ext cx="2209800" cy="66675"/>
          </a:xfrm>
          <a:prstGeom prst="rect">
            <a:avLst/>
          </a:prstGeom>
          <a:solidFill>
            <a:srgbClr val="D95F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10D8164-65F1-4D92-B168-22A42A91CA73}"/>
              </a:ext>
            </a:extLst>
          </p:cNvPr>
          <p:cNvSpPr>
            <a:spLocks noGrp="1"/>
          </p:cNvSpPr>
          <p:nvPr/>
        </p:nvSpPr>
        <p:spPr>
          <a:xfrm>
            <a:off x="9239250" y="3181350"/>
            <a:ext cx="1790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2233A"/>
                </a:solidFill>
              </a:defRPr>
            </a:pPr>
            <a:r>
              <a:rPr sz="2550" b="1">
                <a:solidFill>
                  <a:srgbClr val="12233A"/>
                </a:solidFill>
              </a:rPr>
              <a:t>5个工作日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42A2E85-2EB7-4C57-B21E-FF799D552529}"/>
              </a:ext>
            </a:extLst>
          </p:cNvPr>
          <p:cNvSpPr>
            <a:spLocks noGrp="1"/>
          </p:cNvSpPr>
          <p:nvPr/>
        </p:nvSpPr>
        <p:spPr>
          <a:xfrm>
            <a:off x="9258300" y="3733800"/>
            <a:ext cx="17526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4465C"/>
                </a:solidFill>
              </a:defRPr>
            </a:pPr>
            <a:r>
              <a:rPr sz="1200" b="0">
                <a:solidFill>
                  <a:srgbClr val="34465C"/>
                </a:solidFill>
              </a:rPr>
              <a:t>交叉阶段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D472A2C-58C2-4F3C-BCE2-F301D3BC1601}"/>
              </a:ext>
            </a:extLst>
          </p:cNvPr>
          <p:cNvSpPr>
            <a:spLocks noGrp="1"/>
          </p:cNvSpPr>
          <p:nvPr/>
        </p:nvSpPr>
        <p:spPr>
          <a:xfrm>
            <a:off x="9258300" y="4114800"/>
            <a:ext cx="1752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2026-05-06 ~ 2026-05-12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100A9BC2-FDF8-4981-B639-EC5CB149C7BB}"/>
              </a:ext>
            </a:extLst>
          </p:cNvPr>
          <p:cNvSpPr>
            <a:spLocks noGrp="1"/>
          </p:cNvSpPr>
          <p:nvPr/>
        </p:nvSpPr>
        <p:spPr>
          <a:xfrm>
            <a:off x="781050" y="4972050"/>
            <a:ext cx="3257550" cy="1066800"/>
          </a:xfrm>
          <a:prstGeom prst="roundRect">
            <a:avLst>
              <a:gd name="adj" fmla="val 7143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B69437B-F198-4A0E-AD1D-238AAC23B2C3}"/>
              </a:ext>
            </a:extLst>
          </p:cNvPr>
          <p:cNvSpPr>
            <a:spLocks noGrp="1"/>
          </p:cNvSpPr>
          <p:nvPr/>
        </p:nvSpPr>
        <p:spPr>
          <a:xfrm>
            <a:off x="781050" y="4972050"/>
            <a:ext cx="3257550" cy="47625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BF671E3-A94E-4A9C-9924-BCE518D5BBAD}"/>
              </a:ext>
            </a:extLst>
          </p:cNvPr>
          <p:cNvSpPr>
            <a:spLocks noGrp="1"/>
          </p:cNvSpPr>
          <p:nvPr/>
        </p:nvSpPr>
        <p:spPr>
          <a:xfrm>
            <a:off x="933450" y="5114925"/>
            <a:ext cx="2952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5F52"/>
                </a:solidFill>
              </a:defRPr>
            </a:pPr>
            <a:r>
              <a:rPr sz="900" b="1">
                <a:solidFill>
                  <a:srgbClr val="0D5F52"/>
                </a:solidFill>
              </a:rPr>
              <a:t>04/27-05/05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04A5E3F-7822-40E8-80DB-5F6005718DF0}"/>
              </a:ext>
            </a:extLst>
          </p:cNvPr>
          <p:cNvSpPr>
            <a:spLocks noGrp="1"/>
          </p:cNvSpPr>
          <p:nvPr/>
        </p:nvSpPr>
        <p:spPr>
          <a:xfrm>
            <a:off x="933450" y="5372100"/>
            <a:ext cx="2952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2233A"/>
                </a:solidFill>
              </a:defRPr>
            </a:pPr>
            <a:r>
              <a:rPr sz="900" b="0">
                <a:solidFill>
                  <a:srgbClr val="12233A"/>
                </a:solidFill>
              </a:rPr>
              <a:t>把人、资料、访谈计划和现状流程先准备好。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3111D287-EE35-47C1-AC2E-E01A39648F6F}"/>
              </a:ext>
            </a:extLst>
          </p:cNvPr>
          <p:cNvSpPr>
            <a:spLocks noGrp="1"/>
          </p:cNvSpPr>
          <p:nvPr/>
        </p:nvSpPr>
        <p:spPr>
          <a:xfrm>
            <a:off x="4343400" y="4972050"/>
            <a:ext cx="3257550" cy="1066800"/>
          </a:xfrm>
          <a:prstGeom prst="roundRect">
            <a:avLst>
              <a:gd name="adj" fmla="val 7143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6B5464C-3726-451D-B996-CF2EDFAA12BF}"/>
              </a:ext>
            </a:extLst>
          </p:cNvPr>
          <p:cNvSpPr>
            <a:spLocks noGrp="1"/>
          </p:cNvSpPr>
          <p:nvPr/>
        </p:nvSpPr>
        <p:spPr>
          <a:xfrm>
            <a:off x="4343400" y="4972050"/>
            <a:ext cx="3257550" cy="47625"/>
          </a:xfrm>
          <a:prstGeom prst="rect">
            <a:avLst/>
          </a:prstGeom>
          <a:solidFill>
            <a:srgbClr val="D95F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F9849C0-A563-426A-A4F9-0AA56E65157B}"/>
              </a:ext>
            </a:extLst>
          </p:cNvPr>
          <p:cNvSpPr>
            <a:spLocks noGrp="1"/>
          </p:cNvSpPr>
          <p:nvPr/>
        </p:nvSpPr>
        <p:spPr>
          <a:xfrm>
            <a:off x="4495800" y="5114925"/>
            <a:ext cx="2952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5F52"/>
                </a:solidFill>
              </a:defRPr>
            </a:pPr>
            <a:r>
              <a:rPr sz="900" b="1">
                <a:solidFill>
                  <a:srgbClr val="0D5F52"/>
                </a:solidFill>
              </a:rPr>
              <a:t>05/06-05/12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343BFF1-3D53-47EA-B5DA-1BD86BBA3040}"/>
              </a:ext>
            </a:extLst>
          </p:cNvPr>
          <p:cNvSpPr>
            <a:spLocks noGrp="1"/>
          </p:cNvSpPr>
          <p:nvPr/>
        </p:nvSpPr>
        <p:spPr>
          <a:xfrm>
            <a:off x="4495800" y="5372100"/>
            <a:ext cx="2952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2233A"/>
                </a:solidFill>
              </a:defRPr>
            </a:pPr>
            <a:r>
              <a:rPr sz="900" b="0">
                <a:solidFill>
                  <a:srgbClr val="12233A"/>
                </a:solidFill>
              </a:rPr>
              <a:t>蓝图先出初稿，同时继续访谈和复核关键场景。</a:t>
            </a: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4EEF44A2-7F2F-4EA5-9A6E-FC639BD6E21D}"/>
              </a:ext>
            </a:extLst>
          </p:cNvPr>
          <p:cNvSpPr>
            <a:spLocks noGrp="1"/>
          </p:cNvSpPr>
          <p:nvPr/>
        </p:nvSpPr>
        <p:spPr>
          <a:xfrm>
            <a:off x="7905750" y="4972050"/>
            <a:ext cx="3257550" cy="1066800"/>
          </a:xfrm>
          <a:prstGeom prst="roundRect">
            <a:avLst>
              <a:gd name="adj" fmla="val 7143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2F6D9C9-0C58-4315-AF0F-7043F3193697}"/>
              </a:ext>
            </a:extLst>
          </p:cNvPr>
          <p:cNvSpPr>
            <a:spLocks noGrp="1"/>
          </p:cNvSpPr>
          <p:nvPr/>
        </p:nvSpPr>
        <p:spPr>
          <a:xfrm>
            <a:off x="7905750" y="4972050"/>
            <a:ext cx="3257550" cy="47625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DE486AC-A893-41F2-ADD0-EFFA6770998A}"/>
              </a:ext>
            </a:extLst>
          </p:cNvPr>
          <p:cNvSpPr>
            <a:spLocks noGrp="1"/>
          </p:cNvSpPr>
          <p:nvPr/>
        </p:nvSpPr>
        <p:spPr>
          <a:xfrm>
            <a:off x="8058150" y="5114925"/>
            <a:ext cx="2952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5F52"/>
                </a:solidFill>
              </a:defRPr>
            </a:pPr>
            <a:r>
              <a:rPr sz="900" b="1">
                <a:solidFill>
                  <a:srgbClr val="0D5F52"/>
                </a:solidFill>
              </a:rPr>
              <a:t>05/13-05/19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388225E-6549-42AB-A9CD-A78A711C7F2D}"/>
              </a:ext>
            </a:extLst>
          </p:cNvPr>
          <p:cNvSpPr>
            <a:spLocks noGrp="1"/>
          </p:cNvSpPr>
          <p:nvPr/>
        </p:nvSpPr>
        <p:spPr>
          <a:xfrm>
            <a:off x="8058150" y="5372100"/>
            <a:ext cx="2952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2233A"/>
                </a:solidFill>
              </a:defRPr>
            </a:pPr>
            <a:r>
              <a:rPr sz="900" b="0">
                <a:solidFill>
                  <a:srgbClr val="12233A"/>
                </a:solidFill>
              </a:rPr>
              <a:t>把流程、原型、权限、接口和数据口径确认下来。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C0044C4-2F87-4398-A802-E3BF61D4672F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1888433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6F2A84AB-8E2B-412F-8CC5-D83FB87020B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474D5EE-935A-414C-A9F4-31D1CEA967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451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680CA0E-F32D-40CF-853E-0BE386D91BDD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03 项目规划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30B278-9891-4EDF-9652-30D5B7130A6F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08 / 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165E068-5815-49AA-8FEA-215D2ED58EBA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22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07008F4-0C63-4439-A2CD-3D97EF3CBEE8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1F8A70"/>
          </a:solidFill>
          <a:ln w="1905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73A7B0D-C09C-46F8-85E8-CEFA04450D53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09625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业务调研：把真实情况摸清楚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299835-7F3F-43A2-B534-5B9EE23C1046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不只开会问需求，还要看样例、看流程、看风险。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BFBCCB77-5DA2-47A4-AB71-156BE0162A20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371850"/>
          </a:xfrm>
          <a:prstGeom prst="roundRect">
            <a:avLst>
              <a:gd name="adj" fmla="val 2260"/>
            </a:avLst>
          </a:prstGeom>
          <a:solidFill>
            <a:srgbClr val="FFFFFF">
              <a:alpha val="90980"/>
            </a:srgbClr>
          </a:solidFill>
          <a:ln w="10478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5A268D3-598A-4B59-BC78-6736A3CDEC56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42900"/>
          </a:xfrm>
          <a:prstGeom prst="rect">
            <a:avLst/>
          </a:prstGeom>
          <a:solidFill>
            <a:srgbClr val="0D5F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DF8290B-343B-4D20-807D-F580C937D138}"/>
              </a:ext>
            </a:extLst>
          </p:cNvPr>
          <p:cNvSpPr>
            <a:spLocks noGrp="1"/>
          </p:cNvSpPr>
          <p:nvPr/>
        </p:nvSpPr>
        <p:spPr>
          <a:xfrm>
            <a:off x="819150" y="2943225"/>
            <a:ext cx="1352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工作包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2AF5D3C-7E5C-4DA4-B74B-18A43E6C76A1}"/>
              </a:ext>
            </a:extLst>
          </p:cNvPr>
          <p:cNvSpPr>
            <a:spLocks noGrp="1"/>
          </p:cNvSpPr>
          <p:nvPr/>
        </p:nvSpPr>
        <p:spPr>
          <a:xfrm>
            <a:off x="2438400" y="2943225"/>
            <a:ext cx="6305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主要活动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A9F7797-73C5-4511-B91C-521202B30E83}"/>
              </a:ext>
            </a:extLst>
          </p:cNvPr>
          <p:cNvSpPr>
            <a:spLocks noGrp="1"/>
          </p:cNvSpPr>
          <p:nvPr/>
        </p:nvSpPr>
        <p:spPr>
          <a:xfrm>
            <a:off x="9010650" y="2943225"/>
            <a:ext cx="2362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阶段输出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62AAB06-8776-4562-AA84-8C4FAB5ACEBA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10820400" cy="605790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3D9FAA-E535-4221-87DC-6FA9EE780F8E}"/>
              </a:ext>
            </a:extLst>
          </p:cNvPr>
          <p:cNvSpPr>
            <a:spLocks noGrp="1"/>
          </p:cNvSpPr>
          <p:nvPr/>
        </p:nvSpPr>
        <p:spPr>
          <a:xfrm>
            <a:off x="2305050" y="320040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173FB58-F130-4951-B425-36B601DF0B90}"/>
              </a:ext>
            </a:extLst>
          </p:cNvPr>
          <p:cNvSpPr>
            <a:spLocks noGrp="1"/>
          </p:cNvSpPr>
          <p:nvPr/>
        </p:nvSpPr>
        <p:spPr>
          <a:xfrm>
            <a:off x="8877300" y="320040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CA5EDD0-4287-4E68-9EBA-58013FA2358D}"/>
              </a:ext>
            </a:extLst>
          </p:cNvPr>
          <p:cNvSpPr>
            <a:spLocks noGrp="1"/>
          </p:cNvSpPr>
          <p:nvPr/>
        </p:nvSpPr>
        <p:spPr>
          <a:xfrm>
            <a:off x="819150" y="328612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启动与组织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5FA4F2D-8EFE-4568-86F1-68031BFC4187}"/>
              </a:ext>
            </a:extLst>
          </p:cNvPr>
          <p:cNvSpPr>
            <a:spLocks noGrp="1"/>
          </p:cNvSpPr>
          <p:nvPr/>
        </p:nvSpPr>
        <p:spPr>
          <a:xfrm>
            <a:off x="2457450" y="327660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项目组、例会节奏、沟通群和问题升级路径先建起来。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EA95538-0994-4F7C-AD98-2B8BCD8F45AF}"/>
              </a:ext>
            </a:extLst>
          </p:cNvPr>
          <p:cNvSpPr>
            <a:spLocks noGrp="1"/>
          </p:cNvSpPr>
          <p:nvPr/>
        </p:nvSpPr>
        <p:spPr>
          <a:xfrm>
            <a:off x="9029700" y="327660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启动纪要、成员清单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D1E23AE-E35B-4C92-96EF-1237B8F0BA92}"/>
              </a:ext>
            </a:extLst>
          </p:cNvPr>
          <p:cNvSpPr>
            <a:spLocks noGrp="1"/>
          </p:cNvSpPr>
          <p:nvPr/>
        </p:nvSpPr>
        <p:spPr>
          <a:xfrm>
            <a:off x="685800" y="3806190"/>
            <a:ext cx="10820400" cy="605790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1EE6F4F-6F90-4F79-ADC6-EF172CB07849}"/>
              </a:ext>
            </a:extLst>
          </p:cNvPr>
          <p:cNvSpPr>
            <a:spLocks noGrp="1"/>
          </p:cNvSpPr>
          <p:nvPr/>
        </p:nvSpPr>
        <p:spPr>
          <a:xfrm>
            <a:off x="2305050" y="380619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EE19F9E-83CB-4DBE-8607-35F6D67EB1AB}"/>
              </a:ext>
            </a:extLst>
          </p:cNvPr>
          <p:cNvSpPr>
            <a:spLocks noGrp="1"/>
          </p:cNvSpPr>
          <p:nvPr/>
        </p:nvSpPr>
        <p:spPr>
          <a:xfrm>
            <a:off x="8877300" y="380619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12C0899-4249-4FA5-87B0-57F0465D1603}"/>
              </a:ext>
            </a:extLst>
          </p:cNvPr>
          <p:cNvSpPr>
            <a:spLocks noGrp="1"/>
          </p:cNvSpPr>
          <p:nvPr/>
        </p:nvSpPr>
        <p:spPr>
          <a:xfrm>
            <a:off x="819150" y="389191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现状调研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52DD407-5665-4FD3-8D8E-A835C9FFEAFA}"/>
              </a:ext>
            </a:extLst>
          </p:cNvPr>
          <p:cNvSpPr>
            <a:spLocks noGrp="1"/>
          </p:cNvSpPr>
          <p:nvPr/>
        </p:nvSpPr>
        <p:spPr>
          <a:xfrm>
            <a:off x="2457450" y="388239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销售、投标、商务、技术、资源、管理层、IT分角色访谈。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F0FE217-FFC7-4A39-99B0-559126CAD4B3}"/>
              </a:ext>
            </a:extLst>
          </p:cNvPr>
          <p:cNvSpPr>
            <a:spLocks noGrp="1"/>
          </p:cNvSpPr>
          <p:nvPr/>
        </p:nvSpPr>
        <p:spPr>
          <a:xfrm>
            <a:off x="9029700" y="388239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调研纪要、现状流程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BAF64E8-A84E-46B0-9549-28C5A2A33F46}"/>
              </a:ext>
            </a:extLst>
          </p:cNvPr>
          <p:cNvSpPr>
            <a:spLocks noGrp="1"/>
          </p:cNvSpPr>
          <p:nvPr/>
        </p:nvSpPr>
        <p:spPr>
          <a:xfrm>
            <a:off x="685800" y="4411980"/>
            <a:ext cx="10820400" cy="605790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7081741-91D1-4F38-B6D3-C5444423AFC3}"/>
              </a:ext>
            </a:extLst>
          </p:cNvPr>
          <p:cNvSpPr>
            <a:spLocks noGrp="1"/>
          </p:cNvSpPr>
          <p:nvPr/>
        </p:nvSpPr>
        <p:spPr>
          <a:xfrm>
            <a:off x="2305050" y="441198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066658D-8142-4562-816B-D9A0C8E949FA}"/>
              </a:ext>
            </a:extLst>
          </p:cNvPr>
          <p:cNvSpPr>
            <a:spLocks noGrp="1"/>
          </p:cNvSpPr>
          <p:nvPr/>
        </p:nvSpPr>
        <p:spPr>
          <a:xfrm>
            <a:off x="8877300" y="441198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B3C058D-CA45-4B0F-AECF-47873DCF8747}"/>
              </a:ext>
            </a:extLst>
          </p:cNvPr>
          <p:cNvSpPr>
            <a:spLocks noGrp="1"/>
          </p:cNvSpPr>
          <p:nvPr/>
        </p:nvSpPr>
        <p:spPr>
          <a:xfrm>
            <a:off x="819150" y="449770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资料收集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1BD3BCC-EE88-4E06-BDD4-342A96F0CBAE}"/>
              </a:ext>
            </a:extLst>
          </p:cNvPr>
          <p:cNvSpPr>
            <a:spLocks noGrp="1"/>
          </p:cNvSpPr>
          <p:nvPr/>
        </p:nvSpPr>
        <p:spPr>
          <a:xfrm>
            <a:off x="2457450" y="448818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收集样例标书、资质、案例、模板、费用、账户、证书和合同样例。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600E502-FE00-4169-ADED-9CFC3C1B23DE}"/>
              </a:ext>
            </a:extLst>
          </p:cNvPr>
          <p:cNvSpPr>
            <a:spLocks noGrp="1"/>
          </p:cNvSpPr>
          <p:nvPr/>
        </p:nvSpPr>
        <p:spPr>
          <a:xfrm>
            <a:off x="9029700" y="448818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资料清单、样例数据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FA0810B-8D1F-482F-AF34-DBE55C1384B7}"/>
              </a:ext>
            </a:extLst>
          </p:cNvPr>
          <p:cNvSpPr>
            <a:spLocks noGrp="1"/>
          </p:cNvSpPr>
          <p:nvPr/>
        </p:nvSpPr>
        <p:spPr>
          <a:xfrm>
            <a:off x="685800" y="5017770"/>
            <a:ext cx="10820400" cy="605790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507D55E-3253-4559-8A7D-173103DB13BE}"/>
              </a:ext>
            </a:extLst>
          </p:cNvPr>
          <p:cNvSpPr>
            <a:spLocks noGrp="1"/>
          </p:cNvSpPr>
          <p:nvPr/>
        </p:nvSpPr>
        <p:spPr>
          <a:xfrm>
            <a:off x="2305050" y="501777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EF587AC-3A9E-4488-916B-55ADD472B55E}"/>
              </a:ext>
            </a:extLst>
          </p:cNvPr>
          <p:cNvSpPr>
            <a:spLocks noGrp="1"/>
          </p:cNvSpPr>
          <p:nvPr/>
        </p:nvSpPr>
        <p:spPr>
          <a:xfrm>
            <a:off x="8877300" y="501777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A5CC2D2-2F73-47FE-9348-C89B83EA711A}"/>
              </a:ext>
            </a:extLst>
          </p:cNvPr>
          <p:cNvSpPr>
            <a:spLocks noGrp="1"/>
          </p:cNvSpPr>
          <p:nvPr/>
        </p:nvSpPr>
        <p:spPr>
          <a:xfrm>
            <a:off x="819150" y="510349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风险识别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56042C4-C7DF-45E4-AB7F-198D68F246D6}"/>
              </a:ext>
            </a:extLst>
          </p:cNvPr>
          <p:cNvSpPr>
            <a:spLocks noGrp="1"/>
          </p:cNvSpPr>
          <p:nvPr/>
        </p:nvSpPr>
        <p:spPr>
          <a:xfrm>
            <a:off x="2457450" y="509397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提前看接口、环境、数据、流程差异和关键用户投入风险。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1FFD4EE-3A4F-4A65-BF3E-0E6C6E4ED25A}"/>
              </a:ext>
            </a:extLst>
          </p:cNvPr>
          <p:cNvSpPr>
            <a:spLocks noGrp="1"/>
          </p:cNvSpPr>
          <p:nvPr/>
        </p:nvSpPr>
        <p:spPr>
          <a:xfrm>
            <a:off x="9029700" y="509397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问题与风险清单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2DD1148-90E9-4F6B-9814-E76215E24596}"/>
              </a:ext>
            </a:extLst>
          </p:cNvPr>
          <p:cNvSpPr>
            <a:spLocks noGrp="1"/>
          </p:cNvSpPr>
          <p:nvPr/>
        </p:nvSpPr>
        <p:spPr>
          <a:xfrm>
            <a:off x="685800" y="5623560"/>
            <a:ext cx="10820400" cy="605790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326AEC6-F787-4858-AF3D-6DA0DFBDFFCF}"/>
              </a:ext>
            </a:extLst>
          </p:cNvPr>
          <p:cNvSpPr>
            <a:spLocks noGrp="1"/>
          </p:cNvSpPr>
          <p:nvPr/>
        </p:nvSpPr>
        <p:spPr>
          <a:xfrm>
            <a:off x="2305050" y="562356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1E0C41A-8A97-416A-8556-940764A62F85}"/>
              </a:ext>
            </a:extLst>
          </p:cNvPr>
          <p:cNvSpPr>
            <a:spLocks noGrp="1"/>
          </p:cNvSpPr>
          <p:nvPr/>
        </p:nvSpPr>
        <p:spPr>
          <a:xfrm>
            <a:off x="8877300" y="562356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D32E7E5-4CE5-4D7B-885C-C8424644F961}"/>
              </a:ext>
            </a:extLst>
          </p:cNvPr>
          <p:cNvSpPr>
            <a:spLocks noGrp="1"/>
          </p:cNvSpPr>
          <p:nvPr/>
        </p:nvSpPr>
        <p:spPr>
          <a:xfrm>
            <a:off x="819150" y="570928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补充调研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7053678-59F2-4A8C-9534-D247FE9DA0B7}"/>
              </a:ext>
            </a:extLst>
          </p:cNvPr>
          <p:cNvSpPr>
            <a:spLocks noGrp="1"/>
          </p:cNvSpPr>
          <p:nvPr/>
        </p:nvSpPr>
        <p:spPr>
          <a:xfrm>
            <a:off x="2457450" y="569976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蓝图初稿出来后，再回头复核流程、字段、权限和报表口径。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8DEB315-3728-4E91-B505-8060ABA0D9F1}"/>
              </a:ext>
            </a:extLst>
          </p:cNvPr>
          <p:cNvSpPr>
            <a:spLocks noGrp="1"/>
          </p:cNvSpPr>
          <p:nvPr/>
        </p:nvSpPr>
        <p:spPr>
          <a:xfrm>
            <a:off x="9029700" y="569976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场景复核记录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BA4B599-8FA5-44F2-8ABB-07C43D78F1A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1498751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6F2A84AB-8E2B-412F-8CC5-D83FB87020B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BAF69C8F-2C50-4DC2-955C-873F54FF6A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451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8638684-B8A8-4A98-A3A9-6CDFED0C287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03 项目规划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07C8139-2F16-44E9-98DC-3A12415F28C1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09 / 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7AFC85-CE11-48A3-ABD7-02C3B3CE73D6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22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6488369-63B0-4A9C-9BC9-4ADA39E121C6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1F8A70"/>
          </a:solidFill>
          <a:ln w="1905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B78E7B9-3049-4B66-83A5-71B26828A2C5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09625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蓝图确认，就是把实施基线定下来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79F6A23-CD40-4F18-A0EB-AA93EFA9EB98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蓝图一旦确认，新增需求就走变更，不直接挤占上线计划。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2962CDDE-74FE-42CF-9FB1-92D9C3CF5115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371850"/>
          </a:xfrm>
          <a:prstGeom prst="roundRect">
            <a:avLst>
              <a:gd name="adj" fmla="val 2260"/>
            </a:avLst>
          </a:prstGeom>
          <a:solidFill>
            <a:srgbClr val="FFFFFF">
              <a:alpha val="90980"/>
            </a:srgbClr>
          </a:solidFill>
          <a:ln w="10478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31E8E23-B03D-4871-AFD3-4BDDF9F6165D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42900"/>
          </a:xfrm>
          <a:prstGeom prst="rect">
            <a:avLst/>
          </a:prstGeom>
          <a:solidFill>
            <a:srgbClr val="0D5F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EDF7493-FEA8-489F-9742-6F3DFE5F78DF}"/>
              </a:ext>
            </a:extLst>
          </p:cNvPr>
          <p:cNvSpPr>
            <a:spLocks noGrp="1"/>
          </p:cNvSpPr>
          <p:nvPr/>
        </p:nvSpPr>
        <p:spPr>
          <a:xfrm>
            <a:off x="819150" y="2943225"/>
            <a:ext cx="1352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工作包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CFD4ADF-1173-4FD0-8048-3D821BD8C099}"/>
              </a:ext>
            </a:extLst>
          </p:cNvPr>
          <p:cNvSpPr>
            <a:spLocks noGrp="1"/>
          </p:cNvSpPr>
          <p:nvPr/>
        </p:nvSpPr>
        <p:spPr>
          <a:xfrm>
            <a:off x="2438400" y="2943225"/>
            <a:ext cx="6305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主要活动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105D755-3AED-46B1-97D7-A4AB6116123B}"/>
              </a:ext>
            </a:extLst>
          </p:cNvPr>
          <p:cNvSpPr>
            <a:spLocks noGrp="1"/>
          </p:cNvSpPr>
          <p:nvPr/>
        </p:nvSpPr>
        <p:spPr>
          <a:xfrm>
            <a:off x="9010650" y="2943225"/>
            <a:ext cx="2362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阶段输出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FADF036-46B9-4F25-B481-21AAE3C81A2A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10820400" cy="605790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5FBC800-0CB8-4813-8BA3-7786A67964A6}"/>
              </a:ext>
            </a:extLst>
          </p:cNvPr>
          <p:cNvSpPr>
            <a:spLocks noGrp="1"/>
          </p:cNvSpPr>
          <p:nvPr/>
        </p:nvSpPr>
        <p:spPr>
          <a:xfrm>
            <a:off x="2305050" y="320040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0AB19F1-E692-45FD-904E-3F8CBC1321CB}"/>
              </a:ext>
            </a:extLst>
          </p:cNvPr>
          <p:cNvSpPr>
            <a:spLocks noGrp="1"/>
          </p:cNvSpPr>
          <p:nvPr/>
        </p:nvSpPr>
        <p:spPr>
          <a:xfrm>
            <a:off x="8877300" y="320040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90EAAC0-203E-41EC-886D-1E4EB78C9E9C}"/>
              </a:ext>
            </a:extLst>
          </p:cNvPr>
          <p:cNvSpPr>
            <a:spLocks noGrp="1"/>
          </p:cNvSpPr>
          <p:nvPr/>
        </p:nvSpPr>
        <p:spPr>
          <a:xfrm>
            <a:off x="819150" y="328612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流程蓝图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52495D0-6954-4282-925B-9D6C9465BE43}"/>
              </a:ext>
            </a:extLst>
          </p:cNvPr>
          <p:cNvSpPr>
            <a:spLocks noGrp="1"/>
          </p:cNvSpPr>
          <p:nvPr/>
        </p:nvSpPr>
        <p:spPr>
          <a:xfrm>
            <a:off x="2457450" y="327660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把投标主流程、角色分工、关键控制点画清楚。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81F4E4D-6A4B-4023-B6E2-F6732E2E2007}"/>
              </a:ext>
            </a:extLst>
          </p:cNvPr>
          <p:cNvSpPr>
            <a:spLocks noGrp="1"/>
          </p:cNvSpPr>
          <p:nvPr/>
        </p:nvSpPr>
        <p:spPr>
          <a:xfrm>
            <a:off x="9029700" y="327660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流程设计文档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7B0990B-0052-4D57-95C3-D409D4FA5834}"/>
              </a:ext>
            </a:extLst>
          </p:cNvPr>
          <p:cNvSpPr>
            <a:spLocks noGrp="1"/>
          </p:cNvSpPr>
          <p:nvPr/>
        </p:nvSpPr>
        <p:spPr>
          <a:xfrm>
            <a:off x="685800" y="3806190"/>
            <a:ext cx="10820400" cy="605790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5F293CA-40FC-41DA-B634-0C9B4FE682F9}"/>
              </a:ext>
            </a:extLst>
          </p:cNvPr>
          <p:cNvSpPr>
            <a:spLocks noGrp="1"/>
          </p:cNvSpPr>
          <p:nvPr/>
        </p:nvSpPr>
        <p:spPr>
          <a:xfrm>
            <a:off x="2305050" y="380619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1D77670-94FA-4DD6-BB9A-AA05F0DCA08A}"/>
              </a:ext>
            </a:extLst>
          </p:cNvPr>
          <p:cNvSpPr>
            <a:spLocks noGrp="1"/>
          </p:cNvSpPr>
          <p:nvPr/>
        </p:nvSpPr>
        <p:spPr>
          <a:xfrm>
            <a:off x="8877300" y="380619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C29AA84-3D0F-40C4-B644-0DA06AE5AE6F}"/>
              </a:ext>
            </a:extLst>
          </p:cNvPr>
          <p:cNvSpPr>
            <a:spLocks noGrp="1"/>
          </p:cNvSpPr>
          <p:nvPr/>
        </p:nvSpPr>
        <p:spPr>
          <a:xfrm>
            <a:off x="819150" y="389191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需求适配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86BD258-0CEE-481D-BE83-9A2C0B1D4132}"/>
              </a:ext>
            </a:extLst>
          </p:cNvPr>
          <p:cNvSpPr>
            <a:spLocks noGrp="1"/>
          </p:cNvSpPr>
          <p:nvPr/>
        </p:nvSpPr>
        <p:spPr>
          <a:xfrm>
            <a:off x="2457450" y="388239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区分标准功能、配置实现、定制开发、接口和暂缓项。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925C607-BD6C-420D-A4CE-A323DD9EE83A}"/>
              </a:ext>
            </a:extLst>
          </p:cNvPr>
          <p:cNvSpPr>
            <a:spLocks noGrp="1"/>
          </p:cNvSpPr>
          <p:nvPr/>
        </p:nvSpPr>
        <p:spPr>
          <a:xfrm>
            <a:off x="9029700" y="388239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需求适配报告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728790C-92F3-4177-B1C3-708FCC9705D1}"/>
              </a:ext>
            </a:extLst>
          </p:cNvPr>
          <p:cNvSpPr>
            <a:spLocks noGrp="1"/>
          </p:cNvSpPr>
          <p:nvPr/>
        </p:nvSpPr>
        <p:spPr>
          <a:xfrm>
            <a:off x="685800" y="4411980"/>
            <a:ext cx="10820400" cy="605790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7F8BC61-86F1-44EF-9C2A-05BF327A131B}"/>
              </a:ext>
            </a:extLst>
          </p:cNvPr>
          <p:cNvSpPr>
            <a:spLocks noGrp="1"/>
          </p:cNvSpPr>
          <p:nvPr/>
        </p:nvSpPr>
        <p:spPr>
          <a:xfrm>
            <a:off x="2305050" y="441198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E445C8D-6B53-4E30-96B5-3B5CA3F480D7}"/>
              </a:ext>
            </a:extLst>
          </p:cNvPr>
          <p:cNvSpPr>
            <a:spLocks noGrp="1"/>
          </p:cNvSpPr>
          <p:nvPr/>
        </p:nvSpPr>
        <p:spPr>
          <a:xfrm>
            <a:off x="8877300" y="441198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A99CFCD-DB4E-4ABC-AFA4-4AA3523B2195}"/>
              </a:ext>
            </a:extLst>
          </p:cNvPr>
          <p:cNvSpPr>
            <a:spLocks noGrp="1"/>
          </p:cNvSpPr>
          <p:nvPr/>
        </p:nvSpPr>
        <p:spPr>
          <a:xfrm>
            <a:off x="819150" y="449770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权限设计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AEA3452-D338-49F8-BCD0-4ABDEB44309F}"/>
              </a:ext>
            </a:extLst>
          </p:cNvPr>
          <p:cNvSpPr>
            <a:spLocks noGrp="1"/>
          </p:cNvSpPr>
          <p:nvPr/>
        </p:nvSpPr>
        <p:spPr>
          <a:xfrm>
            <a:off x="2457450" y="448818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确认组织、角色、数据范围、审批和审计口径。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0052A62-D49E-447D-899C-6A7F72D07069}"/>
              </a:ext>
            </a:extLst>
          </p:cNvPr>
          <p:cNvSpPr>
            <a:spLocks noGrp="1"/>
          </p:cNvSpPr>
          <p:nvPr/>
        </p:nvSpPr>
        <p:spPr>
          <a:xfrm>
            <a:off x="9029700" y="448818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权限方案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3E028D0-4AE7-4482-9ADC-B579394B2123}"/>
              </a:ext>
            </a:extLst>
          </p:cNvPr>
          <p:cNvSpPr>
            <a:spLocks noGrp="1"/>
          </p:cNvSpPr>
          <p:nvPr/>
        </p:nvSpPr>
        <p:spPr>
          <a:xfrm>
            <a:off x="685800" y="5017770"/>
            <a:ext cx="10820400" cy="605790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ADDB9E2-8F53-448A-87AC-50CD0C9437C2}"/>
              </a:ext>
            </a:extLst>
          </p:cNvPr>
          <p:cNvSpPr>
            <a:spLocks noGrp="1"/>
          </p:cNvSpPr>
          <p:nvPr/>
        </p:nvSpPr>
        <p:spPr>
          <a:xfrm>
            <a:off x="2305050" y="501777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856C73C-40FE-4B57-9713-E039A857588C}"/>
              </a:ext>
            </a:extLst>
          </p:cNvPr>
          <p:cNvSpPr>
            <a:spLocks noGrp="1"/>
          </p:cNvSpPr>
          <p:nvPr/>
        </p:nvSpPr>
        <p:spPr>
          <a:xfrm>
            <a:off x="8877300" y="501777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B587D97-5F90-4C07-A12E-7EAABC9F3931}"/>
              </a:ext>
            </a:extLst>
          </p:cNvPr>
          <p:cNvSpPr>
            <a:spLocks noGrp="1"/>
          </p:cNvSpPr>
          <p:nvPr/>
        </p:nvSpPr>
        <p:spPr>
          <a:xfrm>
            <a:off x="819150" y="510349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接口方案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E59A3D6-E378-4E14-8347-36E1547B16D7}"/>
              </a:ext>
            </a:extLst>
          </p:cNvPr>
          <p:cNvSpPr>
            <a:spLocks noGrp="1"/>
          </p:cNvSpPr>
          <p:nvPr/>
        </p:nvSpPr>
        <p:spPr>
          <a:xfrm>
            <a:off x="2457450" y="509397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确认CRM、OA、组织架构、消息提醒的字段和调用方式。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BF7D4C8-031C-4427-9EA7-BF272684F5EA}"/>
              </a:ext>
            </a:extLst>
          </p:cNvPr>
          <p:cNvSpPr>
            <a:spLocks noGrp="1"/>
          </p:cNvSpPr>
          <p:nvPr/>
        </p:nvSpPr>
        <p:spPr>
          <a:xfrm>
            <a:off x="9029700" y="509397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接口设计文档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0451762-374B-4BA5-91CF-84FCBF2522AA}"/>
              </a:ext>
            </a:extLst>
          </p:cNvPr>
          <p:cNvSpPr>
            <a:spLocks noGrp="1"/>
          </p:cNvSpPr>
          <p:nvPr/>
        </p:nvSpPr>
        <p:spPr>
          <a:xfrm>
            <a:off x="685800" y="5623560"/>
            <a:ext cx="10820400" cy="605790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1BA4CEC-0698-4A5A-9C6A-070E1B3D4ED4}"/>
              </a:ext>
            </a:extLst>
          </p:cNvPr>
          <p:cNvSpPr>
            <a:spLocks noGrp="1"/>
          </p:cNvSpPr>
          <p:nvPr/>
        </p:nvSpPr>
        <p:spPr>
          <a:xfrm>
            <a:off x="2305050" y="562356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4B3BF49-0FFD-4735-B51C-C9512788E8E3}"/>
              </a:ext>
            </a:extLst>
          </p:cNvPr>
          <p:cNvSpPr>
            <a:spLocks noGrp="1"/>
          </p:cNvSpPr>
          <p:nvPr/>
        </p:nvSpPr>
        <p:spPr>
          <a:xfrm>
            <a:off x="8877300" y="562356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FD2DBB6-700F-4014-8CCD-8F91B3FFBF4A}"/>
              </a:ext>
            </a:extLst>
          </p:cNvPr>
          <p:cNvSpPr>
            <a:spLocks noGrp="1"/>
          </p:cNvSpPr>
          <p:nvPr/>
        </p:nvSpPr>
        <p:spPr>
          <a:xfrm>
            <a:off x="819150" y="570928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原型确认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8B74488-0B2B-46D8-9542-D470A6BC0549}"/>
              </a:ext>
            </a:extLst>
          </p:cNvPr>
          <p:cNvSpPr>
            <a:spLocks noGrp="1"/>
          </p:cNvSpPr>
          <p:nvPr/>
        </p:nvSpPr>
        <p:spPr>
          <a:xfrm>
            <a:off x="2457450" y="569976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关键页面、流程、报表口径和待决事项一起评审确认。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41032E2-34FF-4B99-BE40-84C7E46F1252}"/>
              </a:ext>
            </a:extLst>
          </p:cNvPr>
          <p:cNvSpPr>
            <a:spLocks noGrp="1"/>
          </p:cNvSpPr>
          <p:nvPr/>
        </p:nvSpPr>
        <p:spPr>
          <a:xfrm>
            <a:off x="9029700" y="569976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原型文档、确认函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8249BF5-94D4-4756-B9E0-6CD76829CD5B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386637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5">
            <a:extLst>
              <a:ext uri="{FF2B5EF4-FFF2-40B4-BE49-F238E27FC236}">
                <a16:creationId xmlns:a16="http://schemas.microsoft.com/office/drawing/2014/main" id="{6F2A84AB-8E2B-412F-8CC5-D83FB87020B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F7FF2D9-8281-4ACD-836A-CBB1545227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686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D350172-4EE6-43DD-9E2E-AA925B1335F1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03 项目规划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4B82423-6B21-4A4C-941B-3DBCB6E73CA9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10 / 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921255-322E-4838-AA53-3C683035AE51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22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E3B17B40-58EE-4A28-8538-811E5D23E3F3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1F8A70"/>
          </a:solidFill>
          <a:ln w="1905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D6FAE26-D9C6-49FB-B260-AF3E19BBEE49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810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实现和联调也要提前咬合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74DCAA-79AB-411F-BD7E-D9F21624DE3D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能联调的模块先拉通，别等最后一周才发现接口问题。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967D8C84-4DD4-4894-B18F-57807FF2C1F2}"/>
              </a:ext>
            </a:extLst>
          </p:cNvPr>
          <p:cNvSpPr>
            <a:spLocks noGrp="1"/>
          </p:cNvSpPr>
          <p:nvPr/>
        </p:nvSpPr>
        <p:spPr>
          <a:xfrm>
            <a:off x="5140098" y="3200400"/>
            <a:ext cx="1522639" cy="1847850"/>
          </a:xfrm>
          <a:prstGeom prst="roundRect">
            <a:avLst>
              <a:gd name="adj" fmla="val 5004"/>
            </a:avLst>
          </a:prstGeom>
          <a:solidFill>
            <a:srgbClr val="D95F45">
              <a:alpha val="2823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BEFE229-B9C1-47D3-98AB-CF5F0B83DFE1}"/>
              </a:ext>
            </a:extLst>
          </p:cNvPr>
          <p:cNvSpPr>
            <a:spLocks noGrp="1"/>
          </p:cNvSpPr>
          <p:nvPr/>
        </p:nvSpPr>
        <p:spPr>
          <a:xfrm>
            <a:off x="4949598" y="2933700"/>
            <a:ext cx="1903639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D95F45"/>
                </a:solidFill>
              </a:defRPr>
            </a:pPr>
            <a:r>
              <a:rPr sz="788" b="1">
                <a:solidFill>
                  <a:srgbClr val="D95F45"/>
                </a:solidFill>
              </a:rPr>
              <a:t>2026-06-04 ~ 2026-06-10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063A74D-BFCC-457E-BBE9-68CE26FA353E}"/>
              </a:ext>
            </a:extLst>
          </p:cNvPr>
          <p:cNvSpPr>
            <a:spLocks noGrp="1"/>
          </p:cNvSpPr>
          <p:nvPr/>
        </p:nvSpPr>
        <p:spPr>
          <a:xfrm>
            <a:off x="723900" y="3505200"/>
            <a:ext cx="819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38" b="1">
                <a:solidFill>
                  <a:srgbClr val="12233A"/>
                </a:solidFill>
              </a:defRPr>
            </a:pPr>
            <a:r>
              <a:rPr sz="938" b="1">
                <a:solidFill>
                  <a:srgbClr val="12233A"/>
                </a:solidFill>
              </a:rPr>
              <a:t>系统实现与配置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E1399357-DFF9-4D70-B26E-56ECC0830106}"/>
              </a:ext>
            </a:extLst>
          </p:cNvPr>
          <p:cNvSpPr>
            <a:spLocks noGrp="1"/>
          </p:cNvSpPr>
          <p:nvPr/>
        </p:nvSpPr>
        <p:spPr>
          <a:xfrm>
            <a:off x="1619250" y="3486150"/>
            <a:ext cx="6572250" cy="266700"/>
          </a:xfrm>
          <a:prstGeom prst="roundRect">
            <a:avLst>
              <a:gd name="adj" fmla="val 28571"/>
            </a:avLst>
          </a:prstGeom>
          <a:solidFill>
            <a:srgbClr val="E7EE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47C89CDF-EFCB-4580-B8A0-FBCC5B7E5A55}"/>
              </a:ext>
            </a:extLst>
          </p:cNvPr>
          <p:cNvSpPr>
            <a:spLocks noGrp="1"/>
          </p:cNvSpPr>
          <p:nvPr/>
        </p:nvSpPr>
        <p:spPr>
          <a:xfrm>
            <a:off x="1619250" y="3448050"/>
            <a:ext cx="5043488" cy="342900"/>
          </a:xfrm>
          <a:prstGeom prst="roundRect">
            <a:avLst>
              <a:gd name="adj" fmla="val 22222"/>
            </a:avLst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879E97E-4589-49F6-B292-945019D42B4E}"/>
              </a:ext>
            </a:extLst>
          </p:cNvPr>
          <p:cNvSpPr>
            <a:spLocks noGrp="1"/>
          </p:cNvSpPr>
          <p:nvPr/>
        </p:nvSpPr>
        <p:spPr>
          <a:xfrm>
            <a:off x="1733550" y="3524250"/>
            <a:ext cx="228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边做边测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A1B1E08-8CA1-47B3-905D-9FD86168BCD0}"/>
              </a:ext>
            </a:extLst>
          </p:cNvPr>
          <p:cNvSpPr>
            <a:spLocks noGrp="1"/>
          </p:cNvSpPr>
          <p:nvPr/>
        </p:nvSpPr>
        <p:spPr>
          <a:xfrm>
            <a:off x="8343900" y="3524250"/>
            <a:ext cx="95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B7A8C"/>
                </a:solidFill>
              </a:defRPr>
            </a:pPr>
            <a:r>
              <a:rPr sz="788" b="0">
                <a:solidFill>
                  <a:srgbClr val="6B7A8C"/>
                </a:solidFill>
              </a:rPr>
              <a:t>05/20-06/10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CD9ADEB-4FF9-44B5-BE41-BED753526301}"/>
              </a:ext>
            </a:extLst>
          </p:cNvPr>
          <p:cNvSpPr>
            <a:spLocks noGrp="1"/>
          </p:cNvSpPr>
          <p:nvPr/>
        </p:nvSpPr>
        <p:spPr>
          <a:xfrm>
            <a:off x="723900" y="4229100"/>
            <a:ext cx="819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38" b="1">
                <a:solidFill>
                  <a:srgbClr val="12233A"/>
                </a:solidFill>
              </a:defRPr>
            </a:pPr>
            <a:r>
              <a:rPr sz="938" b="1">
                <a:solidFill>
                  <a:srgbClr val="12233A"/>
                </a:solidFill>
              </a:rPr>
              <a:t>集成联调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27F5A3B6-B7F7-45FB-A8C8-DF7BB6091735}"/>
              </a:ext>
            </a:extLst>
          </p:cNvPr>
          <p:cNvSpPr>
            <a:spLocks noGrp="1"/>
          </p:cNvSpPr>
          <p:nvPr/>
        </p:nvSpPr>
        <p:spPr>
          <a:xfrm>
            <a:off x="1619250" y="4210050"/>
            <a:ext cx="6572250" cy="266700"/>
          </a:xfrm>
          <a:prstGeom prst="roundRect">
            <a:avLst>
              <a:gd name="adj" fmla="val 28571"/>
            </a:avLst>
          </a:prstGeom>
          <a:solidFill>
            <a:srgbClr val="E7EE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BA2BDC3E-799A-47A3-877D-509E54B38AAE}"/>
              </a:ext>
            </a:extLst>
          </p:cNvPr>
          <p:cNvSpPr>
            <a:spLocks noGrp="1"/>
          </p:cNvSpPr>
          <p:nvPr/>
        </p:nvSpPr>
        <p:spPr>
          <a:xfrm>
            <a:off x="5140098" y="4171950"/>
            <a:ext cx="3165702" cy="342900"/>
          </a:xfrm>
          <a:prstGeom prst="roundRect">
            <a:avLst>
              <a:gd name="adj" fmla="val 22222"/>
            </a:avLst>
          </a:prstGeom>
          <a:solidFill>
            <a:srgbClr val="D6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1CEBF90-A614-4249-AB86-2CF57BAC6F99}"/>
              </a:ext>
            </a:extLst>
          </p:cNvPr>
          <p:cNvSpPr>
            <a:spLocks noGrp="1"/>
          </p:cNvSpPr>
          <p:nvPr/>
        </p:nvSpPr>
        <p:spPr>
          <a:xfrm>
            <a:off x="5254398" y="4248150"/>
            <a:ext cx="228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边接边验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6F7543F-6B06-4C7A-9A96-87ADE358E4DD}"/>
              </a:ext>
            </a:extLst>
          </p:cNvPr>
          <p:cNvSpPr>
            <a:spLocks noGrp="1"/>
          </p:cNvSpPr>
          <p:nvPr/>
        </p:nvSpPr>
        <p:spPr>
          <a:xfrm>
            <a:off x="8343900" y="4248150"/>
            <a:ext cx="95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B7A8C"/>
                </a:solidFill>
              </a:defRPr>
            </a:pPr>
            <a:r>
              <a:rPr sz="788" b="0">
                <a:solidFill>
                  <a:srgbClr val="6B7A8C"/>
                </a:solidFill>
              </a:rPr>
              <a:t>06/04-06/17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A566C102-5ED3-4143-B264-A2A917C0DB2B}"/>
              </a:ext>
            </a:extLst>
          </p:cNvPr>
          <p:cNvSpPr>
            <a:spLocks noGrp="1"/>
          </p:cNvSpPr>
          <p:nvPr/>
        </p:nvSpPr>
        <p:spPr>
          <a:xfrm>
            <a:off x="9029700" y="2952750"/>
            <a:ext cx="2209800" cy="1562100"/>
          </a:xfrm>
          <a:prstGeom prst="roundRect">
            <a:avLst>
              <a:gd name="adj" fmla="val 4878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911DA76-3678-4EC8-8CEC-1D21DC25793D}"/>
              </a:ext>
            </a:extLst>
          </p:cNvPr>
          <p:cNvSpPr>
            <a:spLocks noGrp="1"/>
          </p:cNvSpPr>
          <p:nvPr/>
        </p:nvSpPr>
        <p:spPr>
          <a:xfrm>
            <a:off x="9029700" y="2952750"/>
            <a:ext cx="2209800" cy="66675"/>
          </a:xfrm>
          <a:prstGeom prst="rect">
            <a:avLst/>
          </a:prstGeom>
          <a:solidFill>
            <a:srgbClr val="D95F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6603DF6-FFC7-486E-9B8A-E06AFCFA3736}"/>
              </a:ext>
            </a:extLst>
          </p:cNvPr>
          <p:cNvSpPr>
            <a:spLocks noGrp="1"/>
          </p:cNvSpPr>
          <p:nvPr/>
        </p:nvSpPr>
        <p:spPr>
          <a:xfrm>
            <a:off x="9239250" y="3181350"/>
            <a:ext cx="1790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2233A"/>
                </a:solidFill>
              </a:defRPr>
            </a:pPr>
            <a:r>
              <a:rPr sz="2550" b="1">
                <a:solidFill>
                  <a:srgbClr val="12233A"/>
                </a:solidFill>
              </a:rPr>
              <a:t>5个工作日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BD490DC-B4AD-440B-AC18-387D8DE94A9C}"/>
              </a:ext>
            </a:extLst>
          </p:cNvPr>
          <p:cNvSpPr>
            <a:spLocks noGrp="1"/>
          </p:cNvSpPr>
          <p:nvPr/>
        </p:nvSpPr>
        <p:spPr>
          <a:xfrm>
            <a:off x="9258300" y="3733800"/>
            <a:ext cx="17526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4465C"/>
                </a:solidFill>
              </a:defRPr>
            </a:pPr>
            <a:r>
              <a:rPr sz="1200" b="0">
                <a:solidFill>
                  <a:srgbClr val="34465C"/>
                </a:solidFill>
              </a:rPr>
              <a:t>交叉阶段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04F91AF-C7E2-4B17-9486-BEA3A131EDFB}"/>
              </a:ext>
            </a:extLst>
          </p:cNvPr>
          <p:cNvSpPr>
            <a:spLocks noGrp="1"/>
          </p:cNvSpPr>
          <p:nvPr/>
        </p:nvSpPr>
        <p:spPr>
          <a:xfrm>
            <a:off x="9258300" y="4114800"/>
            <a:ext cx="1752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2026-06-04 ~ 2026-06-10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D8D9E92F-9515-4BC8-94D4-1FA092FDC1B7}"/>
              </a:ext>
            </a:extLst>
          </p:cNvPr>
          <p:cNvSpPr>
            <a:spLocks noGrp="1"/>
          </p:cNvSpPr>
          <p:nvPr/>
        </p:nvSpPr>
        <p:spPr>
          <a:xfrm>
            <a:off x="781050" y="4972050"/>
            <a:ext cx="3257550" cy="1066800"/>
          </a:xfrm>
          <a:prstGeom prst="roundRect">
            <a:avLst>
              <a:gd name="adj" fmla="val 7143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5CF106A-917B-44F9-A038-E9A6B6A1563A}"/>
              </a:ext>
            </a:extLst>
          </p:cNvPr>
          <p:cNvSpPr>
            <a:spLocks noGrp="1"/>
          </p:cNvSpPr>
          <p:nvPr/>
        </p:nvSpPr>
        <p:spPr>
          <a:xfrm>
            <a:off x="781050" y="4972050"/>
            <a:ext cx="3257550" cy="47625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169B62C-97CE-431E-A678-E863FCD66921}"/>
              </a:ext>
            </a:extLst>
          </p:cNvPr>
          <p:cNvSpPr>
            <a:spLocks noGrp="1"/>
          </p:cNvSpPr>
          <p:nvPr/>
        </p:nvSpPr>
        <p:spPr>
          <a:xfrm>
            <a:off x="933450" y="5114925"/>
            <a:ext cx="2952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5F52"/>
                </a:solidFill>
              </a:defRPr>
            </a:pPr>
            <a:r>
              <a:rPr sz="900" b="1">
                <a:solidFill>
                  <a:srgbClr val="0D5F52"/>
                </a:solidFill>
              </a:rPr>
              <a:t>05/20-06/03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0B99EDE-118E-4DC4-8AB9-6F0CDAB7AB2F}"/>
              </a:ext>
            </a:extLst>
          </p:cNvPr>
          <p:cNvSpPr>
            <a:spLocks noGrp="1"/>
          </p:cNvSpPr>
          <p:nvPr/>
        </p:nvSpPr>
        <p:spPr>
          <a:xfrm>
            <a:off x="933450" y="5372100"/>
            <a:ext cx="2952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2233A"/>
                </a:solidFill>
              </a:defRPr>
            </a:pPr>
            <a:r>
              <a:rPr sz="900" b="0">
                <a:solidFill>
                  <a:srgbClr val="12233A"/>
                </a:solidFill>
              </a:rPr>
              <a:t>先做主链路、权限和接口前置能力。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555D232B-0DDF-487F-8D14-9207C7D0E058}"/>
              </a:ext>
            </a:extLst>
          </p:cNvPr>
          <p:cNvSpPr>
            <a:spLocks noGrp="1"/>
          </p:cNvSpPr>
          <p:nvPr/>
        </p:nvSpPr>
        <p:spPr>
          <a:xfrm>
            <a:off x="4343400" y="4972050"/>
            <a:ext cx="3257550" cy="1066800"/>
          </a:xfrm>
          <a:prstGeom prst="roundRect">
            <a:avLst>
              <a:gd name="adj" fmla="val 7143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083F831-B309-428C-82EE-2BD79402A135}"/>
              </a:ext>
            </a:extLst>
          </p:cNvPr>
          <p:cNvSpPr>
            <a:spLocks noGrp="1"/>
          </p:cNvSpPr>
          <p:nvPr/>
        </p:nvSpPr>
        <p:spPr>
          <a:xfrm>
            <a:off x="4343400" y="4972050"/>
            <a:ext cx="3257550" cy="47625"/>
          </a:xfrm>
          <a:prstGeom prst="rect">
            <a:avLst/>
          </a:prstGeom>
          <a:solidFill>
            <a:srgbClr val="D95F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7D5BB85-209B-49EC-96AA-F0E519C9C20C}"/>
              </a:ext>
            </a:extLst>
          </p:cNvPr>
          <p:cNvSpPr>
            <a:spLocks noGrp="1"/>
          </p:cNvSpPr>
          <p:nvPr/>
        </p:nvSpPr>
        <p:spPr>
          <a:xfrm>
            <a:off x="4495800" y="5114925"/>
            <a:ext cx="2952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5F52"/>
                </a:solidFill>
              </a:defRPr>
            </a:pPr>
            <a:r>
              <a:rPr sz="900" b="1">
                <a:solidFill>
                  <a:srgbClr val="0D5F52"/>
                </a:solidFill>
              </a:rPr>
              <a:t>06/04-06/10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1B91305-D3B4-443D-9BC8-7E791E31D99E}"/>
              </a:ext>
            </a:extLst>
          </p:cNvPr>
          <p:cNvSpPr>
            <a:spLocks noGrp="1"/>
          </p:cNvSpPr>
          <p:nvPr/>
        </p:nvSpPr>
        <p:spPr>
          <a:xfrm>
            <a:off x="4495800" y="5372100"/>
            <a:ext cx="2952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2233A"/>
                </a:solidFill>
              </a:defRPr>
            </a:pPr>
            <a:r>
              <a:rPr sz="900" b="0">
                <a:solidFill>
                  <a:srgbClr val="12233A"/>
                </a:solidFill>
              </a:rPr>
              <a:t>已完成模块先给联调版本，同步准备样例数据。</a:t>
            </a: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C12B456A-67E6-46E6-97BB-DD04BC06F0FD}"/>
              </a:ext>
            </a:extLst>
          </p:cNvPr>
          <p:cNvSpPr>
            <a:spLocks noGrp="1"/>
          </p:cNvSpPr>
          <p:nvPr/>
        </p:nvSpPr>
        <p:spPr>
          <a:xfrm>
            <a:off x="7905750" y="4972050"/>
            <a:ext cx="3257550" cy="1066800"/>
          </a:xfrm>
          <a:prstGeom prst="roundRect">
            <a:avLst>
              <a:gd name="adj" fmla="val 7143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CC5F5E5-C673-4D63-994F-27B9870C4A07}"/>
              </a:ext>
            </a:extLst>
          </p:cNvPr>
          <p:cNvSpPr>
            <a:spLocks noGrp="1"/>
          </p:cNvSpPr>
          <p:nvPr/>
        </p:nvSpPr>
        <p:spPr>
          <a:xfrm>
            <a:off x="7905750" y="4972050"/>
            <a:ext cx="3257550" cy="47625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9481F98-7EF7-46B6-88CD-2C6D0594F80D}"/>
              </a:ext>
            </a:extLst>
          </p:cNvPr>
          <p:cNvSpPr>
            <a:spLocks noGrp="1"/>
          </p:cNvSpPr>
          <p:nvPr/>
        </p:nvSpPr>
        <p:spPr>
          <a:xfrm>
            <a:off x="8058150" y="5114925"/>
            <a:ext cx="2952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5F52"/>
                </a:solidFill>
              </a:defRPr>
            </a:pPr>
            <a:r>
              <a:rPr sz="900" b="1">
                <a:solidFill>
                  <a:srgbClr val="0D5F52"/>
                </a:solidFill>
              </a:rPr>
              <a:t>06/11-06/17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9849406-9467-40E1-B8D0-1C64DB375D30}"/>
              </a:ext>
            </a:extLst>
          </p:cNvPr>
          <p:cNvSpPr>
            <a:spLocks noGrp="1"/>
          </p:cNvSpPr>
          <p:nvPr/>
        </p:nvSpPr>
        <p:spPr>
          <a:xfrm>
            <a:off x="8058150" y="5372100"/>
            <a:ext cx="2952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2233A"/>
                </a:solidFill>
              </a:defRPr>
            </a:pPr>
            <a:r>
              <a:rPr sz="900" b="0">
                <a:solidFill>
                  <a:srgbClr val="12233A"/>
                </a:solidFill>
              </a:rPr>
              <a:t>继续联调、跑SIT、做数据初始化和问题回归。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47E71F6-D387-4A6A-891F-6D9486F2D88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601812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5">
            <a:extLst>
              <a:ext uri="{FF2B5EF4-FFF2-40B4-BE49-F238E27FC236}">
                <a16:creationId xmlns:a16="http://schemas.microsoft.com/office/drawing/2014/main" id="{6F2A84AB-8E2B-412F-8CC5-D83FB87020B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C02FB9D1-F798-4938-A716-C7B02CA2C6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451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55BE54-1391-4F47-8BB6-0AE901CD7AD6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03 项目规划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27E6EC3-2229-48FE-B742-F552F6AEE2C8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11 / 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BDFC02-7ECF-4913-8ADC-5B9782F4E27C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22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872203F-3CB3-424E-86BF-37CB25A89E58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1F8A70"/>
          </a:solidFill>
          <a:ln w="1905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EB54676-7C80-4CE2-8B65-A90E626E1A22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09625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系统实现：分批做、分批测、分批收口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3E0BEE6-7057-4A9A-9C85-84A49E74B557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主链路先稳住，资源、分析、配置能力同步推进。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545112D9-3255-4CD8-8088-7A4B02DACE13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371850"/>
          </a:xfrm>
          <a:prstGeom prst="roundRect">
            <a:avLst>
              <a:gd name="adj" fmla="val 2260"/>
            </a:avLst>
          </a:prstGeom>
          <a:solidFill>
            <a:srgbClr val="FFFFFF">
              <a:alpha val="90980"/>
            </a:srgbClr>
          </a:solidFill>
          <a:ln w="10478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F4CB2F0-0705-4B5A-AE0C-ECCFD03A5AAC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42900"/>
          </a:xfrm>
          <a:prstGeom prst="rect">
            <a:avLst/>
          </a:prstGeom>
          <a:solidFill>
            <a:srgbClr val="0D5F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D13174F-8B43-4EFF-9B8F-B5B9DBE512FB}"/>
              </a:ext>
            </a:extLst>
          </p:cNvPr>
          <p:cNvSpPr>
            <a:spLocks noGrp="1"/>
          </p:cNvSpPr>
          <p:nvPr/>
        </p:nvSpPr>
        <p:spPr>
          <a:xfrm>
            <a:off x="819150" y="2943225"/>
            <a:ext cx="1352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工作包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DFB8604-0B40-4CAE-B07C-B6B91E0DBDC5}"/>
              </a:ext>
            </a:extLst>
          </p:cNvPr>
          <p:cNvSpPr>
            <a:spLocks noGrp="1"/>
          </p:cNvSpPr>
          <p:nvPr/>
        </p:nvSpPr>
        <p:spPr>
          <a:xfrm>
            <a:off x="2438400" y="2943225"/>
            <a:ext cx="6305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主要活动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4305CEA-996F-4E41-AF7B-55169B3CEE8D}"/>
              </a:ext>
            </a:extLst>
          </p:cNvPr>
          <p:cNvSpPr>
            <a:spLocks noGrp="1"/>
          </p:cNvSpPr>
          <p:nvPr/>
        </p:nvSpPr>
        <p:spPr>
          <a:xfrm>
            <a:off x="9010650" y="2943225"/>
            <a:ext cx="2362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阶段输出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524C8B8-4870-488D-8BD8-64A2D3BECF33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10820400" cy="504825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AD9240B-5B6F-4B91-8DCC-CC5123039474}"/>
              </a:ext>
            </a:extLst>
          </p:cNvPr>
          <p:cNvSpPr>
            <a:spLocks noGrp="1"/>
          </p:cNvSpPr>
          <p:nvPr/>
        </p:nvSpPr>
        <p:spPr>
          <a:xfrm>
            <a:off x="2305050" y="3200400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D416860-56A6-4150-BA0C-427FE549AA50}"/>
              </a:ext>
            </a:extLst>
          </p:cNvPr>
          <p:cNvSpPr>
            <a:spLocks noGrp="1"/>
          </p:cNvSpPr>
          <p:nvPr/>
        </p:nvSpPr>
        <p:spPr>
          <a:xfrm>
            <a:off x="8877300" y="3200400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BE4C076-AFC6-4984-8187-ABECA7639B4B}"/>
              </a:ext>
            </a:extLst>
          </p:cNvPr>
          <p:cNvSpPr>
            <a:spLocks noGrp="1"/>
          </p:cNvSpPr>
          <p:nvPr/>
        </p:nvSpPr>
        <p:spPr>
          <a:xfrm>
            <a:off x="819150" y="3286125"/>
            <a:ext cx="13525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任务拆解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2A636C1-AD93-4563-AAE6-CB503B99B4AD}"/>
              </a:ext>
            </a:extLst>
          </p:cNvPr>
          <p:cNvSpPr>
            <a:spLocks noGrp="1"/>
          </p:cNvSpPr>
          <p:nvPr/>
        </p:nvSpPr>
        <p:spPr>
          <a:xfrm>
            <a:off x="2457450" y="3276600"/>
            <a:ext cx="62674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按蓝图拆任务、责任人、完成标准和提测批次。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B65E541-5693-43E4-922B-BFE4A7BED4A0}"/>
              </a:ext>
            </a:extLst>
          </p:cNvPr>
          <p:cNvSpPr>
            <a:spLocks noGrp="1"/>
          </p:cNvSpPr>
          <p:nvPr/>
        </p:nvSpPr>
        <p:spPr>
          <a:xfrm>
            <a:off x="9029700" y="3276600"/>
            <a:ext cx="232410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TASKC任务清单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F5154F8-012F-48C8-B52F-4594C04A3B76}"/>
              </a:ext>
            </a:extLst>
          </p:cNvPr>
          <p:cNvSpPr>
            <a:spLocks noGrp="1"/>
          </p:cNvSpPr>
          <p:nvPr/>
        </p:nvSpPr>
        <p:spPr>
          <a:xfrm>
            <a:off x="685800" y="3705225"/>
            <a:ext cx="10820400" cy="504825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8CEB46D-0D0B-4595-9879-133E8B0B1AC4}"/>
              </a:ext>
            </a:extLst>
          </p:cNvPr>
          <p:cNvSpPr>
            <a:spLocks noGrp="1"/>
          </p:cNvSpPr>
          <p:nvPr/>
        </p:nvSpPr>
        <p:spPr>
          <a:xfrm>
            <a:off x="2305050" y="3705225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4157394-B251-4BC9-8DE7-070041801AE0}"/>
              </a:ext>
            </a:extLst>
          </p:cNvPr>
          <p:cNvSpPr>
            <a:spLocks noGrp="1"/>
          </p:cNvSpPr>
          <p:nvPr/>
        </p:nvSpPr>
        <p:spPr>
          <a:xfrm>
            <a:off x="8877300" y="3705225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534ADCA-82E9-4870-8C68-ACE7B3681691}"/>
              </a:ext>
            </a:extLst>
          </p:cNvPr>
          <p:cNvSpPr>
            <a:spLocks noGrp="1"/>
          </p:cNvSpPr>
          <p:nvPr/>
        </p:nvSpPr>
        <p:spPr>
          <a:xfrm>
            <a:off x="819150" y="3790950"/>
            <a:ext cx="13525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基础能力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0AFFD4B-CD83-439A-A2A1-80FD66565ACD}"/>
              </a:ext>
            </a:extLst>
          </p:cNvPr>
          <p:cNvSpPr>
            <a:spLocks noGrp="1"/>
          </p:cNvSpPr>
          <p:nvPr/>
        </p:nvSpPr>
        <p:spPr>
          <a:xfrm>
            <a:off x="2457450" y="3781425"/>
            <a:ext cx="62674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认证、权限、系统设置、审计日志、健康检查和数据迁移。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BFDA730-81A8-4540-8095-0A4486AA6EFE}"/>
              </a:ext>
            </a:extLst>
          </p:cNvPr>
          <p:cNvSpPr>
            <a:spLocks noGrp="1"/>
          </p:cNvSpPr>
          <p:nvPr/>
        </p:nvSpPr>
        <p:spPr>
          <a:xfrm>
            <a:off x="9029700" y="3781425"/>
            <a:ext cx="232410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配置说明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0E48A22-4078-470D-8D0A-E360EFBAEDEA}"/>
              </a:ext>
            </a:extLst>
          </p:cNvPr>
          <p:cNvSpPr>
            <a:spLocks noGrp="1"/>
          </p:cNvSpPr>
          <p:nvPr/>
        </p:nvSpPr>
        <p:spPr>
          <a:xfrm>
            <a:off x="685800" y="4210050"/>
            <a:ext cx="10820400" cy="504825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A87A222-366C-4D17-A167-3A40CB48BEF7}"/>
              </a:ext>
            </a:extLst>
          </p:cNvPr>
          <p:cNvSpPr>
            <a:spLocks noGrp="1"/>
          </p:cNvSpPr>
          <p:nvPr/>
        </p:nvSpPr>
        <p:spPr>
          <a:xfrm>
            <a:off x="2305050" y="4210050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AF81573-7B7E-4A6E-A7B3-FDBE13F97849}"/>
              </a:ext>
            </a:extLst>
          </p:cNvPr>
          <p:cNvSpPr>
            <a:spLocks noGrp="1"/>
          </p:cNvSpPr>
          <p:nvPr/>
        </p:nvSpPr>
        <p:spPr>
          <a:xfrm>
            <a:off x="8877300" y="4210050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2BFA7B3-7684-425E-A401-DA57269DCE6E}"/>
              </a:ext>
            </a:extLst>
          </p:cNvPr>
          <p:cNvSpPr>
            <a:spLocks noGrp="1"/>
          </p:cNvSpPr>
          <p:nvPr/>
        </p:nvSpPr>
        <p:spPr>
          <a:xfrm>
            <a:off x="819150" y="4295775"/>
            <a:ext cx="13525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主链路能力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3099572-A7DB-4B80-8AE8-C4B61904A3A4}"/>
              </a:ext>
            </a:extLst>
          </p:cNvPr>
          <p:cNvSpPr>
            <a:spLocks noGrp="1"/>
          </p:cNvSpPr>
          <p:nvPr/>
        </p:nvSpPr>
        <p:spPr>
          <a:xfrm>
            <a:off x="2457450" y="4286250"/>
            <a:ext cx="62674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标讯、项目、任务、文档、协作、结果闭环分批实现。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5CB0CFD-5E4E-4690-AD98-9740441585C7}"/>
              </a:ext>
            </a:extLst>
          </p:cNvPr>
          <p:cNvSpPr>
            <a:spLocks noGrp="1"/>
          </p:cNvSpPr>
          <p:nvPr/>
        </p:nvSpPr>
        <p:spPr>
          <a:xfrm>
            <a:off x="9029700" y="4286250"/>
            <a:ext cx="232410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版本提测说明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3924C49-5659-47E7-9AA6-60924ADF5418}"/>
              </a:ext>
            </a:extLst>
          </p:cNvPr>
          <p:cNvSpPr>
            <a:spLocks noGrp="1"/>
          </p:cNvSpPr>
          <p:nvPr/>
        </p:nvSpPr>
        <p:spPr>
          <a:xfrm>
            <a:off x="685800" y="4714875"/>
            <a:ext cx="10820400" cy="504825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7F4D92C-DDCA-4507-B0A2-BBCB837EA8C3}"/>
              </a:ext>
            </a:extLst>
          </p:cNvPr>
          <p:cNvSpPr>
            <a:spLocks noGrp="1"/>
          </p:cNvSpPr>
          <p:nvPr/>
        </p:nvSpPr>
        <p:spPr>
          <a:xfrm>
            <a:off x="2305050" y="4714875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AEFF0BB-1735-4FE2-A6FB-761C7C95C4AB}"/>
              </a:ext>
            </a:extLst>
          </p:cNvPr>
          <p:cNvSpPr>
            <a:spLocks noGrp="1"/>
          </p:cNvSpPr>
          <p:nvPr/>
        </p:nvSpPr>
        <p:spPr>
          <a:xfrm>
            <a:off x="8877300" y="4714875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CFF8446-7486-409A-8926-E5CC32925D5F}"/>
              </a:ext>
            </a:extLst>
          </p:cNvPr>
          <p:cNvSpPr>
            <a:spLocks noGrp="1"/>
          </p:cNvSpPr>
          <p:nvPr/>
        </p:nvSpPr>
        <p:spPr>
          <a:xfrm>
            <a:off x="819150" y="4800600"/>
            <a:ext cx="13525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资源能力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EE0404C-80B1-4CD8-8631-96CA855DB0DB}"/>
              </a:ext>
            </a:extLst>
          </p:cNvPr>
          <p:cNvSpPr>
            <a:spLocks noGrp="1"/>
          </p:cNvSpPr>
          <p:nvPr/>
        </p:nvSpPr>
        <p:spPr>
          <a:xfrm>
            <a:off x="2457450" y="4791075"/>
            <a:ext cx="62674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资质、案例、模板、费用、账户、证书和合同借阅。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70904D6-89DD-4B9C-9ABC-2A51026A2B83}"/>
              </a:ext>
            </a:extLst>
          </p:cNvPr>
          <p:cNvSpPr>
            <a:spLocks noGrp="1"/>
          </p:cNvSpPr>
          <p:nvPr/>
        </p:nvSpPr>
        <p:spPr>
          <a:xfrm>
            <a:off x="9029700" y="4791075"/>
            <a:ext cx="232410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阶段测试用例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305DE6A-3C30-4250-BBC5-58F0050C07C2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820400" cy="504825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11D22D1-C64C-4ABB-AFD6-738BD57E80CD}"/>
              </a:ext>
            </a:extLst>
          </p:cNvPr>
          <p:cNvSpPr>
            <a:spLocks noGrp="1"/>
          </p:cNvSpPr>
          <p:nvPr/>
        </p:nvSpPr>
        <p:spPr>
          <a:xfrm>
            <a:off x="2305050" y="5219700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597B93D-22A6-40CD-B7BB-0F7EAED80F45}"/>
              </a:ext>
            </a:extLst>
          </p:cNvPr>
          <p:cNvSpPr>
            <a:spLocks noGrp="1"/>
          </p:cNvSpPr>
          <p:nvPr/>
        </p:nvSpPr>
        <p:spPr>
          <a:xfrm>
            <a:off x="8877300" y="5219700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4793BE8-C038-4AA7-9E48-360461710038}"/>
              </a:ext>
            </a:extLst>
          </p:cNvPr>
          <p:cNvSpPr>
            <a:spLocks noGrp="1"/>
          </p:cNvSpPr>
          <p:nvPr/>
        </p:nvSpPr>
        <p:spPr>
          <a:xfrm>
            <a:off x="819150" y="5305425"/>
            <a:ext cx="13525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分析能力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C36D4CA-291F-4E22-A19A-AC087838B16A}"/>
              </a:ext>
            </a:extLst>
          </p:cNvPr>
          <p:cNvSpPr>
            <a:spLocks noGrp="1"/>
          </p:cNvSpPr>
          <p:nvPr/>
        </p:nvSpPr>
        <p:spPr>
          <a:xfrm>
            <a:off x="2457450" y="5295900"/>
            <a:ext cx="62674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驾驶舱、报表、ROI、中标率和竞对分析逐步提测。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8D25BEB-87A0-4B96-AE89-B7D8362C3B9C}"/>
              </a:ext>
            </a:extLst>
          </p:cNvPr>
          <p:cNvSpPr>
            <a:spLocks noGrp="1"/>
          </p:cNvSpPr>
          <p:nvPr/>
        </p:nvSpPr>
        <p:spPr>
          <a:xfrm>
            <a:off x="9029700" y="5295900"/>
            <a:ext cx="232410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分析提测记录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A5C257E-51F8-41CD-A455-1EED9C0C01DC}"/>
              </a:ext>
            </a:extLst>
          </p:cNvPr>
          <p:cNvSpPr>
            <a:spLocks noGrp="1"/>
          </p:cNvSpPr>
          <p:nvPr/>
        </p:nvSpPr>
        <p:spPr>
          <a:xfrm>
            <a:off x="685800" y="5724525"/>
            <a:ext cx="10820400" cy="504825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F729F7B-EC4F-4DB1-90CF-8E34BC6DEFC2}"/>
              </a:ext>
            </a:extLst>
          </p:cNvPr>
          <p:cNvSpPr>
            <a:spLocks noGrp="1"/>
          </p:cNvSpPr>
          <p:nvPr/>
        </p:nvSpPr>
        <p:spPr>
          <a:xfrm>
            <a:off x="2305050" y="5724525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C5079A09-02DF-42BE-BF39-B1A86E9D3F3F}"/>
              </a:ext>
            </a:extLst>
          </p:cNvPr>
          <p:cNvSpPr>
            <a:spLocks noGrp="1"/>
          </p:cNvSpPr>
          <p:nvPr/>
        </p:nvSpPr>
        <p:spPr>
          <a:xfrm>
            <a:off x="8877300" y="5724525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6CE1D78-4C68-4B42-B0BD-718E3BA95D31}"/>
              </a:ext>
            </a:extLst>
          </p:cNvPr>
          <p:cNvSpPr>
            <a:spLocks noGrp="1"/>
          </p:cNvSpPr>
          <p:nvPr/>
        </p:nvSpPr>
        <p:spPr>
          <a:xfrm>
            <a:off x="819150" y="5810250"/>
            <a:ext cx="13525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正式版收口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35B58FD-CC8B-4FDB-B459-C53F10B5CC87}"/>
              </a:ext>
            </a:extLst>
          </p:cNvPr>
          <p:cNvSpPr>
            <a:spLocks noGrp="1"/>
          </p:cNvSpPr>
          <p:nvPr/>
        </p:nvSpPr>
        <p:spPr>
          <a:xfrm>
            <a:off x="2457450" y="5800725"/>
            <a:ext cx="62674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隐藏未闭环入口，清理演示能力，守住上线范围。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64B82A2-AA2E-4328-9866-2B17860976A8}"/>
              </a:ext>
            </a:extLst>
          </p:cNvPr>
          <p:cNvSpPr>
            <a:spLocks noGrp="1"/>
          </p:cNvSpPr>
          <p:nvPr/>
        </p:nvSpPr>
        <p:spPr>
          <a:xfrm>
            <a:off x="9029700" y="5800725"/>
            <a:ext cx="232410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范围核查记录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FDA11D51-A079-40C5-88AA-40943F1DAE4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1729252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6F2A84AB-8E2B-412F-8CC5-D83FB87020B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02D875A8-8714-459D-9607-60D0065A0D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451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2179959-C50A-40B6-BAD6-980E4D25A2F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03 项目规划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F4C73B8-2DCC-49E6-BC91-8D9715E97267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12 / 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95FC72E-8603-4958-B1BF-6C70875058A5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22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6EA03E5-DB0F-4821-A722-4923118CB3F8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1F8A70"/>
          </a:solidFill>
          <a:ln w="1905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3FC1B46-843F-437A-ABDF-9706B31B2158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09625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集成联调：提前把外部依赖拉通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FFF1186-F191-43A3-8183-AD1F91DB22CA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接口、数据、SIT和缺陷回归一起形成上线证据。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97CAABF5-4967-42A3-B155-BDD55EF12245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371850"/>
          </a:xfrm>
          <a:prstGeom prst="roundRect">
            <a:avLst>
              <a:gd name="adj" fmla="val 2260"/>
            </a:avLst>
          </a:prstGeom>
          <a:solidFill>
            <a:srgbClr val="FFFFFF">
              <a:alpha val="90980"/>
            </a:srgbClr>
          </a:solidFill>
          <a:ln w="10478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B61019B-54E0-419F-8E41-12A070A4029C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42900"/>
          </a:xfrm>
          <a:prstGeom prst="rect">
            <a:avLst/>
          </a:prstGeom>
          <a:solidFill>
            <a:srgbClr val="0D5F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CE92BBF-5D17-48D4-95C7-A98B3E98FA42}"/>
              </a:ext>
            </a:extLst>
          </p:cNvPr>
          <p:cNvSpPr>
            <a:spLocks noGrp="1"/>
          </p:cNvSpPr>
          <p:nvPr/>
        </p:nvSpPr>
        <p:spPr>
          <a:xfrm>
            <a:off x="819150" y="2943225"/>
            <a:ext cx="1352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工作包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69FB72-5EC7-4413-ADF3-E8D6D26DF4F2}"/>
              </a:ext>
            </a:extLst>
          </p:cNvPr>
          <p:cNvSpPr>
            <a:spLocks noGrp="1"/>
          </p:cNvSpPr>
          <p:nvPr/>
        </p:nvSpPr>
        <p:spPr>
          <a:xfrm>
            <a:off x="2438400" y="2943225"/>
            <a:ext cx="6305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主要活动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2624BF0-D461-4FC1-B069-FD80B5ED0ADA}"/>
              </a:ext>
            </a:extLst>
          </p:cNvPr>
          <p:cNvSpPr>
            <a:spLocks noGrp="1"/>
          </p:cNvSpPr>
          <p:nvPr/>
        </p:nvSpPr>
        <p:spPr>
          <a:xfrm>
            <a:off x="9010650" y="2943225"/>
            <a:ext cx="2362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阶段输出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6C0E27B-6D44-4664-9E6F-F0CAFDEF6178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10820400" cy="605790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49073A3-AB78-417D-9AB4-ABC32FC67CDB}"/>
              </a:ext>
            </a:extLst>
          </p:cNvPr>
          <p:cNvSpPr>
            <a:spLocks noGrp="1"/>
          </p:cNvSpPr>
          <p:nvPr/>
        </p:nvSpPr>
        <p:spPr>
          <a:xfrm>
            <a:off x="2305050" y="320040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6E4237F-D1D8-4754-927D-3F9F97755150}"/>
              </a:ext>
            </a:extLst>
          </p:cNvPr>
          <p:cNvSpPr>
            <a:spLocks noGrp="1"/>
          </p:cNvSpPr>
          <p:nvPr/>
        </p:nvSpPr>
        <p:spPr>
          <a:xfrm>
            <a:off x="8877300" y="320040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EEBF698-D102-437D-A649-5333EB6AA31E}"/>
              </a:ext>
            </a:extLst>
          </p:cNvPr>
          <p:cNvSpPr>
            <a:spLocks noGrp="1"/>
          </p:cNvSpPr>
          <p:nvPr/>
        </p:nvSpPr>
        <p:spPr>
          <a:xfrm>
            <a:off x="819150" y="328612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接口准备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BF172AB-625C-477A-B744-7C725A15B7E3}"/>
              </a:ext>
            </a:extLst>
          </p:cNvPr>
          <p:cNvSpPr>
            <a:spLocks noGrp="1"/>
          </p:cNvSpPr>
          <p:nvPr/>
        </p:nvSpPr>
        <p:spPr>
          <a:xfrm>
            <a:off x="2457450" y="327660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先确认接口契约、鉴权方式、字段映射和测试环境。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75F6E61-B368-4A22-9418-4BC264340573}"/>
              </a:ext>
            </a:extLst>
          </p:cNvPr>
          <p:cNvSpPr>
            <a:spLocks noGrp="1"/>
          </p:cNvSpPr>
          <p:nvPr/>
        </p:nvSpPr>
        <p:spPr>
          <a:xfrm>
            <a:off x="9029700" y="327660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联调准备清单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1034464-99E2-4DB8-97EB-B803FB304536}"/>
              </a:ext>
            </a:extLst>
          </p:cNvPr>
          <p:cNvSpPr>
            <a:spLocks noGrp="1"/>
          </p:cNvSpPr>
          <p:nvPr/>
        </p:nvSpPr>
        <p:spPr>
          <a:xfrm>
            <a:off x="685800" y="3806190"/>
            <a:ext cx="10820400" cy="605790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2B111FE-6DEE-4116-8246-955E7C29A3A1}"/>
              </a:ext>
            </a:extLst>
          </p:cNvPr>
          <p:cNvSpPr>
            <a:spLocks noGrp="1"/>
          </p:cNvSpPr>
          <p:nvPr/>
        </p:nvSpPr>
        <p:spPr>
          <a:xfrm>
            <a:off x="2305050" y="380619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EB3AE9-F983-465F-9942-236330429339}"/>
              </a:ext>
            </a:extLst>
          </p:cNvPr>
          <p:cNvSpPr>
            <a:spLocks noGrp="1"/>
          </p:cNvSpPr>
          <p:nvPr/>
        </p:nvSpPr>
        <p:spPr>
          <a:xfrm>
            <a:off x="8877300" y="380619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AA1E7E5-943E-4380-915E-75AAE709E2EE}"/>
              </a:ext>
            </a:extLst>
          </p:cNvPr>
          <p:cNvSpPr>
            <a:spLocks noGrp="1"/>
          </p:cNvSpPr>
          <p:nvPr/>
        </p:nvSpPr>
        <p:spPr>
          <a:xfrm>
            <a:off x="819150" y="389191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分批联调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16585A4-F319-4B08-9864-13C77B4F4C4F}"/>
              </a:ext>
            </a:extLst>
          </p:cNvPr>
          <p:cNvSpPr>
            <a:spLocks noGrp="1"/>
          </p:cNvSpPr>
          <p:nvPr/>
        </p:nvSpPr>
        <p:spPr>
          <a:xfrm>
            <a:off x="2457450" y="388239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CRM、OA、组织架构、消息提醒按成熟度分批接入。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9FBB688-D5F3-4664-8495-7D245458AA37}"/>
              </a:ext>
            </a:extLst>
          </p:cNvPr>
          <p:cNvSpPr>
            <a:spLocks noGrp="1"/>
          </p:cNvSpPr>
          <p:nvPr/>
        </p:nvSpPr>
        <p:spPr>
          <a:xfrm>
            <a:off x="9029700" y="388239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接口联调记录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7092734-46A3-47D0-BB34-76976FB9E37C}"/>
              </a:ext>
            </a:extLst>
          </p:cNvPr>
          <p:cNvSpPr>
            <a:spLocks noGrp="1"/>
          </p:cNvSpPr>
          <p:nvPr/>
        </p:nvSpPr>
        <p:spPr>
          <a:xfrm>
            <a:off x="685800" y="4411980"/>
            <a:ext cx="10820400" cy="605790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8D8FAA9-325B-48F4-BD5D-5E25EB944FB8}"/>
              </a:ext>
            </a:extLst>
          </p:cNvPr>
          <p:cNvSpPr>
            <a:spLocks noGrp="1"/>
          </p:cNvSpPr>
          <p:nvPr/>
        </p:nvSpPr>
        <p:spPr>
          <a:xfrm>
            <a:off x="2305050" y="441198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B809861-CD4C-40DF-9C82-D227BB170C6B}"/>
              </a:ext>
            </a:extLst>
          </p:cNvPr>
          <p:cNvSpPr>
            <a:spLocks noGrp="1"/>
          </p:cNvSpPr>
          <p:nvPr/>
        </p:nvSpPr>
        <p:spPr>
          <a:xfrm>
            <a:off x="8877300" y="441198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174F030-956F-42C3-8B9A-0732643ED7D1}"/>
              </a:ext>
            </a:extLst>
          </p:cNvPr>
          <p:cNvSpPr>
            <a:spLocks noGrp="1"/>
          </p:cNvSpPr>
          <p:nvPr/>
        </p:nvSpPr>
        <p:spPr>
          <a:xfrm>
            <a:off x="819150" y="449770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数据初始化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3A88E01-972F-458D-9B80-40383CDB1BC4}"/>
              </a:ext>
            </a:extLst>
          </p:cNvPr>
          <p:cNvSpPr>
            <a:spLocks noGrp="1"/>
          </p:cNvSpPr>
          <p:nvPr/>
        </p:nvSpPr>
        <p:spPr>
          <a:xfrm>
            <a:off x="2457450" y="448818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组织、用户、角色、字典、模板、资质、案例、账户、证书导入。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0D43C5B-6A99-4A5B-9FF3-182061AEEE95}"/>
              </a:ext>
            </a:extLst>
          </p:cNvPr>
          <p:cNvSpPr>
            <a:spLocks noGrp="1"/>
          </p:cNvSpPr>
          <p:nvPr/>
        </p:nvSpPr>
        <p:spPr>
          <a:xfrm>
            <a:off x="9029700" y="448818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初始化执行记录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E583FD1-B452-4BCC-87E7-E0B762EE1A2E}"/>
              </a:ext>
            </a:extLst>
          </p:cNvPr>
          <p:cNvSpPr>
            <a:spLocks noGrp="1"/>
          </p:cNvSpPr>
          <p:nvPr/>
        </p:nvSpPr>
        <p:spPr>
          <a:xfrm>
            <a:off x="685800" y="5017770"/>
            <a:ext cx="10820400" cy="605790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F127806-CA5A-413F-8537-8E803C892AFC}"/>
              </a:ext>
            </a:extLst>
          </p:cNvPr>
          <p:cNvSpPr>
            <a:spLocks noGrp="1"/>
          </p:cNvSpPr>
          <p:nvPr/>
        </p:nvSpPr>
        <p:spPr>
          <a:xfrm>
            <a:off x="2305050" y="501777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4285928-461D-469B-8834-6F259E8331AD}"/>
              </a:ext>
            </a:extLst>
          </p:cNvPr>
          <p:cNvSpPr>
            <a:spLocks noGrp="1"/>
          </p:cNvSpPr>
          <p:nvPr/>
        </p:nvSpPr>
        <p:spPr>
          <a:xfrm>
            <a:off x="8877300" y="501777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5A52052-3B90-4AAB-A7FA-074470E68F89}"/>
              </a:ext>
            </a:extLst>
          </p:cNvPr>
          <p:cNvSpPr>
            <a:spLocks noGrp="1"/>
          </p:cNvSpPr>
          <p:nvPr/>
        </p:nvSpPr>
        <p:spPr>
          <a:xfrm>
            <a:off x="819150" y="510349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SIT测试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FFBD973-CD77-4B80-868F-B52E7F003FA4}"/>
              </a:ext>
            </a:extLst>
          </p:cNvPr>
          <p:cNvSpPr>
            <a:spLocks noGrp="1"/>
          </p:cNvSpPr>
          <p:nvPr/>
        </p:nvSpPr>
        <p:spPr>
          <a:xfrm>
            <a:off x="2457450" y="509397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主链路、权限、数据一致性、导出、提醒和日志审计一起验证。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138E800-FBC2-4585-BBD1-8246285ABE80}"/>
              </a:ext>
            </a:extLst>
          </p:cNvPr>
          <p:cNvSpPr>
            <a:spLocks noGrp="1"/>
          </p:cNvSpPr>
          <p:nvPr/>
        </p:nvSpPr>
        <p:spPr>
          <a:xfrm>
            <a:off x="9029700" y="509397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SIT测试报告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B8AED04-FCB3-4746-99C0-378918DA4535}"/>
              </a:ext>
            </a:extLst>
          </p:cNvPr>
          <p:cNvSpPr>
            <a:spLocks noGrp="1"/>
          </p:cNvSpPr>
          <p:nvPr/>
        </p:nvSpPr>
        <p:spPr>
          <a:xfrm>
            <a:off x="685800" y="5623560"/>
            <a:ext cx="10820400" cy="605790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23799B2-F99C-4B1D-8F3F-65DBF4BEB6DE}"/>
              </a:ext>
            </a:extLst>
          </p:cNvPr>
          <p:cNvSpPr>
            <a:spLocks noGrp="1"/>
          </p:cNvSpPr>
          <p:nvPr/>
        </p:nvSpPr>
        <p:spPr>
          <a:xfrm>
            <a:off x="2305050" y="562356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470237D-D349-4606-A2E9-1254A35D9689}"/>
              </a:ext>
            </a:extLst>
          </p:cNvPr>
          <p:cNvSpPr>
            <a:spLocks noGrp="1"/>
          </p:cNvSpPr>
          <p:nvPr/>
        </p:nvSpPr>
        <p:spPr>
          <a:xfrm>
            <a:off x="8877300" y="562356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E74607B-1443-40E3-B626-5568B9310370}"/>
              </a:ext>
            </a:extLst>
          </p:cNvPr>
          <p:cNvSpPr>
            <a:spLocks noGrp="1"/>
          </p:cNvSpPr>
          <p:nvPr/>
        </p:nvSpPr>
        <p:spPr>
          <a:xfrm>
            <a:off x="819150" y="570928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问题闭环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B5AB9E2-E41C-4676-A785-1DB8DCDCFA74}"/>
              </a:ext>
            </a:extLst>
          </p:cNvPr>
          <p:cNvSpPr>
            <a:spLocks noGrp="1"/>
          </p:cNvSpPr>
          <p:nvPr/>
        </p:nvSpPr>
        <p:spPr>
          <a:xfrm>
            <a:off x="2457450" y="569976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P0当天盯住，P1明确责任人、修复窗口和回归证据。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6A38FC2-DEC4-409D-9A0C-A0491EBA26D2}"/>
              </a:ext>
            </a:extLst>
          </p:cNvPr>
          <p:cNvSpPr>
            <a:spLocks noGrp="1"/>
          </p:cNvSpPr>
          <p:nvPr/>
        </p:nvSpPr>
        <p:spPr>
          <a:xfrm>
            <a:off x="9029700" y="569976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BUG修复清单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408FF29-C7D0-4A5B-88EB-8FE6BDD7191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2052569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6F2A84AB-8E2B-412F-8CC5-D83FB87020B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FCAE70BF-8502-46D9-AA62-0F900EFA6D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451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6A112B2-4147-44DF-93ED-3456ED73D1AD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03 项目规划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E39FE2-B576-4B4B-9BC4-E081B6EAB001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13 / 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3F0FAFA-1B1E-4D14-9532-45D1D202EBAD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22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2611C10-CD6F-4C11-A4D5-3C25DDC5B383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1F8A70"/>
          </a:solidFill>
          <a:ln w="1905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CD776FD-56F6-454D-90EB-B1D4ACCA8ABB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09625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UAT和培训：用真实场景做最后确认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197C6E0-A0D3-4EA4-98B2-9351B3503463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这一步不是走流程，是确认客户真的能用、敢上线。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9BAEF486-EDF5-4E21-AFFD-0772D1A8D664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371850"/>
          </a:xfrm>
          <a:prstGeom prst="roundRect">
            <a:avLst>
              <a:gd name="adj" fmla="val 2260"/>
            </a:avLst>
          </a:prstGeom>
          <a:solidFill>
            <a:srgbClr val="FFFFFF">
              <a:alpha val="90980"/>
            </a:srgbClr>
          </a:solidFill>
          <a:ln w="10478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0A04C5B-B474-4459-A057-E310F0EEACEA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42900"/>
          </a:xfrm>
          <a:prstGeom prst="rect">
            <a:avLst/>
          </a:prstGeom>
          <a:solidFill>
            <a:srgbClr val="0D5F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1540641-5259-4A45-859E-79CD2AEA1561}"/>
              </a:ext>
            </a:extLst>
          </p:cNvPr>
          <p:cNvSpPr>
            <a:spLocks noGrp="1"/>
          </p:cNvSpPr>
          <p:nvPr/>
        </p:nvSpPr>
        <p:spPr>
          <a:xfrm>
            <a:off x="819150" y="2943225"/>
            <a:ext cx="1352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工作包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8812B3D-EB4B-4699-92F5-93366BC6D82E}"/>
              </a:ext>
            </a:extLst>
          </p:cNvPr>
          <p:cNvSpPr>
            <a:spLocks noGrp="1"/>
          </p:cNvSpPr>
          <p:nvPr/>
        </p:nvSpPr>
        <p:spPr>
          <a:xfrm>
            <a:off x="2438400" y="2943225"/>
            <a:ext cx="6305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主要活动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0AB11AE-6A21-47E7-A50E-50AA3D388E11}"/>
              </a:ext>
            </a:extLst>
          </p:cNvPr>
          <p:cNvSpPr>
            <a:spLocks noGrp="1"/>
          </p:cNvSpPr>
          <p:nvPr/>
        </p:nvSpPr>
        <p:spPr>
          <a:xfrm>
            <a:off x="9010650" y="2943225"/>
            <a:ext cx="2362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阶段输出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26B75C6-D063-4454-B804-CB46483C941E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10820400" cy="605790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72286CF-49E6-4243-BD6C-F0170E4777A2}"/>
              </a:ext>
            </a:extLst>
          </p:cNvPr>
          <p:cNvSpPr>
            <a:spLocks noGrp="1"/>
          </p:cNvSpPr>
          <p:nvPr/>
        </p:nvSpPr>
        <p:spPr>
          <a:xfrm>
            <a:off x="2305050" y="320040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77FEB7A-A8D4-412B-8174-64A23AB64DBA}"/>
              </a:ext>
            </a:extLst>
          </p:cNvPr>
          <p:cNvSpPr>
            <a:spLocks noGrp="1"/>
          </p:cNvSpPr>
          <p:nvPr/>
        </p:nvSpPr>
        <p:spPr>
          <a:xfrm>
            <a:off x="8877300" y="320040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28FE833-CE13-418F-B67F-D362347B99A0}"/>
              </a:ext>
            </a:extLst>
          </p:cNvPr>
          <p:cNvSpPr>
            <a:spLocks noGrp="1"/>
          </p:cNvSpPr>
          <p:nvPr/>
        </p:nvSpPr>
        <p:spPr>
          <a:xfrm>
            <a:off x="819150" y="328612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UAT场景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47E8141-9782-4BD0-A56D-2DF1D31A6726}"/>
              </a:ext>
            </a:extLst>
          </p:cNvPr>
          <p:cNvSpPr>
            <a:spLocks noGrp="1"/>
          </p:cNvSpPr>
          <p:nvPr/>
        </p:nvSpPr>
        <p:spPr>
          <a:xfrm>
            <a:off x="2457450" y="327660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用真实场景跑认证、标讯、项目、知识库、资源和驾驶舱。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2706F9B-C119-42CF-A7F0-01E366DDD608}"/>
              </a:ext>
            </a:extLst>
          </p:cNvPr>
          <p:cNvSpPr>
            <a:spLocks noGrp="1"/>
          </p:cNvSpPr>
          <p:nvPr/>
        </p:nvSpPr>
        <p:spPr>
          <a:xfrm>
            <a:off x="9029700" y="327660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UAT计划与记录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2C6D721-1825-42AD-8AAF-7AC736E843C3}"/>
              </a:ext>
            </a:extLst>
          </p:cNvPr>
          <p:cNvSpPr>
            <a:spLocks noGrp="1"/>
          </p:cNvSpPr>
          <p:nvPr/>
        </p:nvSpPr>
        <p:spPr>
          <a:xfrm>
            <a:off x="685800" y="3806190"/>
            <a:ext cx="10820400" cy="605790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82246A1-0970-4C36-AE13-DC7E22984675}"/>
              </a:ext>
            </a:extLst>
          </p:cNvPr>
          <p:cNvSpPr>
            <a:spLocks noGrp="1"/>
          </p:cNvSpPr>
          <p:nvPr/>
        </p:nvSpPr>
        <p:spPr>
          <a:xfrm>
            <a:off x="2305050" y="380619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8AB5C0B-54DE-4933-BCC4-930B00D52061}"/>
              </a:ext>
            </a:extLst>
          </p:cNvPr>
          <p:cNvSpPr>
            <a:spLocks noGrp="1"/>
          </p:cNvSpPr>
          <p:nvPr/>
        </p:nvSpPr>
        <p:spPr>
          <a:xfrm>
            <a:off x="8877300" y="380619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69941FA-7C1A-4A5E-8D42-64C491B50527}"/>
              </a:ext>
            </a:extLst>
          </p:cNvPr>
          <p:cNvSpPr>
            <a:spLocks noGrp="1"/>
          </p:cNvSpPr>
          <p:nvPr/>
        </p:nvSpPr>
        <p:spPr>
          <a:xfrm>
            <a:off x="819150" y="389191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问题回归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6D445FD-0F46-48EC-B58E-E279A5A9D70C}"/>
              </a:ext>
            </a:extLst>
          </p:cNvPr>
          <p:cNvSpPr>
            <a:spLocks noGrp="1"/>
          </p:cNvSpPr>
          <p:nvPr/>
        </p:nvSpPr>
        <p:spPr>
          <a:xfrm>
            <a:off x="2457450" y="388239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问题登记、分级处理、修复回归、双方确认关闭。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964CD07-32D9-44E9-96CC-0DE16AFAE6D8}"/>
              </a:ext>
            </a:extLst>
          </p:cNvPr>
          <p:cNvSpPr>
            <a:spLocks noGrp="1"/>
          </p:cNvSpPr>
          <p:nvPr/>
        </p:nvSpPr>
        <p:spPr>
          <a:xfrm>
            <a:off x="9029700" y="388239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回归报告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6723E10-BDF6-4BD4-8906-A524991FF0BD}"/>
              </a:ext>
            </a:extLst>
          </p:cNvPr>
          <p:cNvSpPr>
            <a:spLocks noGrp="1"/>
          </p:cNvSpPr>
          <p:nvPr/>
        </p:nvSpPr>
        <p:spPr>
          <a:xfrm>
            <a:off x="685800" y="4411980"/>
            <a:ext cx="10820400" cy="605790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886C998-7E1D-4C91-A9EC-DDD6F976E266}"/>
              </a:ext>
            </a:extLst>
          </p:cNvPr>
          <p:cNvSpPr>
            <a:spLocks noGrp="1"/>
          </p:cNvSpPr>
          <p:nvPr/>
        </p:nvSpPr>
        <p:spPr>
          <a:xfrm>
            <a:off x="2305050" y="441198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E5BC36D-6B0B-4FE9-93BE-128A69A74106}"/>
              </a:ext>
            </a:extLst>
          </p:cNvPr>
          <p:cNvSpPr>
            <a:spLocks noGrp="1"/>
          </p:cNvSpPr>
          <p:nvPr/>
        </p:nvSpPr>
        <p:spPr>
          <a:xfrm>
            <a:off x="8877300" y="441198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182B377-BCBB-4CB8-B768-3CD03ED12975}"/>
              </a:ext>
            </a:extLst>
          </p:cNvPr>
          <p:cNvSpPr>
            <a:spLocks noGrp="1"/>
          </p:cNvSpPr>
          <p:nvPr/>
        </p:nvSpPr>
        <p:spPr>
          <a:xfrm>
            <a:off x="819150" y="449770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培训交接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BC5F481-4BAC-4CC4-9C1E-FE5BC35DDAA7}"/>
              </a:ext>
            </a:extLst>
          </p:cNvPr>
          <p:cNvSpPr>
            <a:spLocks noGrp="1"/>
          </p:cNvSpPr>
          <p:nvPr/>
        </p:nvSpPr>
        <p:spPr>
          <a:xfrm>
            <a:off x="2457450" y="448818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管理员、关键用户、业务用户分层培训，现场答疑。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02C8B44-5B5C-4CA4-B389-F7609F043A77}"/>
              </a:ext>
            </a:extLst>
          </p:cNvPr>
          <p:cNvSpPr>
            <a:spLocks noGrp="1"/>
          </p:cNvSpPr>
          <p:nvPr/>
        </p:nvSpPr>
        <p:spPr>
          <a:xfrm>
            <a:off x="9029700" y="448818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课件、签到记录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1044402-CBBA-4B2D-81EC-1E90822AD016}"/>
              </a:ext>
            </a:extLst>
          </p:cNvPr>
          <p:cNvSpPr>
            <a:spLocks noGrp="1"/>
          </p:cNvSpPr>
          <p:nvPr/>
        </p:nvSpPr>
        <p:spPr>
          <a:xfrm>
            <a:off x="685800" y="5017770"/>
            <a:ext cx="10820400" cy="605790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C5AA806-F50F-47AC-9303-54CD1E793611}"/>
              </a:ext>
            </a:extLst>
          </p:cNvPr>
          <p:cNvSpPr>
            <a:spLocks noGrp="1"/>
          </p:cNvSpPr>
          <p:nvPr/>
        </p:nvSpPr>
        <p:spPr>
          <a:xfrm>
            <a:off x="2305050" y="501777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9E0D3E9-D1FC-43FB-A2B0-0F0AB911AEA7}"/>
              </a:ext>
            </a:extLst>
          </p:cNvPr>
          <p:cNvSpPr>
            <a:spLocks noGrp="1"/>
          </p:cNvSpPr>
          <p:nvPr/>
        </p:nvSpPr>
        <p:spPr>
          <a:xfrm>
            <a:off x="8877300" y="501777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8F71D6C-190F-45B3-B0B8-111BA832F591}"/>
              </a:ext>
            </a:extLst>
          </p:cNvPr>
          <p:cNvSpPr>
            <a:spLocks noGrp="1"/>
          </p:cNvSpPr>
          <p:nvPr/>
        </p:nvSpPr>
        <p:spPr>
          <a:xfrm>
            <a:off x="819150" y="510349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上线演练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B32284D-52B8-46C8-97EE-2805B73EB831}"/>
              </a:ext>
            </a:extLst>
          </p:cNvPr>
          <p:cNvSpPr>
            <a:spLocks noGrp="1"/>
          </p:cNvSpPr>
          <p:nvPr/>
        </p:nvSpPr>
        <p:spPr>
          <a:xfrm>
            <a:off x="2457450" y="509397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提前演练发布、备份、回滚、健康检查和应急联系人。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78E6BF1-E58A-4C43-ABE1-C8140C3704D0}"/>
              </a:ext>
            </a:extLst>
          </p:cNvPr>
          <p:cNvSpPr>
            <a:spLocks noGrp="1"/>
          </p:cNvSpPr>
          <p:nvPr/>
        </p:nvSpPr>
        <p:spPr>
          <a:xfrm>
            <a:off x="9029700" y="509397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演练报告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8C9AECB-8CB0-4E06-970D-B59985A3BBDE}"/>
              </a:ext>
            </a:extLst>
          </p:cNvPr>
          <p:cNvSpPr>
            <a:spLocks noGrp="1"/>
          </p:cNvSpPr>
          <p:nvPr/>
        </p:nvSpPr>
        <p:spPr>
          <a:xfrm>
            <a:off x="685800" y="5623560"/>
            <a:ext cx="10820400" cy="605790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608F940-7CDC-47CC-932E-08FD796A17A0}"/>
              </a:ext>
            </a:extLst>
          </p:cNvPr>
          <p:cNvSpPr>
            <a:spLocks noGrp="1"/>
          </p:cNvSpPr>
          <p:nvPr/>
        </p:nvSpPr>
        <p:spPr>
          <a:xfrm>
            <a:off x="2305050" y="562356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5F6226A-D361-4291-B2B7-4D36F5FB4F47}"/>
              </a:ext>
            </a:extLst>
          </p:cNvPr>
          <p:cNvSpPr>
            <a:spLocks noGrp="1"/>
          </p:cNvSpPr>
          <p:nvPr/>
        </p:nvSpPr>
        <p:spPr>
          <a:xfrm>
            <a:off x="8877300" y="562356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3568D30-3086-4BC3-9A8A-729ACD93AE7A}"/>
              </a:ext>
            </a:extLst>
          </p:cNvPr>
          <p:cNvSpPr>
            <a:spLocks noGrp="1"/>
          </p:cNvSpPr>
          <p:nvPr/>
        </p:nvSpPr>
        <p:spPr>
          <a:xfrm>
            <a:off x="819150" y="570928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上线门禁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051E004-8FA8-4477-A36A-E19DC6DBB5FF}"/>
              </a:ext>
            </a:extLst>
          </p:cNvPr>
          <p:cNvSpPr>
            <a:spLocks noGrp="1"/>
          </p:cNvSpPr>
          <p:nvPr/>
        </p:nvSpPr>
        <p:spPr>
          <a:xfrm>
            <a:off x="2457450" y="569976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UAT签字、P0清零、P1有计划、上线检查表通过。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1B6A974-8B34-4A71-BF2D-ADF783CD6DBD}"/>
              </a:ext>
            </a:extLst>
          </p:cNvPr>
          <p:cNvSpPr>
            <a:spLocks noGrp="1"/>
          </p:cNvSpPr>
          <p:nvPr/>
        </p:nvSpPr>
        <p:spPr>
          <a:xfrm>
            <a:off x="9029700" y="569976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上线确认材料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8F70DB6-5D8C-4102-A7B6-EA67737E446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21020865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6F2A84AB-8E2B-412F-8CC5-D83FB87020B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0009C736-9709-484B-844B-7E4FCA5A6F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4A76177-2F45-470C-BDF6-0CB3A8D00FD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04 项目组织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73D9642-B661-422A-9282-8939BF1C9286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14 / 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F5E1F5C-0202-4B44-8F35-F0A168FF0C39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22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6EDE53A0-EAFC-41F2-8F65-7ED93660E7EC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1F8A70"/>
          </a:solidFill>
          <a:ln w="1905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52EF301-D8DB-44AA-A5EF-96B3FB5255E2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2390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项目组织：有人拍板，也有人推进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E011D93-4F1B-4C3D-8D36-48CEA0C03184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领导小组管方向，PMO管节奏，专题小组管落地。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03A3C515-F76A-4EC0-8993-75FD7B3E1017}"/>
              </a:ext>
            </a:extLst>
          </p:cNvPr>
          <p:cNvSpPr>
            <a:spLocks noGrp="1"/>
          </p:cNvSpPr>
          <p:nvPr/>
        </p:nvSpPr>
        <p:spPr>
          <a:xfrm>
            <a:off x="800100" y="4057650"/>
            <a:ext cx="3384550" cy="1676400"/>
          </a:xfrm>
          <a:prstGeom prst="roundRect">
            <a:avLst>
              <a:gd name="adj" fmla="val 4545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39DCEEA-312C-46A7-AF1D-9E986069FB6E}"/>
              </a:ext>
            </a:extLst>
          </p:cNvPr>
          <p:cNvSpPr>
            <a:spLocks noGrp="1"/>
          </p:cNvSpPr>
          <p:nvPr/>
        </p:nvSpPr>
        <p:spPr>
          <a:xfrm>
            <a:off x="800100" y="4057650"/>
            <a:ext cx="76200" cy="1676400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652F0AF-7B92-4A35-9AA7-4C8EFB516F81}"/>
              </a:ext>
            </a:extLst>
          </p:cNvPr>
          <p:cNvSpPr>
            <a:spLocks noGrp="1"/>
          </p:cNvSpPr>
          <p:nvPr/>
        </p:nvSpPr>
        <p:spPr>
          <a:xfrm>
            <a:off x="1009650" y="4286250"/>
            <a:ext cx="514350" cy="514350"/>
          </a:xfrm>
          <a:prstGeom prst="ellipse">
            <a:avLst/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6191531-06F8-4964-BD9B-99D4513AA1FA}"/>
              </a:ext>
            </a:extLst>
          </p:cNvPr>
          <p:cNvSpPr>
            <a:spLocks noGrp="1"/>
          </p:cNvSpPr>
          <p:nvPr/>
        </p:nvSpPr>
        <p:spPr>
          <a:xfrm>
            <a:off x="1162050" y="4562475"/>
            <a:ext cx="57150" cy="114300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24B7062-8967-4570-BB29-DDD41513CFFF}"/>
              </a:ext>
            </a:extLst>
          </p:cNvPr>
          <p:cNvSpPr>
            <a:spLocks noGrp="1"/>
          </p:cNvSpPr>
          <p:nvPr/>
        </p:nvSpPr>
        <p:spPr>
          <a:xfrm>
            <a:off x="1247775" y="4486275"/>
            <a:ext cx="57150" cy="190500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35BA864-8A80-4B5F-B645-8954B8062493}"/>
              </a:ext>
            </a:extLst>
          </p:cNvPr>
          <p:cNvSpPr>
            <a:spLocks noGrp="1"/>
          </p:cNvSpPr>
          <p:nvPr/>
        </p:nvSpPr>
        <p:spPr>
          <a:xfrm>
            <a:off x="1333500" y="4419600"/>
            <a:ext cx="57150" cy="257175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15845FA-B4D7-4812-AB70-1448F01A77FF}"/>
              </a:ext>
            </a:extLst>
          </p:cNvPr>
          <p:cNvSpPr>
            <a:spLocks noGrp="1"/>
          </p:cNvSpPr>
          <p:nvPr/>
        </p:nvSpPr>
        <p:spPr>
          <a:xfrm>
            <a:off x="1638300" y="42672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D5F52"/>
                </a:solidFill>
              </a:defRPr>
            </a:pPr>
            <a:r>
              <a:rPr sz="1125" b="1">
                <a:solidFill>
                  <a:srgbClr val="0D5F52"/>
                </a:solidFill>
              </a:rPr>
              <a:t>领导小组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155C83A-BF41-4E1F-BDD9-3C0F28B3F5A2}"/>
              </a:ext>
            </a:extLst>
          </p:cNvPr>
          <p:cNvSpPr>
            <a:spLocks noGrp="1"/>
          </p:cNvSpPr>
          <p:nvPr/>
        </p:nvSpPr>
        <p:spPr>
          <a:xfrm>
            <a:off x="1028700" y="4876800"/>
            <a:ext cx="29273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2233A"/>
                </a:solidFill>
              </a:defRPr>
            </a:pPr>
            <a:r>
              <a:rPr sz="1275" b="0">
                <a:solidFill>
                  <a:srgbClr val="12233A"/>
                </a:solidFill>
              </a:rPr>
              <a:t>负责方向、资源和关键决策，遇到重大问题能及时拍板。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6C256288-707C-4426-A967-EBAD3574AB48}"/>
              </a:ext>
            </a:extLst>
          </p:cNvPr>
          <p:cNvSpPr>
            <a:spLocks noGrp="1"/>
          </p:cNvSpPr>
          <p:nvPr/>
        </p:nvSpPr>
        <p:spPr>
          <a:xfrm>
            <a:off x="4413250" y="4057650"/>
            <a:ext cx="3384550" cy="1676400"/>
          </a:xfrm>
          <a:prstGeom prst="roundRect">
            <a:avLst>
              <a:gd name="adj" fmla="val 4545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6C18EBD-0E94-4390-B38C-DF1EF0370826}"/>
              </a:ext>
            </a:extLst>
          </p:cNvPr>
          <p:cNvSpPr>
            <a:spLocks noGrp="1"/>
          </p:cNvSpPr>
          <p:nvPr/>
        </p:nvSpPr>
        <p:spPr>
          <a:xfrm>
            <a:off x="4413250" y="4057650"/>
            <a:ext cx="76200" cy="1676400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995DC673-C1B7-4F31-94E8-86E464877803}"/>
              </a:ext>
            </a:extLst>
          </p:cNvPr>
          <p:cNvSpPr>
            <a:spLocks noGrp="1"/>
          </p:cNvSpPr>
          <p:nvPr/>
        </p:nvSpPr>
        <p:spPr>
          <a:xfrm>
            <a:off x="4622800" y="4286250"/>
            <a:ext cx="514350" cy="514350"/>
          </a:xfrm>
          <a:prstGeom prst="ellipse">
            <a:avLst/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EA4E8E45-E7DB-4E3E-BB81-5CEADEA5BF79}"/>
              </a:ext>
            </a:extLst>
          </p:cNvPr>
          <p:cNvSpPr>
            <a:spLocks noGrp="1"/>
          </p:cNvSpPr>
          <p:nvPr/>
        </p:nvSpPr>
        <p:spPr>
          <a:xfrm>
            <a:off x="4746625" y="4457700"/>
            <a:ext cx="95250" cy="95250"/>
          </a:xfrm>
          <a:prstGeom prst="ellipse">
            <a:avLst/>
          </a:prstGeom>
          <a:solidFill>
            <a:srgbClr val="1F8A70"/>
          </a:solidFill>
          <a:ln w="9525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1AB0517A-EF82-4552-8468-E492BC430B7C}"/>
              </a:ext>
            </a:extLst>
          </p:cNvPr>
          <p:cNvSpPr>
            <a:spLocks noGrp="1"/>
          </p:cNvSpPr>
          <p:nvPr/>
        </p:nvSpPr>
        <p:spPr>
          <a:xfrm>
            <a:off x="4918075" y="4543425"/>
            <a:ext cx="95250" cy="95250"/>
          </a:xfrm>
          <a:prstGeom prst="ellipse">
            <a:avLst/>
          </a:prstGeom>
          <a:solidFill>
            <a:srgbClr val="1F8A70"/>
          </a:solidFill>
          <a:ln w="9525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384F18B-50E6-4947-A753-77FD5EB7823E}"/>
              </a:ext>
            </a:extLst>
          </p:cNvPr>
          <p:cNvSpPr>
            <a:spLocks noGrp="1"/>
          </p:cNvSpPr>
          <p:nvPr/>
        </p:nvSpPr>
        <p:spPr>
          <a:xfrm>
            <a:off x="4832350" y="4524375"/>
            <a:ext cx="180975" cy="28575"/>
          </a:xfrm>
          <a:prstGeom prst="rect">
            <a:avLst/>
          </a:prstGeom>
          <a:solidFill>
            <a:srgbClr val="122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3DFDE79-94CE-4CE5-863F-03078E1AE411}"/>
              </a:ext>
            </a:extLst>
          </p:cNvPr>
          <p:cNvSpPr>
            <a:spLocks noGrp="1"/>
          </p:cNvSpPr>
          <p:nvPr/>
        </p:nvSpPr>
        <p:spPr>
          <a:xfrm>
            <a:off x="5251450" y="42672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D5F52"/>
                </a:solidFill>
              </a:defRPr>
            </a:pPr>
            <a:r>
              <a:rPr sz="1125" b="1">
                <a:solidFill>
                  <a:srgbClr val="0D5F52"/>
                </a:solidFill>
              </a:rPr>
              <a:t>PMO统筹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677F76F-C56A-4E47-90AA-FC4823820F0A}"/>
              </a:ext>
            </a:extLst>
          </p:cNvPr>
          <p:cNvSpPr>
            <a:spLocks noGrp="1"/>
          </p:cNvSpPr>
          <p:nvPr/>
        </p:nvSpPr>
        <p:spPr>
          <a:xfrm>
            <a:off x="4641850" y="4876800"/>
            <a:ext cx="29273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2233A"/>
                </a:solidFill>
              </a:defRPr>
            </a:pPr>
            <a:r>
              <a:rPr sz="1275" b="0">
                <a:solidFill>
                  <a:srgbClr val="12233A"/>
                </a:solidFill>
              </a:rPr>
              <a:t>负责计划、周报、例会、风险和问题升级，保证节奏不散。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FA69C2E6-2F5E-451F-9117-E29C85CA91DB}"/>
              </a:ext>
            </a:extLst>
          </p:cNvPr>
          <p:cNvSpPr>
            <a:spLocks noGrp="1"/>
          </p:cNvSpPr>
          <p:nvPr/>
        </p:nvSpPr>
        <p:spPr>
          <a:xfrm>
            <a:off x="8026400" y="4057650"/>
            <a:ext cx="3384550" cy="1676400"/>
          </a:xfrm>
          <a:prstGeom prst="roundRect">
            <a:avLst>
              <a:gd name="adj" fmla="val 4545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292A078-3177-4F45-99D8-897EA5F69775}"/>
              </a:ext>
            </a:extLst>
          </p:cNvPr>
          <p:cNvSpPr>
            <a:spLocks noGrp="1"/>
          </p:cNvSpPr>
          <p:nvPr/>
        </p:nvSpPr>
        <p:spPr>
          <a:xfrm>
            <a:off x="8026400" y="4057650"/>
            <a:ext cx="76200" cy="1676400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91B14939-1D27-419F-8179-571EC53F7370}"/>
              </a:ext>
            </a:extLst>
          </p:cNvPr>
          <p:cNvSpPr>
            <a:spLocks noGrp="1"/>
          </p:cNvSpPr>
          <p:nvPr/>
        </p:nvSpPr>
        <p:spPr>
          <a:xfrm>
            <a:off x="8235950" y="4286250"/>
            <a:ext cx="514350" cy="514350"/>
          </a:xfrm>
          <a:prstGeom prst="ellipse">
            <a:avLst/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4B8B1C06-A074-430B-A10F-A3AF9040895B}"/>
              </a:ext>
            </a:extLst>
          </p:cNvPr>
          <p:cNvSpPr>
            <a:spLocks noGrp="1"/>
          </p:cNvSpPr>
          <p:nvPr/>
        </p:nvSpPr>
        <p:spPr>
          <a:xfrm>
            <a:off x="8359775" y="442912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1F8A70"/>
          </a:solidFill>
          <a:ln w="9525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5CDA60DC-3B82-4363-8014-3DDA60237B1B}"/>
              </a:ext>
            </a:extLst>
          </p:cNvPr>
          <p:cNvSpPr>
            <a:spLocks noGrp="1"/>
          </p:cNvSpPr>
          <p:nvPr/>
        </p:nvSpPr>
        <p:spPr>
          <a:xfrm>
            <a:off x="8407400" y="451485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D6A23A"/>
          </a:solidFill>
          <a:ln w="9525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4AD8AFA1-EC3C-4FC6-8D54-00EF96BC1C91}"/>
              </a:ext>
            </a:extLst>
          </p:cNvPr>
          <p:cNvSpPr>
            <a:spLocks noGrp="1"/>
          </p:cNvSpPr>
          <p:nvPr/>
        </p:nvSpPr>
        <p:spPr>
          <a:xfrm>
            <a:off x="8455025" y="460057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D95F45"/>
          </a:solidFill>
          <a:ln w="9525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CA78910-4D6B-4238-8D3B-9EEB75620B2C}"/>
              </a:ext>
            </a:extLst>
          </p:cNvPr>
          <p:cNvSpPr>
            <a:spLocks noGrp="1"/>
          </p:cNvSpPr>
          <p:nvPr/>
        </p:nvSpPr>
        <p:spPr>
          <a:xfrm>
            <a:off x="8864600" y="42672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D5F52"/>
                </a:solidFill>
              </a:defRPr>
            </a:pPr>
            <a:r>
              <a:rPr sz="1125" b="1">
                <a:solidFill>
                  <a:srgbClr val="0D5F52"/>
                </a:solidFill>
              </a:rPr>
              <a:t>执行小组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DDC27B0-9FE6-4DAB-833F-6FC27F6851E0}"/>
              </a:ext>
            </a:extLst>
          </p:cNvPr>
          <p:cNvSpPr>
            <a:spLocks noGrp="1"/>
          </p:cNvSpPr>
          <p:nvPr/>
        </p:nvSpPr>
        <p:spPr>
          <a:xfrm>
            <a:off x="8255000" y="4876800"/>
            <a:ext cx="29273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2233A"/>
                </a:solidFill>
              </a:defRPr>
            </a:pPr>
            <a:r>
              <a:rPr sz="1275" b="0">
                <a:solidFill>
                  <a:srgbClr val="12233A"/>
                </a:solidFill>
              </a:rPr>
              <a:t>业务蓝图、技术集成、测试验收、上线运维分专题推进。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B798F2A-1BD2-4595-B594-DC45C5BA19A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10968009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5">
            <a:extLst>
              <a:ext uri="{FF2B5EF4-FFF2-40B4-BE49-F238E27FC236}">
                <a16:creationId xmlns:a16="http://schemas.microsoft.com/office/drawing/2014/main" id="{6F2A84AB-8E2B-412F-8CC5-D83FB87020B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20FB157-8161-4E83-A8C6-A73BE521D7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451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D71134-D12A-4987-B792-1F53F9B73E42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04 项目组织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4EE921D-A280-4FD8-A0CC-4DFF55E35DB6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15 / 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C057344-C903-449D-B0D2-94C1B5747714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22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E51F40B9-4897-4BED-B771-3D3F43F5F2AE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1F8A70"/>
          </a:solidFill>
          <a:ln w="1905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4EC964-94EA-42BD-8678-5553AA05AE0F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09625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双方职责：启动后一周内对到人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549C6DB-437B-40AE-A28D-E1BCD1217BCE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计划能不能跑起来，关键看人、数据、环境、接口能不能及时到位。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A8C78C79-199E-4F3C-8158-700B363688B2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371850"/>
          </a:xfrm>
          <a:prstGeom prst="roundRect">
            <a:avLst>
              <a:gd name="adj" fmla="val 2260"/>
            </a:avLst>
          </a:prstGeom>
          <a:solidFill>
            <a:srgbClr val="FFFFFF">
              <a:alpha val="90980"/>
            </a:srgbClr>
          </a:solidFill>
          <a:ln w="10478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49A12D6-51BC-43EA-8BDA-CA31624FF29D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42900"/>
          </a:xfrm>
          <a:prstGeom prst="rect">
            <a:avLst/>
          </a:prstGeom>
          <a:solidFill>
            <a:srgbClr val="0D5F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C852BC5-F45A-4908-B835-98FA41B1E72A}"/>
              </a:ext>
            </a:extLst>
          </p:cNvPr>
          <p:cNvSpPr>
            <a:spLocks noGrp="1"/>
          </p:cNvSpPr>
          <p:nvPr/>
        </p:nvSpPr>
        <p:spPr>
          <a:xfrm>
            <a:off x="819150" y="2943225"/>
            <a:ext cx="1352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工作包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B493F1F-BEAC-40B1-888C-54406801DE3B}"/>
              </a:ext>
            </a:extLst>
          </p:cNvPr>
          <p:cNvSpPr>
            <a:spLocks noGrp="1"/>
          </p:cNvSpPr>
          <p:nvPr/>
        </p:nvSpPr>
        <p:spPr>
          <a:xfrm>
            <a:off x="2438400" y="2943225"/>
            <a:ext cx="6305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主要活动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D63EFA9-9FC1-427B-AD5F-B5252CD1E10B}"/>
              </a:ext>
            </a:extLst>
          </p:cNvPr>
          <p:cNvSpPr>
            <a:spLocks noGrp="1"/>
          </p:cNvSpPr>
          <p:nvPr/>
        </p:nvSpPr>
        <p:spPr>
          <a:xfrm>
            <a:off x="9010650" y="2943225"/>
            <a:ext cx="2362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阶段输出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F05DCE0-04BF-4EF8-B27A-3CDD96C21D6B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10820400" cy="504825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3B38F66-902F-454C-B266-633C5D957DBF}"/>
              </a:ext>
            </a:extLst>
          </p:cNvPr>
          <p:cNvSpPr>
            <a:spLocks noGrp="1"/>
          </p:cNvSpPr>
          <p:nvPr/>
        </p:nvSpPr>
        <p:spPr>
          <a:xfrm>
            <a:off x="2305050" y="3200400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D5BE4D7-9D41-4B9F-9BB8-9E98E2A7683A}"/>
              </a:ext>
            </a:extLst>
          </p:cNvPr>
          <p:cNvSpPr>
            <a:spLocks noGrp="1"/>
          </p:cNvSpPr>
          <p:nvPr/>
        </p:nvSpPr>
        <p:spPr>
          <a:xfrm>
            <a:off x="8877300" y="3200400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F091C56-341D-4C2F-9DE1-4811B7E3310F}"/>
              </a:ext>
            </a:extLst>
          </p:cNvPr>
          <p:cNvSpPr>
            <a:spLocks noGrp="1"/>
          </p:cNvSpPr>
          <p:nvPr/>
        </p:nvSpPr>
        <p:spPr>
          <a:xfrm>
            <a:off x="819150" y="3286125"/>
            <a:ext cx="13525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甲方负责人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8658714-22C6-4677-BEB6-1F0C9EAA7DB4}"/>
              </a:ext>
            </a:extLst>
          </p:cNvPr>
          <p:cNvSpPr>
            <a:spLocks noGrp="1"/>
          </p:cNvSpPr>
          <p:nvPr/>
        </p:nvSpPr>
        <p:spPr>
          <a:xfrm>
            <a:off x="2457450" y="3276600"/>
            <a:ext cx="62674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关键决策、资源协调、阶段确认和重大问题升级。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45711D9-1253-4F1B-8FA7-E9F281AACCD8}"/>
              </a:ext>
            </a:extLst>
          </p:cNvPr>
          <p:cNvSpPr>
            <a:spLocks noGrp="1"/>
          </p:cNvSpPr>
          <p:nvPr/>
        </p:nvSpPr>
        <p:spPr>
          <a:xfrm>
            <a:off x="9029700" y="3276600"/>
            <a:ext cx="232410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决策与确认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B3C637F-C041-4FA4-99D7-489025814B5B}"/>
              </a:ext>
            </a:extLst>
          </p:cNvPr>
          <p:cNvSpPr>
            <a:spLocks noGrp="1"/>
          </p:cNvSpPr>
          <p:nvPr/>
        </p:nvSpPr>
        <p:spPr>
          <a:xfrm>
            <a:off x="685800" y="3705225"/>
            <a:ext cx="10820400" cy="504825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EEE1B8D-2574-42EF-9D9F-6B42EC4C0A3D}"/>
              </a:ext>
            </a:extLst>
          </p:cNvPr>
          <p:cNvSpPr>
            <a:spLocks noGrp="1"/>
          </p:cNvSpPr>
          <p:nvPr/>
        </p:nvSpPr>
        <p:spPr>
          <a:xfrm>
            <a:off x="2305050" y="3705225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FA107C9-AC78-48FA-A771-7202C53DD8F5}"/>
              </a:ext>
            </a:extLst>
          </p:cNvPr>
          <p:cNvSpPr>
            <a:spLocks noGrp="1"/>
          </p:cNvSpPr>
          <p:nvPr/>
        </p:nvSpPr>
        <p:spPr>
          <a:xfrm>
            <a:off x="8877300" y="3705225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7F549BD-B207-4F61-AC28-E0F6C2D5BA10}"/>
              </a:ext>
            </a:extLst>
          </p:cNvPr>
          <p:cNvSpPr>
            <a:spLocks noGrp="1"/>
          </p:cNvSpPr>
          <p:nvPr/>
        </p:nvSpPr>
        <p:spPr>
          <a:xfrm>
            <a:off x="819150" y="3790950"/>
            <a:ext cx="13525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业务牵头人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8D7AB49-9975-4A02-A7A2-9DE7DE04EB65}"/>
              </a:ext>
            </a:extLst>
          </p:cNvPr>
          <p:cNvSpPr>
            <a:spLocks noGrp="1"/>
          </p:cNvSpPr>
          <p:nvPr/>
        </p:nvSpPr>
        <p:spPr>
          <a:xfrm>
            <a:off x="2457450" y="3781425"/>
            <a:ext cx="62674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确认流程、需求优先级、蓝图和业务验收口径。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140FB4A-5D57-4A71-BEE5-EF20CA8A031A}"/>
              </a:ext>
            </a:extLst>
          </p:cNvPr>
          <p:cNvSpPr>
            <a:spLocks noGrp="1"/>
          </p:cNvSpPr>
          <p:nvPr/>
        </p:nvSpPr>
        <p:spPr>
          <a:xfrm>
            <a:off x="9029700" y="3781425"/>
            <a:ext cx="232410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蓝图/UAT确认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9808C99-54B5-4CA6-A9B2-AAACAA86DC84}"/>
              </a:ext>
            </a:extLst>
          </p:cNvPr>
          <p:cNvSpPr>
            <a:spLocks noGrp="1"/>
          </p:cNvSpPr>
          <p:nvPr/>
        </p:nvSpPr>
        <p:spPr>
          <a:xfrm>
            <a:off x="685800" y="4210050"/>
            <a:ext cx="10820400" cy="504825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B1A5CB1-B440-4B57-8FC1-F5BD98FE407B}"/>
              </a:ext>
            </a:extLst>
          </p:cNvPr>
          <p:cNvSpPr>
            <a:spLocks noGrp="1"/>
          </p:cNvSpPr>
          <p:nvPr/>
        </p:nvSpPr>
        <p:spPr>
          <a:xfrm>
            <a:off x="2305050" y="4210050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C96ED16-B7E5-46F9-AD8E-9A04E95FDF54}"/>
              </a:ext>
            </a:extLst>
          </p:cNvPr>
          <p:cNvSpPr>
            <a:spLocks noGrp="1"/>
          </p:cNvSpPr>
          <p:nvPr/>
        </p:nvSpPr>
        <p:spPr>
          <a:xfrm>
            <a:off x="8877300" y="4210050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BE0832C-EAD1-484A-B52D-E5EC3F2FF8EB}"/>
              </a:ext>
            </a:extLst>
          </p:cNvPr>
          <p:cNvSpPr>
            <a:spLocks noGrp="1"/>
          </p:cNvSpPr>
          <p:nvPr/>
        </p:nvSpPr>
        <p:spPr>
          <a:xfrm>
            <a:off x="819150" y="4295775"/>
            <a:ext cx="13525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IT负责人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26ADB38-2083-45AB-A65D-AE1D4A98F2FB}"/>
              </a:ext>
            </a:extLst>
          </p:cNvPr>
          <p:cNvSpPr>
            <a:spLocks noGrp="1"/>
          </p:cNvSpPr>
          <p:nvPr/>
        </p:nvSpPr>
        <p:spPr>
          <a:xfrm>
            <a:off x="2457450" y="4286250"/>
            <a:ext cx="62674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协调环境、网络、安全、账号、域名、证书和接口。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D39E415-EDDB-45B7-A216-E7E20AA1990C}"/>
              </a:ext>
            </a:extLst>
          </p:cNvPr>
          <p:cNvSpPr>
            <a:spLocks noGrp="1"/>
          </p:cNvSpPr>
          <p:nvPr/>
        </p:nvSpPr>
        <p:spPr>
          <a:xfrm>
            <a:off x="9029700" y="4286250"/>
            <a:ext cx="232410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环境与接口保障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E8F662B-A2B1-48A3-96BC-1193DE08BCAF}"/>
              </a:ext>
            </a:extLst>
          </p:cNvPr>
          <p:cNvSpPr>
            <a:spLocks noGrp="1"/>
          </p:cNvSpPr>
          <p:nvPr/>
        </p:nvSpPr>
        <p:spPr>
          <a:xfrm>
            <a:off x="685800" y="4714875"/>
            <a:ext cx="10820400" cy="504825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E12A84D-BF3E-4428-B3C7-E9CBA4FD3110}"/>
              </a:ext>
            </a:extLst>
          </p:cNvPr>
          <p:cNvSpPr>
            <a:spLocks noGrp="1"/>
          </p:cNvSpPr>
          <p:nvPr/>
        </p:nvSpPr>
        <p:spPr>
          <a:xfrm>
            <a:off x="2305050" y="4714875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109B508-A042-44FA-BAB9-4DB281A9F7D6}"/>
              </a:ext>
            </a:extLst>
          </p:cNvPr>
          <p:cNvSpPr>
            <a:spLocks noGrp="1"/>
          </p:cNvSpPr>
          <p:nvPr/>
        </p:nvSpPr>
        <p:spPr>
          <a:xfrm>
            <a:off x="8877300" y="4714875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837C96F-7212-4A27-B03E-BE98F6D94A4F}"/>
              </a:ext>
            </a:extLst>
          </p:cNvPr>
          <p:cNvSpPr>
            <a:spLocks noGrp="1"/>
          </p:cNvSpPr>
          <p:nvPr/>
        </p:nvSpPr>
        <p:spPr>
          <a:xfrm>
            <a:off x="819150" y="4800600"/>
            <a:ext cx="13525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关键用户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9A9476D-2F59-4003-B60E-996E714FAAFA}"/>
              </a:ext>
            </a:extLst>
          </p:cNvPr>
          <p:cNvSpPr>
            <a:spLocks noGrp="1"/>
          </p:cNvSpPr>
          <p:nvPr/>
        </p:nvSpPr>
        <p:spPr>
          <a:xfrm>
            <a:off x="2457450" y="4791075"/>
            <a:ext cx="62674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参与调研，提供样例数据，执行UAT，反馈培训效果。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C5D4441-DF70-475F-9B0F-8990CA977272}"/>
              </a:ext>
            </a:extLst>
          </p:cNvPr>
          <p:cNvSpPr>
            <a:spLocks noGrp="1"/>
          </p:cNvSpPr>
          <p:nvPr/>
        </p:nvSpPr>
        <p:spPr>
          <a:xfrm>
            <a:off x="9029700" y="4791075"/>
            <a:ext cx="232410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业务验收证据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C81D834-817B-46B9-A542-2581DBF6BF4C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820400" cy="504825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2C15902-9F36-48A4-BA71-3469A66B1DC8}"/>
              </a:ext>
            </a:extLst>
          </p:cNvPr>
          <p:cNvSpPr>
            <a:spLocks noGrp="1"/>
          </p:cNvSpPr>
          <p:nvPr/>
        </p:nvSpPr>
        <p:spPr>
          <a:xfrm>
            <a:off x="2305050" y="5219700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94E76FA-8940-4C3A-9AA3-2F3D8AC81B0E}"/>
              </a:ext>
            </a:extLst>
          </p:cNvPr>
          <p:cNvSpPr>
            <a:spLocks noGrp="1"/>
          </p:cNvSpPr>
          <p:nvPr/>
        </p:nvSpPr>
        <p:spPr>
          <a:xfrm>
            <a:off x="8877300" y="5219700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E70A788-7492-4804-8A31-141DCD52938A}"/>
              </a:ext>
            </a:extLst>
          </p:cNvPr>
          <p:cNvSpPr>
            <a:spLocks noGrp="1"/>
          </p:cNvSpPr>
          <p:nvPr/>
        </p:nvSpPr>
        <p:spPr>
          <a:xfrm>
            <a:off x="819150" y="5305425"/>
            <a:ext cx="13525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乙方PM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6A0991A-A45C-4B61-884B-E2860F449FA9}"/>
              </a:ext>
            </a:extLst>
          </p:cNvPr>
          <p:cNvSpPr>
            <a:spLocks noGrp="1"/>
          </p:cNvSpPr>
          <p:nvPr/>
        </p:nvSpPr>
        <p:spPr>
          <a:xfrm>
            <a:off x="2457450" y="5295900"/>
            <a:ext cx="62674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盯计划、控风险、发周报、开例会、跟客户沟通。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9C868E0-5920-402C-BA6B-97D714891E19}"/>
              </a:ext>
            </a:extLst>
          </p:cNvPr>
          <p:cNvSpPr>
            <a:spLocks noGrp="1"/>
          </p:cNvSpPr>
          <p:nvPr/>
        </p:nvSpPr>
        <p:spPr>
          <a:xfrm>
            <a:off x="9029700" y="5295900"/>
            <a:ext cx="232410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项目管理闭环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DEA09F4-5CE9-4DB1-97E7-89E963F14A72}"/>
              </a:ext>
            </a:extLst>
          </p:cNvPr>
          <p:cNvSpPr>
            <a:spLocks noGrp="1"/>
          </p:cNvSpPr>
          <p:nvPr/>
        </p:nvSpPr>
        <p:spPr>
          <a:xfrm>
            <a:off x="685800" y="5724525"/>
            <a:ext cx="10820400" cy="504825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28485E7-3239-4687-8214-F5ADB3E9B853}"/>
              </a:ext>
            </a:extLst>
          </p:cNvPr>
          <p:cNvSpPr>
            <a:spLocks noGrp="1"/>
          </p:cNvSpPr>
          <p:nvPr/>
        </p:nvSpPr>
        <p:spPr>
          <a:xfrm>
            <a:off x="2305050" y="5724525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3D15FD2-68E9-47F6-8B7D-CCE91BA407C9}"/>
              </a:ext>
            </a:extLst>
          </p:cNvPr>
          <p:cNvSpPr>
            <a:spLocks noGrp="1"/>
          </p:cNvSpPr>
          <p:nvPr/>
        </p:nvSpPr>
        <p:spPr>
          <a:xfrm>
            <a:off x="8877300" y="5724525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E18C7DF-825F-493C-AC79-56AABABEBFBB}"/>
              </a:ext>
            </a:extLst>
          </p:cNvPr>
          <p:cNvSpPr>
            <a:spLocks noGrp="1"/>
          </p:cNvSpPr>
          <p:nvPr/>
        </p:nvSpPr>
        <p:spPr>
          <a:xfrm>
            <a:off x="819150" y="5810250"/>
            <a:ext cx="13525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乙方团队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1B99955-2CB0-4BE9-9E0C-58546CBFD0F1}"/>
              </a:ext>
            </a:extLst>
          </p:cNvPr>
          <p:cNvSpPr>
            <a:spLocks noGrp="1"/>
          </p:cNvSpPr>
          <p:nvPr/>
        </p:nvSpPr>
        <p:spPr>
          <a:xfrm>
            <a:off x="2457450" y="5800725"/>
            <a:ext cx="62674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完成蓝图落地、配置开发、接口联调、培训和上线保障。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C614EC7-FAB9-4782-BBCC-4A4B359BFB37}"/>
              </a:ext>
            </a:extLst>
          </p:cNvPr>
          <p:cNvSpPr>
            <a:spLocks noGrp="1"/>
          </p:cNvSpPr>
          <p:nvPr/>
        </p:nvSpPr>
        <p:spPr>
          <a:xfrm>
            <a:off x="9029700" y="5800725"/>
            <a:ext cx="232410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交付成果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A5E0C124-A5D2-4329-B041-33646774C70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1842428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6F2A84AB-8E2B-412F-8CC5-D83FB87020B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23489A44-2FE7-4EA9-BE88-AB12CE4A5C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451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842D0D1-EDF4-4C83-BBED-B04B9B4B4BD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05 项目管理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6CF455-7C07-480A-937F-489F0837F486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16 / 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95163E-F8C1-4D58-9CAF-2CAC32732DA2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22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F6F72E2-9693-4F49-B984-8C89DC27C18B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1F8A70"/>
          </a:solidFill>
          <a:ln w="1905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847A1D-18CB-4673-B709-C4C8A1B515ED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09625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项目管理：把问题摊开，把节奏管住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23D38FE-E60F-4551-824C-EC799B1364EA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范围、沟通、质量、变更、里程碑都要有固定打法。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6C27792A-B708-4900-AEE5-AA0F2297318B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371850"/>
          </a:xfrm>
          <a:prstGeom prst="roundRect">
            <a:avLst>
              <a:gd name="adj" fmla="val 2260"/>
            </a:avLst>
          </a:prstGeom>
          <a:solidFill>
            <a:srgbClr val="FFFFFF">
              <a:alpha val="90980"/>
            </a:srgbClr>
          </a:solidFill>
          <a:ln w="10478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EB982D-92A7-4425-BEBC-C809CEBAE3B2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42900"/>
          </a:xfrm>
          <a:prstGeom prst="rect">
            <a:avLst/>
          </a:prstGeom>
          <a:solidFill>
            <a:srgbClr val="0D5F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E7C466B-AF6F-4D99-AB8F-DF85EF0C58C8}"/>
              </a:ext>
            </a:extLst>
          </p:cNvPr>
          <p:cNvSpPr>
            <a:spLocks noGrp="1"/>
          </p:cNvSpPr>
          <p:nvPr/>
        </p:nvSpPr>
        <p:spPr>
          <a:xfrm>
            <a:off x="819150" y="2943225"/>
            <a:ext cx="1352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工作包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DA67E28-3932-498C-BC78-96D653BE77B8}"/>
              </a:ext>
            </a:extLst>
          </p:cNvPr>
          <p:cNvSpPr>
            <a:spLocks noGrp="1"/>
          </p:cNvSpPr>
          <p:nvPr/>
        </p:nvSpPr>
        <p:spPr>
          <a:xfrm>
            <a:off x="2438400" y="2943225"/>
            <a:ext cx="6305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主要活动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84CC86C-C9A3-438D-9A30-749CA9601248}"/>
              </a:ext>
            </a:extLst>
          </p:cNvPr>
          <p:cNvSpPr>
            <a:spLocks noGrp="1"/>
          </p:cNvSpPr>
          <p:nvPr/>
        </p:nvSpPr>
        <p:spPr>
          <a:xfrm>
            <a:off x="9010650" y="2943225"/>
            <a:ext cx="2362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阶段输出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CC7DC8C-CC37-4BAD-9726-B2F02DC54798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10820400" cy="605790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0A38C05-48C6-466A-BE89-18143E5F818A}"/>
              </a:ext>
            </a:extLst>
          </p:cNvPr>
          <p:cNvSpPr>
            <a:spLocks noGrp="1"/>
          </p:cNvSpPr>
          <p:nvPr/>
        </p:nvSpPr>
        <p:spPr>
          <a:xfrm>
            <a:off x="2305050" y="320040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F8A52FD-539E-4239-AAC6-C70441B9607B}"/>
              </a:ext>
            </a:extLst>
          </p:cNvPr>
          <p:cNvSpPr>
            <a:spLocks noGrp="1"/>
          </p:cNvSpPr>
          <p:nvPr/>
        </p:nvSpPr>
        <p:spPr>
          <a:xfrm>
            <a:off x="8877300" y="320040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B59CE0A-26D7-4A79-8AAF-CFAB68AAE4F5}"/>
              </a:ext>
            </a:extLst>
          </p:cNvPr>
          <p:cNvSpPr>
            <a:spLocks noGrp="1"/>
          </p:cNvSpPr>
          <p:nvPr/>
        </p:nvSpPr>
        <p:spPr>
          <a:xfrm>
            <a:off x="819150" y="328612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实施策略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BAB3E00-2AE5-4E53-BF66-0589E0AE63F0}"/>
              </a:ext>
            </a:extLst>
          </p:cNvPr>
          <p:cNvSpPr>
            <a:spLocks noGrp="1"/>
          </p:cNvSpPr>
          <p:nvPr/>
        </p:nvSpPr>
        <p:spPr>
          <a:xfrm>
            <a:off x="2457450" y="327660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白名单范围、蓝图先行、联调前置、测试把关、文档留痕。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E79ECA3-B52D-4D90-B3B8-132352B54847}"/>
              </a:ext>
            </a:extLst>
          </p:cNvPr>
          <p:cNvSpPr>
            <a:spLocks noGrp="1"/>
          </p:cNvSpPr>
          <p:nvPr/>
        </p:nvSpPr>
        <p:spPr>
          <a:xfrm>
            <a:off x="9029700" y="327660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口径一致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BAB06E0-9D33-46DD-A5D1-AD082CDAD955}"/>
              </a:ext>
            </a:extLst>
          </p:cNvPr>
          <p:cNvSpPr>
            <a:spLocks noGrp="1"/>
          </p:cNvSpPr>
          <p:nvPr/>
        </p:nvSpPr>
        <p:spPr>
          <a:xfrm>
            <a:off x="685800" y="3806190"/>
            <a:ext cx="10820400" cy="605790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D7B3CC2-20AA-46C3-9925-91C828B53408}"/>
              </a:ext>
            </a:extLst>
          </p:cNvPr>
          <p:cNvSpPr>
            <a:spLocks noGrp="1"/>
          </p:cNvSpPr>
          <p:nvPr/>
        </p:nvSpPr>
        <p:spPr>
          <a:xfrm>
            <a:off x="2305050" y="380619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7BC3B6B-3343-41B8-8611-C41D857CBA3F}"/>
              </a:ext>
            </a:extLst>
          </p:cNvPr>
          <p:cNvSpPr>
            <a:spLocks noGrp="1"/>
          </p:cNvSpPr>
          <p:nvPr/>
        </p:nvSpPr>
        <p:spPr>
          <a:xfrm>
            <a:off x="8877300" y="380619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9BD61D3-746A-49C7-B966-F7064DD481EE}"/>
              </a:ext>
            </a:extLst>
          </p:cNvPr>
          <p:cNvSpPr>
            <a:spLocks noGrp="1"/>
          </p:cNvSpPr>
          <p:nvPr/>
        </p:nvSpPr>
        <p:spPr>
          <a:xfrm>
            <a:off x="819150" y="389191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沟通机制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38CD179-5A02-4987-8E37-1ACE4F120DF3}"/>
              </a:ext>
            </a:extLst>
          </p:cNvPr>
          <p:cNvSpPr>
            <a:spLocks noGrp="1"/>
          </p:cNvSpPr>
          <p:nvPr/>
        </p:nvSpPr>
        <p:spPr>
          <a:xfrm>
            <a:off x="2457450" y="388239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周例会、专题会、周报和问题升级机制固定下来。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9914C41-7537-40D7-ABA5-6CFBD64CDAA2}"/>
              </a:ext>
            </a:extLst>
          </p:cNvPr>
          <p:cNvSpPr>
            <a:spLocks noGrp="1"/>
          </p:cNvSpPr>
          <p:nvPr/>
        </p:nvSpPr>
        <p:spPr>
          <a:xfrm>
            <a:off x="9029700" y="388239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问题不拖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8F03A10-0564-45F2-A3AD-922F227F457D}"/>
              </a:ext>
            </a:extLst>
          </p:cNvPr>
          <p:cNvSpPr>
            <a:spLocks noGrp="1"/>
          </p:cNvSpPr>
          <p:nvPr/>
        </p:nvSpPr>
        <p:spPr>
          <a:xfrm>
            <a:off x="685800" y="4411980"/>
            <a:ext cx="10820400" cy="605790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99A9920-1C3A-4FA0-9D1A-B3134E923ECA}"/>
              </a:ext>
            </a:extLst>
          </p:cNvPr>
          <p:cNvSpPr>
            <a:spLocks noGrp="1"/>
          </p:cNvSpPr>
          <p:nvPr/>
        </p:nvSpPr>
        <p:spPr>
          <a:xfrm>
            <a:off x="2305050" y="441198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8C0E3C8-8787-4BF6-9BA9-2AB5DD6DC1A3}"/>
              </a:ext>
            </a:extLst>
          </p:cNvPr>
          <p:cNvSpPr>
            <a:spLocks noGrp="1"/>
          </p:cNvSpPr>
          <p:nvPr/>
        </p:nvSpPr>
        <p:spPr>
          <a:xfrm>
            <a:off x="8877300" y="441198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588CD0E-6C30-4705-8B6F-183DFA5ACE7B}"/>
              </a:ext>
            </a:extLst>
          </p:cNvPr>
          <p:cNvSpPr>
            <a:spLocks noGrp="1"/>
          </p:cNvSpPr>
          <p:nvPr/>
        </p:nvSpPr>
        <p:spPr>
          <a:xfrm>
            <a:off x="819150" y="449770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质量控制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EC70265-25FD-44B6-AF68-F90B712571FB}"/>
              </a:ext>
            </a:extLst>
          </p:cNvPr>
          <p:cNvSpPr>
            <a:spLocks noGrp="1"/>
          </p:cNvSpPr>
          <p:nvPr/>
        </p:nvSpPr>
        <p:spPr>
          <a:xfrm>
            <a:off x="2457450" y="448818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走真实API路径，隔离演示入口，P0清零，UAT留证据。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D960871-DA33-4813-A2E5-F5AD9222E7E7}"/>
              </a:ext>
            </a:extLst>
          </p:cNvPr>
          <p:cNvSpPr>
            <a:spLocks noGrp="1"/>
          </p:cNvSpPr>
          <p:nvPr/>
        </p:nvSpPr>
        <p:spPr>
          <a:xfrm>
            <a:off x="9029700" y="448818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质量可控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3C3566F-17F4-45E9-96D6-4B46CDB45014}"/>
              </a:ext>
            </a:extLst>
          </p:cNvPr>
          <p:cNvSpPr>
            <a:spLocks noGrp="1"/>
          </p:cNvSpPr>
          <p:nvPr/>
        </p:nvSpPr>
        <p:spPr>
          <a:xfrm>
            <a:off x="685800" y="5017770"/>
            <a:ext cx="10820400" cy="605790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297AD5F-9F4D-471D-9B33-297069EBD4E3}"/>
              </a:ext>
            </a:extLst>
          </p:cNvPr>
          <p:cNvSpPr>
            <a:spLocks noGrp="1"/>
          </p:cNvSpPr>
          <p:nvPr/>
        </p:nvSpPr>
        <p:spPr>
          <a:xfrm>
            <a:off x="2305050" y="501777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FE2FC2E-D08F-4B2A-B7B4-753DD836624F}"/>
              </a:ext>
            </a:extLst>
          </p:cNvPr>
          <p:cNvSpPr>
            <a:spLocks noGrp="1"/>
          </p:cNvSpPr>
          <p:nvPr/>
        </p:nvSpPr>
        <p:spPr>
          <a:xfrm>
            <a:off x="8877300" y="501777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651D1FC-BA96-4843-A023-922D593627A0}"/>
              </a:ext>
            </a:extLst>
          </p:cNvPr>
          <p:cNvSpPr>
            <a:spLocks noGrp="1"/>
          </p:cNvSpPr>
          <p:nvPr/>
        </p:nvSpPr>
        <p:spPr>
          <a:xfrm>
            <a:off x="819150" y="510349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变更控制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BA2993C-FB84-47F0-9F3E-5D9D469C28E8}"/>
              </a:ext>
            </a:extLst>
          </p:cNvPr>
          <p:cNvSpPr>
            <a:spLocks noGrp="1"/>
          </p:cNvSpPr>
          <p:nvPr/>
        </p:nvSpPr>
        <p:spPr>
          <a:xfrm>
            <a:off x="2457450" y="509397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蓝图确认后新增需求先评估影响，再决定怎么排。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BA2C391-3201-495C-8DF5-BB55C23913FD}"/>
              </a:ext>
            </a:extLst>
          </p:cNvPr>
          <p:cNvSpPr>
            <a:spLocks noGrp="1"/>
          </p:cNvSpPr>
          <p:nvPr/>
        </p:nvSpPr>
        <p:spPr>
          <a:xfrm>
            <a:off x="9029700" y="509397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范围不散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AEF4307-3736-4F93-B432-8068AA389A5E}"/>
              </a:ext>
            </a:extLst>
          </p:cNvPr>
          <p:cNvSpPr>
            <a:spLocks noGrp="1"/>
          </p:cNvSpPr>
          <p:nvPr/>
        </p:nvSpPr>
        <p:spPr>
          <a:xfrm>
            <a:off x="685800" y="5623560"/>
            <a:ext cx="10820400" cy="605790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EC191A2-DF6F-44A2-A8DB-B6CE8438EE06}"/>
              </a:ext>
            </a:extLst>
          </p:cNvPr>
          <p:cNvSpPr>
            <a:spLocks noGrp="1"/>
          </p:cNvSpPr>
          <p:nvPr/>
        </p:nvSpPr>
        <p:spPr>
          <a:xfrm>
            <a:off x="2305050" y="562356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FEF59C2-C79B-423D-ABB7-924A31217A1D}"/>
              </a:ext>
            </a:extLst>
          </p:cNvPr>
          <p:cNvSpPr>
            <a:spLocks noGrp="1"/>
          </p:cNvSpPr>
          <p:nvPr/>
        </p:nvSpPr>
        <p:spPr>
          <a:xfrm>
            <a:off x="8877300" y="562356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41634D3-AA6B-4117-A8F4-0D1002F9932A}"/>
              </a:ext>
            </a:extLst>
          </p:cNvPr>
          <p:cNvSpPr>
            <a:spLocks noGrp="1"/>
          </p:cNvSpPr>
          <p:nvPr/>
        </p:nvSpPr>
        <p:spPr>
          <a:xfrm>
            <a:off x="819150" y="570928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里程碑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0211059-11D0-4BED-8D34-E5B340D593A9}"/>
              </a:ext>
            </a:extLst>
          </p:cNvPr>
          <p:cNvSpPr>
            <a:spLocks noGrp="1"/>
          </p:cNvSpPr>
          <p:nvPr/>
        </p:nvSpPr>
        <p:spPr>
          <a:xfrm>
            <a:off x="2457450" y="569976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蓝图确认、功能提测、集成验证、UAT通过、正式上线。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51EE653-4D7B-4725-8710-F8DB29CD0DA4}"/>
              </a:ext>
            </a:extLst>
          </p:cNvPr>
          <p:cNvSpPr>
            <a:spLocks noGrp="1"/>
          </p:cNvSpPr>
          <p:nvPr/>
        </p:nvSpPr>
        <p:spPr>
          <a:xfrm>
            <a:off x="9029700" y="569976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节点清楚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1BE319E-E5A8-4063-A7E6-F99107A9816F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17868948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5">
            <a:extLst>
              <a:ext uri="{FF2B5EF4-FFF2-40B4-BE49-F238E27FC236}">
                <a16:creationId xmlns:a16="http://schemas.microsoft.com/office/drawing/2014/main" id="{6F2A84AB-8E2B-412F-8CC5-D83FB87020B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9EF0BB8-AB08-4330-82ED-3BA246E571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451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800C1EC-93D9-4AAD-903C-29A1CF717B8F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05 项目管理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0A755AB-3B63-4DE3-B0DB-608307404F7B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17 / 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F598DFB-17AE-427A-ADDF-F6E1C2A0BA01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22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8D7CEAC0-DA12-400D-8C5C-8D05CBD63B0A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1F8A70"/>
          </a:solidFill>
          <a:ln w="1905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053534A-16D0-456A-8A70-F2BFCC502973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09625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需要甲方配合的事项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1F502B-4FCA-451C-A17E-CB6119C5B414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这些不是附加要求，而是6/25上线能否成立的前提。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BA3E32E4-4544-42B7-836A-BE62434AE8FD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371850"/>
          </a:xfrm>
          <a:prstGeom prst="roundRect">
            <a:avLst>
              <a:gd name="adj" fmla="val 2260"/>
            </a:avLst>
          </a:prstGeom>
          <a:solidFill>
            <a:srgbClr val="FFFFFF">
              <a:alpha val="90980"/>
            </a:srgbClr>
          </a:solidFill>
          <a:ln w="10478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495422E-A79E-44C5-916F-960DF545CEDC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42900"/>
          </a:xfrm>
          <a:prstGeom prst="rect">
            <a:avLst/>
          </a:prstGeom>
          <a:solidFill>
            <a:srgbClr val="0D5F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B2078AE-2C70-47D2-9CA5-E1A81654D7AF}"/>
              </a:ext>
            </a:extLst>
          </p:cNvPr>
          <p:cNvSpPr>
            <a:spLocks noGrp="1"/>
          </p:cNvSpPr>
          <p:nvPr/>
        </p:nvSpPr>
        <p:spPr>
          <a:xfrm>
            <a:off x="819150" y="2943225"/>
            <a:ext cx="1352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工作包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1CDE4C8-7B8D-4DA6-868A-DE243D274CE9}"/>
              </a:ext>
            </a:extLst>
          </p:cNvPr>
          <p:cNvSpPr>
            <a:spLocks noGrp="1"/>
          </p:cNvSpPr>
          <p:nvPr/>
        </p:nvSpPr>
        <p:spPr>
          <a:xfrm>
            <a:off x="2438400" y="2943225"/>
            <a:ext cx="6305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主要活动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A5143E0-C532-4D78-BCB4-92B8EDFA76EC}"/>
              </a:ext>
            </a:extLst>
          </p:cNvPr>
          <p:cNvSpPr>
            <a:spLocks noGrp="1"/>
          </p:cNvSpPr>
          <p:nvPr/>
        </p:nvSpPr>
        <p:spPr>
          <a:xfrm>
            <a:off x="9010650" y="2943225"/>
            <a:ext cx="2362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阶段输出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F672C2A-574A-4F49-8530-DFD4A6D8A72B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10820400" cy="504825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8E2AC72-02E9-4993-A337-076110E7FFD0}"/>
              </a:ext>
            </a:extLst>
          </p:cNvPr>
          <p:cNvSpPr>
            <a:spLocks noGrp="1"/>
          </p:cNvSpPr>
          <p:nvPr/>
        </p:nvSpPr>
        <p:spPr>
          <a:xfrm>
            <a:off x="2305050" y="3200400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F1218D3-ECFE-4348-BCCA-DBE715500AAA}"/>
              </a:ext>
            </a:extLst>
          </p:cNvPr>
          <p:cNvSpPr>
            <a:spLocks noGrp="1"/>
          </p:cNvSpPr>
          <p:nvPr/>
        </p:nvSpPr>
        <p:spPr>
          <a:xfrm>
            <a:off x="8877300" y="3200400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1AD4BA5-2EE5-43A7-8E9D-0C8287C83E71}"/>
              </a:ext>
            </a:extLst>
          </p:cNvPr>
          <p:cNvSpPr>
            <a:spLocks noGrp="1"/>
          </p:cNvSpPr>
          <p:nvPr/>
        </p:nvSpPr>
        <p:spPr>
          <a:xfrm>
            <a:off x="819150" y="3286125"/>
            <a:ext cx="13525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3个工作日内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D4FA144-59F4-4DF2-8763-3DF726E551FA}"/>
              </a:ext>
            </a:extLst>
          </p:cNvPr>
          <p:cNvSpPr>
            <a:spLocks noGrp="1"/>
          </p:cNvSpPr>
          <p:nvPr/>
        </p:nvSpPr>
        <p:spPr>
          <a:xfrm>
            <a:off x="2457450" y="3276600"/>
            <a:ext cx="62674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明确项目负责人、业务牵头人、IT负责人、关键用户和接口人。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EE62D97-3150-4900-BE0B-5335139464AA}"/>
              </a:ext>
            </a:extLst>
          </p:cNvPr>
          <p:cNvSpPr>
            <a:spLocks noGrp="1"/>
          </p:cNvSpPr>
          <p:nvPr/>
        </p:nvSpPr>
        <p:spPr>
          <a:xfrm>
            <a:off x="9029700" y="3276600"/>
            <a:ext cx="232410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项目成员清单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F1801F-1DF5-4265-80A1-3BEE6FD7BA62}"/>
              </a:ext>
            </a:extLst>
          </p:cNvPr>
          <p:cNvSpPr>
            <a:spLocks noGrp="1"/>
          </p:cNvSpPr>
          <p:nvPr/>
        </p:nvSpPr>
        <p:spPr>
          <a:xfrm>
            <a:off x="685800" y="3705225"/>
            <a:ext cx="10820400" cy="504825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55E6208-9FE0-4199-B063-B076249D2885}"/>
              </a:ext>
            </a:extLst>
          </p:cNvPr>
          <p:cNvSpPr>
            <a:spLocks noGrp="1"/>
          </p:cNvSpPr>
          <p:nvPr/>
        </p:nvSpPr>
        <p:spPr>
          <a:xfrm>
            <a:off x="2305050" y="3705225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4DAF619-B8B2-49C1-BC75-8BD2070AE292}"/>
              </a:ext>
            </a:extLst>
          </p:cNvPr>
          <p:cNvSpPr>
            <a:spLocks noGrp="1"/>
          </p:cNvSpPr>
          <p:nvPr/>
        </p:nvSpPr>
        <p:spPr>
          <a:xfrm>
            <a:off x="8877300" y="3705225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C3829F8-9F27-461E-96CA-1A72D9B1B673}"/>
              </a:ext>
            </a:extLst>
          </p:cNvPr>
          <p:cNvSpPr>
            <a:spLocks noGrp="1"/>
          </p:cNvSpPr>
          <p:nvPr/>
        </p:nvSpPr>
        <p:spPr>
          <a:xfrm>
            <a:off x="819150" y="3790950"/>
            <a:ext cx="13525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调研阶段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F110057-711B-493B-956E-D208AE77F321}"/>
              </a:ext>
            </a:extLst>
          </p:cNvPr>
          <p:cNvSpPr>
            <a:spLocks noGrp="1"/>
          </p:cNvSpPr>
          <p:nvPr/>
        </p:nvSpPr>
        <p:spPr>
          <a:xfrm>
            <a:off x="2457450" y="3781425"/>
            <a:ext cx="62674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提供现状流程、确认版需求、历史样例数据和环境申请信息。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10E3387-A2FF-4A29-9173-5E32A63C95F7}"/>
              </a:ext>
            </a:extLst>
          </p:cNvPr>
          <p:cNvSpPr>
            <a:spLocks noGrp="1"/>
          </p:cNvSpPr>
          <p:nvPr/>
        </p:nvSpPr>
        <p:spPr>
          <a:xfrm>
            <a:off x="9029700" y="3781425"/>
            <a:ext cx="232410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调研输入材料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1F19106-2F62-43DF-94B5-7A7B2568C55F}"/>
              </a:ext>
            </a:extLst>
          </p:cNvPr>
          <p:cNvSpPr>
            <a:spLocks noGrp="1"/>
          </p:cNvSpPr>
          <p:nvPr/>
        </p:nvSpPr>
        <p:spPr>
          <a:xfrm>
            <a:off x="685800" y="4210050"/>
            <a:ext cx="10820400" cy="504825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B218885-07A2-459F-A022-B37D54EB20F7}"/>
              </a:ext>
            </a:extLst>
          </p:cNvPr>
          <p:cNvSpPr>
            <a:spLocks noGrp="1"/>
          </p:cNvSpPr>
          <p:nvPr/>
        </p:nvSpPr>
        <p:spPr>
          <a:xfrm>
            <a:off x="2305050" y="4210050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9997612-454A-41C2-8D51-95D2A65BF56F}"/>
              </a:ext>
            </a:extLst>
          </p:cNvPr>
          <p:cNvSpPr>
            <a:spLocks noGrp="1"/>
          </p:cNvSpPr>
          <p:nvPr/>
        </p:nvSpPr>
        <p:spPr>
          <a:xfrm>
            <a:off x="8877300" y="4210050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ECF8C33-EF18-4425-AB4F-E941E34A6A2F}"/>
              </a:ext>
            </a:extLst>
          </p:cNvPr>
          <p:cNvSpPr>
            <a:spLocks noGrp="1"/>
          </p:cNvSpPr>
          <p:nvPr/>
        </p:nvSpPr>
        <p:spPr>
          <a:xfrm>
            <a:off x="819150" y="4295775"/>
            <a:ext cx="13525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蓝图阶段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557547B-DD09-4275-BC93-CF7B34DBE9A6}"/>
              </a:ext>
            </a:extLst>
          </p:cNvPr>
          <p:cNvSpPr>
            <a:spLocks noGrp="1"/>
          </p:cNvSpPr>
          <p:nvPr/>
        </p:nvSpPr>
        <p:spPr>
          <a:xfrm>
            <a:off x="2457450" y="4286250"/>
            <a:ext cx="62674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组织业务评审，确认流程、权限、数据、接口和原型。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5F20885-B2A0-4A04-B501-0CA1B8BE93EE}"/>
              </a:ext>
            </a:extLst>
          </p:cNvPr>
          <p:cNvSpPr>
            <a:spLocks noGrp="1"/>
          </p:cNvSpPr>
          <p:nvPr/>
        </p:nvSpPr>
        <p:spPr>
          <a:xfrm>
            <a:off x="9029700" y="4286250"/>
            <a:ext cx="232410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蓝图确认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D9BA2B6-8E50-44CF-BD62-0747E043FB1B}"/>
              </a:ext>
            </a:extLst>
          </p:cNvPr>
          <p:cNvSpPr>
            <a:spLocks noGrp="1"/>
          </p:cNvSpPr>
          <p:nvPr/>
        </p:nvSpPr>
        <p:spPr>
          <a:xfrm>
            <a:off x="685800" y="4714875"/>
            <a:ext cx="10820400" cy="504825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739CB99-91ED-4C7A-9437-359D32281871}"/>
              </a:ext>
            </a:extLst>
          </p:cNvPr>
          <p:cNvSpPr>
            <a:spLocks noGrp="1"/>
          </p:cNvSpPr>
          <p:nvPr/>
        </p:nvSpPr>
        <p:spPr>
          <a:xfrm>
            <a:off x="2305050" y="4714875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DCE539E-E69D-47D2-992F-EF769854C691}"/>
              </a:ext>
            </a:extLst>
          </p:cNvPr>
          <p:cNvSpPr>
            <a:spLocks noGrp="1"/>
          </p:cNvSpPr>
          <p:nvPr/>
        </p:nvSpPr>
        <p:spPr>
          <a:xfrm>
            <a:off x="8877300" y="4714875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B1D7180-993E-4CE4-81FB-A5E723243AEE}"/>
              </a:ext>
            </a:extLst>
          </p:cNvPr>
          <p:cNvSpPr>
            <a:spLocks noGrp="1"/>
          </p:cNvSpPr>
          <p:nvPr/>
        </p:nvSpPr>
        <p:spPr>
          <a:xfrm>
            <a:off x="819150" y="4800600"/>
            <a:ext cx="13525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实现阶段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F4760E5-29A8-4305-827F-787AFA5AB0A5}"/>
              </a:ext>
            </a:extLst>
          </p:cNvPr>
          <p:cNvSpPr>
            <a:spLocks noGrp="1"/>
          </p:cNvSpPr>
          <p:nvPr/>
        </p:nvSpPr>
        <p:spPr>
          <a:xfrm>
            <a:off x="2457450" y="4791075"/>
            <a:ext cx="62674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提供测试数据、样例标书、资质、案例、模板、费用和账户样本。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2A6488A-9611-4D8E-AC03-EE13FB2FED01}"/>
              </a:ext>
            </a:extLst>
          </p:cNvPr>
          <p:cNvSpPr>
            <a:spLocks noGrp="1"/>
          </p:cNvSpPr>
          <p:nvPr/>
        </p:nvSpPr>
        <p:spPr>
          <a:xfrm>
            <a:off x="9029700" y="4791075"/>
            <a:ext cx="232410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提测输入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55B2D03-68F8-4286-B42A-CCCBD4394A7A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820400" cy="504825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EB69F16-2546-4E52-A385-F3E36C94F118}"/>
              </a:ext>
            </a:extLst>
          </p:cNvPr>
          <p:cNvSpPr>
            <a:spLocks noGrp="1"/>
          </p:cNvSpPr>
          <p:nvPr/>
        </p:nvSpPr>
        <p:spPr>
          <a:xfrm>
            <a:off x="2305050" y="5219700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DEBA9C6-DD14-48E1-A7B3-79203A1CA0D5}"/>
              </a:ext>
            </a:extLst>
          </p:cNvPr>
          <p:cNvSpPr>
            <a:spLocks noGrp="1"/>
          </p:cNvSpPr>
          <p:nvPr/>
        </p:nvSpPr>
        <p:spPr>
          <a:xfrm>
            <a:off x="8877300" y="5219700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A8A89CA-2FCC-453A-B9E6-8C0E1E3F72D5}"/>
              </a:ext>
            </a:extLst>
          </p:cNvPr>
          <p:cNvSpPr>
            <a:spLocks noGrp="1"/>
          </p:cNvSpPr>
          <p:nvPr/>
        </p:nvSpPr>
        <p:spPr>
          <a:xfrm>
            <a:off x="819150" y="5305425"/>
            <a:ext cx="13525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联调阶段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FAA2F0F-493F-462C-91EB-3E888CA5DA35}"/>
              </a:ext>
            </a:extLst>
          </p:cNvPr>
          <p:cNvSpPr>
            <a:spLocks noGrp="1"/>
          </p:cNvSpPr>
          <p:nvPr/>
        </p:nvSpPr>
        <p:spPr>
          <a:xfrm>
            <a:off x="2457450" y="5295900"/>
            <a:ext cx="62674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保障外部系统测试环境、联调窗口和问题响应。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DBF882C-E933-4D20-BDF6-7D1839D22EA8}"/>
              </a:ext>
            </a:extLst>
          </p:cNvPr>
          <p:cNvSpPr>
            <a:spLocks noGrp="1"/>
          </p:cNvSpPr>
          <p:nvPr/>
        </p:nvSpPr>
        <p:spPr>
          <a:xfrm>
            <a:off x="9029700" y="5295900"/>
            <a:ext cx="232410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联调闭环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C63BB6A-95A6-4FFA-94FA-0661CF7E4C2A}"/>
              </a:ext>
            </a:extLst>
          </p:cNvPr>
          <p:cNvSpPr>
            <a:spLocks noGrp="1"/>
          </p:cNvSpPr>
          <p:nvPr/>
        </p:nvSpPr>
        <p:spPr>
          <a:xfrm>
            <a:off x="685800" y="5724525"/>
            <a:ext cx="10820400" cy="504825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6362F40-9671-4460-9CD6-549E3E0091CB}"/>
              </a:ext>
            </a:extLst>
          </p:cNvPr>
          <p:cNvSpPr>
            <a:spLocks noGrp="1"/>
          </p:cNvSpPr>
          <p:nvPr/>
        </p:nvSpPr>
        <p:spPr>
          <a:xfrm>
            <a:off x="2305050" y="5724525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2EBA0E1E-6090-40F5-8286-7D845AB3B8BF}"/>
              </a:ext>
            </a:extLst>
          </p:cNvPr>
          <p:cNvSpPr>
            <a:spLocks noGrp="1"/>
          </p:cNvSpPr>
          <p:nvPr/>
        </p:nvSpPr>
        <p:spPr>
          <a:xfrm>
            <a:off x="8877300" y="5724525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62B9C93-B1FB-4783-82B2-3EA6466DB3C7}"/>
              </a:ext>
            </a:extLst>
          </p:cNvPr>
          <p:cNvSpPr>
            <a:spLocks noGrp="1"/>
          </p:cNvSpPr>
          <p:nvPr/>
        </p:nvSpPr>
        <p:spPr>
          <a:xfrm>
            <a:off x="819150" y="5810250"/>
            <a:ext cx="13525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UAT上线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9FD9C83-5C1E-4B18-A417-ADA70CEA58D8}"/>
              </a:ext>
            </a:extLst>
          </p:cNvPr>
          <p:cNvSpPr>
            <a:spLocks noGrp="1"/>
          </p:cNvSpPr>
          <p:nvPr/>
        </p:nvSpPr>
        <p:spPr>
          <a:xfrm>
            <a:off x="2457450" y="5800725"/>
            <a:ext cx="62674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安排关键用户测试、培训参会、上线演练和签字确认。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BE8C122-D61B-4E89-933C-3FA52DFA3CDB}"/>
              </a:ext>
            </a:extLst>
          </p:cNvPr>
          <p:cNvSpPr>
            <a:spLocks noGrp="1"/>
          </p:cNvSpPr>
          <p:nvPr/>
        </p:nvSpPr>
        <p:spPr>
          <a:xfrm>
            <a:off x="9029700" y="5800725"/>
            <a:ext cx="232410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上线门禁材料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632A9846-7F7B-4955-B7E6-39FC98AD7A8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1294315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5">
            <a:extLst>
              <a:ext uri="{FF2B5EF4-FFF2-40B4-BE49-F238E27FC236}">
                <a16:creationId xmlns:a16="http://schemas.microsoft.com/office/drawing/2014/main" id="{6F2A84AB-8E2B-412F-8CC5-D83FB87020B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C2B4617-7788-4025-8860-55ABFFE38A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451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434A0EB-535E-452B-9EE4-B2F7AC6B6179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05 项目管理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159E6FA-06C9-4D1F-A143-98C7D23B0FE6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18 / 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5EF0B0D-2369-4FA3-BE66-691DFC918F62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22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DBA3962-2744-4E90-B491-9F1B0A761729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1F8A70"/>
          </a:solidFill>
          <a:ln w="1905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2D00FB1-CEA3-431B-92DC-E4B95AC7B687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09625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近期先把四件事抓住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D9C7C0B-BF52-4013-9F8B-2AA53C005E87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组织建起来、资料拿到手、访谈跑起来、蓝图先出稿。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8AE7BA29-53FB-48D3-A84D-F5BD3634F33C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371850"/>
          </a:xfrm>
          <a:prstGeom prst="roundRect">
            <a:avLst>
              <a:gd name="adj" fmla="val 2260"/>
            </a:avLst>
          </a:prstGeom>
          <a:solidFill>
            <a:srgbClr val="FFFFFF">
              <a:alpha val="90980"/>
            </a:srgbClr>
          </a:solidFill>
          <a:ln w="10478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85C092-DCF7-40B9-806C-802AB0552B09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42900"/>
          </a:xfrm>
          <a:prstGeom prst="rect">
            <a:avLst/>
          </a:prstGeom>
          <a:solidFill>
            <a:srgbClr val="0D5F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A0CF4F-32E1-4D65-90AA-23117AB68822}"/>
              </a:ext>
            </a:extLst>
          </p:cNvPr>
          <p:cNvSpPr>
            <a:spLocks noGrp="1"/>
          </p:cNvSpPr>
          <p:nvPr/>
        </p:nvSpPr>
        <p:spPr>
          <a:xfrm>
            <a:off x="819150" y="2943225"/>
            <a:ext cx="1352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工作包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4548FA-9B78-49A7-9694-B892D9C009A8}"/>
              </a:ext>
            </a:extLst>
          </p:cNvPr>
          <p:cNvSpPr>
            <a:spLocks noGrp="1"/>
          </p:cNvSpPr>
          <p:nvPr/>
        </p:nvSpPr>
        <p:spPr>
          <a:xfrm>
            <a:off x="2438400" y="2943225"/>
            <a:ext cx="6305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主要活动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EFC64A2-3645-4DD5-B0CA-7214E080D05B}"/>
              </a:ext>
            </a:extLst>
          </p:cNvPr>
          <p:cNvSpPr>
            <a:spLocks noGrp="1"/>
          </p:cNvSpPr>
          <p:nvPr/>
        </p:nvSpPr>
        <p:spPr>
          <a:xfrm>
            <a:off x="9010650" y="2943225"/>
            <a:ext cx="2362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阶段输出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82C85EA-12E7-4AE9-A396-45DBEB3D0460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10820400" cy="757238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93A63C9-6492-42E7-811D-78AA3160074E}"/>
              </a:ext>
            </a:extLst>
          </p:cNvPr>
          <p:cNvSpPr>
            <a:spLocks noGrp="1"/>
          </p:cNvSpPr>
          <p:nvPr/>
        </p:nvSpPr>
        <p:spPr>
          <a:xfrm>
            <a:off x="2305050" y="3200400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4AAC83-475B-41C7-B692-0DF6C9E6A5CF}"/>
              </a:ext>
            </a:extLst>
          </p:cNvPr>
          <p:cNvSpPr>
            <a:spLocks noGrp="1"/>
          </p:cNvSpPr>
          <p:nvPr/>
        </p:nvSpPr>
        <p:spPr>
          <a:xfrm>
            <a:off x="8877300" y="3200400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E7DA731-E6D1-4BD5-B6DC-68828C78B8DB}"/>
              </a:ext>
            </a:extLst>
          </p:cNvPr>
          <p:cNvSpPr>
            <a:spLocks noGrp="1"/>
          </p:cNvSpPr>
          <p:nvPr/>
        </p:nvSpPr>
        <p:spPr>
          <a:xfrm>
            <a:off x="819150" y="3286125"/>
            <a:ext cx="1352550" cy="5857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04/27-04/</a:t>
            </a:r>
          </a:p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30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F367BEE-84A3-4859-B0C1-6FCB1760AA80}"/>
              </a:ext>
            </a:extLst>
          </p:cNvPr>
          <p:cNvSpPr>
            <a:spLocks noGrp="1"/>
          </p:cNvSpPr>
          <p:nvPr/>
        </p:nvSpPr>
        <p:spPr>
          <a:xfrm>
            <a:off x="2457450" y="3276600"/>
            <a:ext cx="626745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开启动会，建项目群和例会机制，确认调研计划、资料清单和接口人。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1BFE9A5-EFCE-443A-97EC-56CA20446C7A}"/>
              </a:ext>
            </a:extLst>
          </p:cNvPr>
          <p:cNvSpPr>
            <a:spLocks noGrp="1"/>
          </p:cNvSpPr>
          <p:nvPr/>
        </p:nvSpPr>
        <p:spPr>
          <a:xfrm>
            <a:off x="9029700" y="3276600"/>
            <a:ext cx="232410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启动纪要、调研清单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E192653-780C-4F1A-BDDB-19B5D19D24F0}"/>
              </a:ext>
            </a:extLst>
          </p:cNvPr>
          <p:cNvSpPr>
            <a:spLocks noGrp="1"/>
          </p:cNvSpPr>
          <p:nvPr/>
        </p:nvSpPr>
        <p:spPr>
          <a:xfrm>
            <a:off x="685800" y="3957638"/>
            <a:ext cx="10820400" cy="757238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F55A38A-6AB8-4DEF-8DB1-C8E032C3C9B4}"/>
              </a:ext>
            </a:extLst>
          </p:cNvPr>
          <p:cNvSpPr>
            <a:spLocks noGrp="1"/>
          </p:cNvSpPr>
          <p:nvPr/>
        </p:nvSpPr>
        <p:spPr>
          <a:xfrm>
            <a:off x="2305050" y="3957638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10404A7-9576-447B-92A4-245677D130A1}"/>
              </a:ext>
            </a:extLst>
          </p:cNvPr>
          <p:cNvSpPr>
            <a:spLocks noGrp="1"/>
          </p:cNvSpPr>
          <p:nvPr/>
        </p:nvSpPr>
        <p:spPr>
          <a:xfrm>
            <a:off x="8877300" y="3957638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2867092-1780-4F33-90A6-8C36C9AFC978}"/>
              </a:ext>
            </a:extLst>
          </p:cNvPr>
          <p:cNvSpPr>
            <a:spLocks noGrp="1"/>
          </p:cNvSpPr>
          <p:nvPr/>
        </p:nvSpPr>
        <p:spPr>
          <a:xfrm>
            <a:off x="819150" y="4043363"/>
            <a:ext cx="1352550" cy="5857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05/06-05/</a:t>
            </a:r>
          </a:p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10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138789D-21DA-4EC2-BEB7-59D71553F837}"/>
              </a:ext>
            </a:extLst>
          </p:cNvPr>
          <p:cNvSpPr>
            <a:spLocks noGrp="1"/>
          </p:cNvSpPr>
          <p:nvPr/>
        </p:nvSpPr>
        <p:spPr>
          <a:xfrm>
            <a:off x="2457450" y="4033838"/>
            <a:ext cx="626745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集中访谈，收集历史样例，整理现状流程和主要痛点。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9F185C8-24B2-492E-AFAA-1B54CCC72506}"/>
              </a:ext>
            </a:extLst>
          </p:cNvPr>
          <p:cNvSpPr>
            <a:spLocks noGrp="1"/>
          </p:cNvSpPr>
          <p:nvPr/>
        </p:nvSpPr>
        <p:spPr>
          <a:xfrm>
            <a:off x="9029700" y="4033838"/>
            <a:ext cx="232410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调研纪要、风险清单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1E83413-1888-4B40-93AB-D1EA98FB96B7}"/>
              </a:ext>
            </a:extLst>
          </p:cNvPr>
          <p:cNvSpPr>
            <a:spLocks noGrp="1"/>
          </p:cNvSpPr>
          <p:nvPr/>
        </p:nvSpPr>
        <p:spPr>
          <a:xfrm>
            <a:off x="685800" y="4714875"/>
            <a:ext cx="10820400" cy="757238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70ED8C9-A46E-40F6-978F-57F67D02625A}"/>
              </a:ext>
            </a:extLst>
          </p:cNvPr>
          <p:cNvSpPr>
            <a:spLocks noGrp="1"/>
          </p:cNvSpPr>
          <p:nvPr/>
        </p:nvSpPr>
        <p:spPr>
          <a:xfrm>
            <a:off x="2305050" y="4714875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D4ED4C7-0549-4548-BEE4-B3DB307BFC22}"/>
              </a:ext>
            </a:extLst>
          </p:cNvPr>
          <p:cNvSpPr>
            <a:spLocks noGrp="1"/>
          </p:cNvSpPr>
          <p:nvPr/>
        </p:nvSpPr>
        <p:spPr>
          <a:xfrm>
            <a:off x="8877300" y="4714875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BBF531D-0E0B-401D-B8AA-EC07AFDA1C36}"/>
              </a:ext>
            </a:extLst>
          </p:cNvPr>
          <p:cNvSpPr>
            <a:spLocks noGrp="1"/>
          </p:cNvSpPr>
          <p:nvPr/>
        </p:nvSpPr>
        <p:spPr>
          <a:xfrm>
            <a:off x="819150" y="4800600"/>
            <a:ext cx="1352550" cy="5857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05/11-05/</a:t>
            </a:r>
          </a:p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15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843F7F5-8F63-47F0-A476-1FC116E58723}"/>
              </a:ext>
            </a:extLst>
          </p:cNvPr>
          <p:cNvSpPr>
            <a:spLocks noGrp="1"/>
          </p:cNvSpPr>
          <p:nvPr/>
        </p:nvSpPr>
        <p:spPr>
          <a:xfrm>
            <a:off x="2457450" y="4791075"/>
            <a:ext cx="626745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启动蓝图初稿，同步补充调研和关键场景复核。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2DF7BA5-B5ED-4455-A02D-A75B24B43880}"/>
              </a:ext>
            </a:extLst>
          </p:cNvPr>
          <p:cNvSpPr>
            <a:spLocks noGrp="1"/>
          </p:cNvSpPr>
          <p:nvPr/>
        </p:nvSpPr>
        <p:spPr>
          <a:xfrm>
            <a:off x="9029700" y="4791075"/>
            <a:ext cx="232410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蓝图初稿、待决事项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D8C3D23-5230-4C06-9364-F43C9F296664}"/>
              </a:ext>
            </a:extLst>
          </p:cNvPr>
          <p:cNvSpPr>
            <a:spLocks noGrp="1"/>
          </p:cNvSpPr>
          <p:nvPr/>
        </p:nvSpPr>
        <p:spPr>
          <a:xfrm>
            <a:off x="685800" y="5472113"/>
            <a:ext cx="10820400" cy="757238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0AD37B1-7547-406F-B5FA-9D54D516B2D2}"/>
              </a:ext>
            </a:extLst>
          </p:cNvPr>
          <p:cNvSpPr>
            <a:spLocks noGrp="1"/>
          </p:cNvSpPr>
          <p:nvPr/>
        </p:nvSpPr>
        <p:spPr>
          <a:xfrm>
            <a:off x="2305050" y="5472113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5CD05CC-5F59-49BC-9A7A-81C7A0E70F88}"/>
              </a:ext>
            </a:extLst>
          </p:cNvPr>
          <p:cNvSpPr>
            <a:spLocks noGrp="1"/>
          </p:cNvSpPr>
          <p:nvPr/>
        </p:nvSpPr>
        <p:spPr>
          <a:xfrm>
            <a:off x="8877300" y="5472113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19F9610-E351-4E26-9316-DFCCCC5E0B36}"/>
              </a:ext>
            </a:extLst>
          </p:cNvPr>
          <p:cNvSpPr>
            <a:spLocks noGrp="1"/>
          </p:cNvSpPr>
          <p:nvPr/>
        </p:nvSpPr>
        <p:spPr>
          <a:xfrm>
            <a:off x="819150" y="5557838"/>
            <a:ext cx="1352550" cy="5857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05/18-05/</a:t>
            </a:r>
          </a:p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25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068E3F9-D769-4DB5-B73C-F8228FCA65A8}"/>
              </a:ext>
            </a:extLst>
          </p:cNvPr>
          <p:cNvSpPr>
            <a:spLocks noGrp="1"/>
          </p:cNvSpPr>
          <p:nvPr/>
        </p:nvSpPr>
        <p:spPr>
          <a:xfrm>
            <a:off x="2457450" y="5548313"/>
            <a:ext cx="626745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深化蓝图，确认原型、权限、接口和数据口径。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B88A108-FCDB-4D1A-A3CB-AA5AA2E18BEE}"/>
              </a:ext>
            </a:extLst>
          </p:cNvPr>
          <p:cNvSpPr>
            <a:spLocks noGrp="1"/>
          </p:cNvSpPr>
          <p:nvPr/>
        </p:nvSpPr>
        <p:spPr>
          <a:xfrm>
            <a:off x="9029700" y="5548313"/>
            <a:ext cx="232410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蓝图确认材料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E2EEC85-1B0C-41A6-8CA7-0303F530677B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286379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6F2A84AB-8E2B-412F-8CC5-D83FB87020B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129C56B4-AC93-481B-B9F1-07A05FC3FD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B6CEE1B-0F40-427A-A6E6-F4FBBB5C94AC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06 启动共识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EA6CA12-EA39-4AAF-B849-3638F2FA33A1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19 / 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DF7316E-10CC-4C58-9885-C71AAECE8F26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22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C06455E-CBC7-4E21-87FE-32325B74B03C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1F8A70"/>
          </a:solidFill>
          <a:ln w="1905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1E0180D-97B6-4DF6-9844-F50D816EF439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2390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启动会后，我们就按这个节奏往前推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004333A-2813-4125-9E23-1D8076F1D5AF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目标不变：调研充分、蓝图准确、联调前置、上线受控。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D05E72F2-5781-49F9-9F14-306941117F16}"/>
              </a:ext>
            </a:extLst>
          </p:cNvPr>
          <p:cNvSpPr>
            <a:spLocks noGrp="1"/>
          </p:cNvSpPr>
          <p:nvPr/>
        </p:nvSpPr>
        <p:spPr>
          <a:xfrm>
            <a:off x="800100" y="4057650"/>
            <a:ext cx="3384550" cy="1676400"/>
          </a:xfrm>
          <a:prstGeom prst="roundRect">
            <a:avLst>
              <a:gd name="adj" fmla="val 4545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7EFED0C-30B1-4FC6-95F9-702251BEF9B0}"/>
              </a:ext>
            </a:extLst>
          </p:cNvPr>
          <p:cNvSpPr>
            <a:spLocks noGrp="1"/>
          </p:cNvSpPr>
          <p:nvPr/>
        </p:nvSpPr>
        <p:spPr>
          <a:xfrm>
            <a:off x="800100" y="4057650"/>
            <a:ext cx="76200" cy="1676400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6C6C07A-BBAE-4381-BD05-C2677A469FEA}"/>
              </a:ext>
            </a:extLst>
          </p:cNvPr>
          <p:cNvSpPr>
            <a:spLocks noGrp="1"/>
          </p:cNvSpPr>
          <p:nvPr/>
        </p:nvSpPr>
        <p:spPr>
          <a:xfrm>
            <a:off x="1009650" y="4286250"/>
            <a:ext cx="514350" cy="514350"/>
          </a:xfrm>
          <a:prstGeom prst="ellipse">
            <a:avLst/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F57E891-4F45-4769-B5CB-AA513F99FB76}"/>
              </a:ext>
            </a:extLst>
          </p:cNvPr>
          <p:cNvSpPr>
            <a:spLocks noGrp="1"/>
          </p:cNvSpPr>
          <p:nvPr/>
        </p:nvSpPr>
        <p:spPr>
          <a:xfrm>
            <a:off x="1162050" y="4562475"/>
            <a:ext cx="57150" cy="114300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5ACAF06-3DF1-403B-9244-1838B1B86FCE}"/>
              </a:ext>
            </a:extLst>
          </p:cNvPr>
          <p:cNvSpPr>
            <a:spLocks noGrp="1"/>
          </p:cNvSpPr>
          <p:nvPr/>
        </p:nvSpPr>
        <p:spPr>
          <a:xfrm>
            <a:off x="1247775" y="4486275"/>
            <a:ext cx="57150" cy="190500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4D712AE-DA77-48B3-8A49-5895E570A70D}"/>
              </a:ext>
            </a:extLst>
          </p:cNvPr>
          <p:cNvSpPr>
            <a:spLocks noGrp="1"/>
          </p:cNvSpPr>
          <p:nvPr/>
        </p:nvSpPr>
        <p:spPr>
          <a:xfrm>
            <a:off x="1333500" y="4419600"/>
            <a:ext cx="57150" cy="257175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999DA8A-C314-4F56-878D-92AF416FE803}"/>
              </a:ext>
            </a:extLst>
          </p:cNvPr>
          <p:cNvSpPr>
            <a:spLocks noGrp="1"/>
          </p:cNvSpPr>
          <p:nvPr/>
        </p:nvSpPr>
        <p:spPr>
          <a:xfrm>
            <a:off x="1638300" y="42672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D5F52"/>
                </a:solidFill>
              </a:defRPr>
            </a:pPr>
            <a:r>
              <a:rPr sz="1125" b="1">
                <a:solidFill>
                  <a:srgbClr val="0D5F52"/>
                </a:solidFill>
              </a:rPr>
              <a:t>SOW为基线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8DFB223-1E4D-4D89-A1AA-2049C30E3A97}"/>
              </a:ext>
            </a:extLst>
          </p:cNvPr>
          <p:cNvSpPr>
            <a:spLocks noGrp="1"/>
          </p:cNvSpPr>
          <p:nvPr/>
        </p:nvSpPr>
        <p:spPr>
          <a:xfrm>
            <a:off x="1028700" y="4876800"/>
            <a:ext cx="29273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2233A"/>
                </a:solidFill>
              </a:defRPr>
            </a:pPr>
            <a:r>
              <a:rPr sz="1275" b="0">
                <a:solidFill>
                  <a:srgbClr val="12233A"/>
                </a:solidFill>
              </a:rPr>
              <a:t>6月25日上线倒排、正式范围白名单和阶段交付物，作为共同</a:t>
            </a:r>
          </a:p>
          <a:p>
            <a:pPr algn="l">
              <a:defRPr sz="1275" b="0">
                <a:solidFill>
                  <a:srgbClr val="12233A"/>
                </a:solidFill>
              </a:defRPr>
            </a:pPr>
            <a:r>
              <a:rPr sz="1275" b="0">
                <a:solidFill>
                  <a:srgbClr val="12233A"/>
                </a:solidFill>
              </a:rPr>
              <a:t>执行依据。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61E773C0-072D-48EA-97F6-ED0F5680B3A1}"/>
              </a:ext>
            </a:extLst>
          </p:cNvPr>
          <p:cNvSpPr>
            <a:spLocks noGrp="1"/>
          </p:cNvSpPr>
          <p:nvPr/>
        </p:nvSpPr>
        <p:spPr>
          <a:xfrm>
            <a:off x="4413250" y="4057650"/>
            <a:ext cx="3384550" cy="1676400"/>
          </a:xfrm>
          <a:prstGeom prst="roundRect">
            <a:avLst>
              <a:gd name="adj" fmla="val 4545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324103A-9E56-4227-8306-C5FD7103B058}"/>
              </a:ext>
            </a:extLst>
          </p:cNvPr>
          <p:cNvSpPr>
            <a:spLocks noGrp="1"/>
          </p:cNvSpPr>
          <p:nvPr/>
        </p:nvSpPr>
        <p:spPr>
          <a:xfrm>
            <a:off x="4413250" y="4057650"/>
            <a:ext cx="76200" cy="1676400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A41E9DD-1606-4343-8E58-14ECB1416A8F}"/>
              </a:ext>
            </a:extLst>
          </p:cNvPr>
          <p:cNvSpPr>
            <a:spLocks noGrp="1"/>
          </p:cNvSpPr>
          <p:nvPr/>
        </p:nvSpPr>
        <p:spPr>
          <a:xfrm>
            <a:off x="4622800" y="4286250"/>
            <a:ext cx="514350" cy="514350"/>
          </a:xfrm>
          <a:prstGeom prst="ellipse">
            <a:avLst/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6349CFF6-3A5A-4D07-A47F-1A42353D396A}"/>
              </a:ext>
            </a:extLst>
          </p:cNvPr>
          <p:cNvSpPr>
            <a:spLocks noGrp="1"/>
          </p:cNvSpPr>
          <p:nvPr/>
        </p:nvSpPr>
        <p:spPr>
          <a:xfrm>
            <a:off x="4746625" y="4457700"/>
            <a:ext cx="95250" cy="95250"/>
          </a:xfrm>
          <a:prstGeom prst="ellipse">
            <a:avLst/>
          </a:prstGeom>
          <a:solidFill>
            <a:srgbClr val="1F8A70"/>
          </a:solidFill>
          <a:ln w="9525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8989ED56-8E1C-429D-A520-71DD2D7629BF}"/>
              </a:ext>
            </a:extLst>
          </p:cNvPr>
          <p:cNvSpPr>
            <a:spLocks noGrp="1"/>
          </p:cNvSpPr>
          <p:nvPr/>
        </p:nvSpPr>
        <p:spPr>
          <a:xfrm>
            <a:off x="4918075" y="4543425"/>
            <a:ext cx="95250" cy="95250"/>
          </a:xfrm>
          <a:prstGeom prst="ellipse">
            <a:avLst/>
          </a:prstGeom>
          <a:solidFill>
            <a:srgbClr val="1F8A70"/>
          </a:solidFill>
          <a:ln w="9525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B460F70-3F3D-4176-86F9-E639A82EB3AF}"/>
              </a:ext>
            </a:extLst>
          </p:cNvPr>
          <p:cNvSpPr>
            <a:spLocks noGrp="1"/>
          </p:cNvSpPr>
          <p:nvPr/>
        </p:nvSpPr>
        <p:spPr>
          <a:xfrm>
            <a:off x="4832350" y="4524375"/>
            <a:ext cx="180975" cy="28575"/>
          </a:xfrm>
          <a:prstGeom prst="rect">
            <a:avLst/>
          </a:prstGeom>
          <a:solidFill>
            <a:srgbClr val="122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53481CD-F8EB-468A-8A38-6038AD3A4976}"/>
              </a:ext>
            </a:extLst>
          </p:cNvPr>
          <p:cNvSpPr>
            <a:spLocks noGrp="1"/>
          </p:cNvSpPr>
          <p:nvPr/>
        </p:nvSpPr>
        <p:spPr>
          <a:xfrm>
            <a:off x="5251450" y="42672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D5F52"/>
                </a:solidFill>
              </a:defRPr>
            </a:pPr>
            <a:r>
              <a:rPr sz="1125" b="1">
                <a:solidFill>
                  <a:srgbClr val="0D5F52"/>
                </a:solidFill>
              </a:rPr>
              <a:t>交叉推进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68C8788-412A-4EC2-80AB-9E56747F7808}"/>
              </a:ext>
            </a:extLst>
          </p:cNvPr>
          <p:cNvSpPr>
            <a:spLocks noGrp="1"/>
          </p:cNvSpPr>
          <p:nvPr/>
        </p:nvSpPr>
        <p:spPr>
          <a:xfrm>
            <a:off x="4641850" y="4876800"/>
            <a:ext cx="29273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2233A"/>
                </a:solidFill>
              </a:defRPr>
            </a:pPr>
            <a:r>
              <a:rPr sz="1275" b="0">
                <a:solidFill>
                  <a:srgbClr val="12233A"/>
                </a:solidFill>
              </a:rPr>
              <a:t>调研和蓝图、实现和联调都要交叉推进，减少前后等待。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9E38B546-EEF1-43F7-B961-9F0BDF1A9AD5}"/>
              </a:ext>
            </a:extLst>
          </p:cNvPr>
          <p:cNvSpPr>
            <a:spLocks noGrp="1"/>
          </p:cNvSpPr>
          <p:nvPr/>
        </p:nvSpPr>
        <p:spPr>
          <a:xfrm>
            <a:off x="8026400" y="4057650"/>
            <a:ext cx="3384550" cy="1676400"/>
          </a:xfrm>
          <a:prstGeom prst="roundRect">
            <a:avLst>
              <a:gd name="adj" fmla="val 4545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6E56ED3-E4C8-47C3-A505-5C6244549F70}"/>
              </a:ext>
            </a:extLst>
          </p:cNvPr>
          <p:cNvSpPr>
            <a:spLocks noGrp="1"/>
          </p:cNvSpPr>
          <p:nvPr/>
        </p:nvSpPr>
        <p:spPr>
          <a:xfrm>
            <a:off x="8026400" y="4057650"/>
            <a:ext cx="76200" cy="1676400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E3AF06FC-A442-437F-94D0-16199DD08828}"/>
              </a:ext>
            </a:extLst>
          </p:cNvPr>
          <p:cNvSpPr>
            <a:spLocks noGrp="1"/>
          </p:cNvSpPr>
          <p:nvPr/>
        </p:nvSpPr>
        <p:spPr>
          <a:xfrm>
            <a:off x="8235950" y="4286250"/>
            <a:ext cx="514350" cy="514350"/>
          </a:xfrm>
          <a:prstGeom prst="ellipse">
            <a:avLst/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5AB1BBDF-64B9-473C-B11B-95BA836CAD3B}"/>
              </a:ext>
            </a:extLst>
          </p:cNvPr>
          <p:cNvSpPr>
            <a:spLocks noGrp="1"/>
          </p:cNvSpPr>
          <p:nvPr/>
        </p:nvSpPr>
        <p:spPr>
          <a:xfrm>
            <a:off x="8359775" y="442912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1F8A70"/>
          </a:solidFill>
          <a:ln w="9525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08CC45F1-7408-41B4-A8BD-DF59106D0966}"/>
              </a:ext>
            </a:extLst>
          </p:cNvPr>
          <p:cNvSpPr>
            <a:spLocks noGrp="1"/>
          </p:cNvSpPr>
          <p:nvPr/>
        </p:nvSpPr>
        <p:spPr>
          <a:xfrm>
            <a:off x="8407400" y="451485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D6A23A"/>
          </a:solidFill>
          <a:ln w="9525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79581C1C-7212-4AE1-97B5-8ABD4B0C2392}"/>
              </a:ext>
            </a:extLst>
          </p:cNvPr>
          <p:cNvSpPr>
            <a:spLocks noGrp="1"/>
          </p:cNvSpPr>
          <p:nvPr/>
        </p:nvSpPr>
        <p:spPr>
          <a:xfrm>
            <a:off x="8455025" y="460057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D95F45"/>
          </a:solidFill>
          <a:ln w="9525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AB42A8E-092F-46AA-A915-CDA408EABACA}"/>
              </a:ext>
            </a:extLst>
          </p:cNvPr>
          <p:cNvSpPr>
            <a:spLocks noGrp="1"/>
          </p:cNvSpPr>
          <p:nvPr/>
        </p:nvSpPr>
        <p:spPr>
          <a:xfrm>
            <a:off x="8864600" y="42672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D5F52"/>
                </a:solidFill>
              </a:defRPr>
            </a:pPr>
            <a:r>
              <a:rPr sz="1125" b="1">
                <a:solidFill>
                  <a:srgbClr val="0D5F52"/>
                </a:solidFill>
              </a:rPr>
              <a:t>节点受控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5F1ACBF-F147-40EF-83B2-09B9E54CF7D6}"/>
              </a:ext>
            </a:extLst>
          </p:cNvPr>
          <p:cNvSpPr>
            <a:spLocks noGrp="1"/>
          </p:cNvSpPr>
          <p:nvPr/>
        </p:nvSpPr>
        <p:spPr>
          <a:xfrm>
            <a:off x="8255000" y="4876800"/>
            <a:ext cx="29273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2233A"/>
                </a:solidFill>
              </a:defRPr>
            </a:pPr>
            <a:r>
              <a:rPr sz="1275" b="0">
                <a:solidFill>
                  <a:srgbClr val="12233A"/>
                </a:solidFill>
              </a:rPr>
              <a:t>蓝图确认、集成验证、UAT签字、上线演练通过后再切生产。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4D64DB9-FDB7-4ECB-9E0F-71A6EAAAA6A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139536269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1784</Words>
  <Application>Microsoft Macintosh PowerPoint</Application>
  <DocSecurity>0</DocSecurity>
  <PresentationFormat>宽屏</PresentationFormat>
  <Paragraphs>483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2" baseType="lpstr">
      <vt:lpstr>等线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卢 文融</cp:lastModifiedBy>
  <cp:revision>1</cp:revision>
  <dcterms:created xsi:type="dcterms:W3CDTF">2026-04-22T07:19:05Z</dcterms:created>
  <dcterms:modified xsi:type="dcterms:W3CDTF">2026-04-22T08:38:23Z</dcterms:modified>
</cp:coreProperties>
</file>