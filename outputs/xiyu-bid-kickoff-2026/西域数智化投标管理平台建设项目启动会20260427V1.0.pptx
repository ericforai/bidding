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封面页，明确本次为投标管理平台建设项目启动会，并以SOW实施计划为汇报基线。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强调启动会不是泛泛介绍，而是把项目如何做、何时交、需要谁配合讲清楚。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项目目标用三句话讲清楚：流程闭环、过程可控、智能辅助。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正式范围和验收边界以SOW和白名单为准。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用客户管理语言描述价值，不停留在功能清单。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重点说明两组交叉窗口：05/11-05/15、06/10-06/22。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这页回应客户最关心的前期调研时间不足风险。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强化调研活动的颗粒度，避免客户觉得前期安排过短。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强调蓝图输出即实施基线。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这页回应系统实现和集成联调之间不能完全串行的问题。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系统实现页要有SOW颗粒度，便于客户理解工作量。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联调页要说明为什么提前启动，且交付物能被验收。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强调UAT和上线准备是门禁，不是形式性动作。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组织页突出决策层、统筹层和执行层。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职责表要直接服务项目推进。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项目管理页承接计划与组织，说明如何管住交付。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这页要讲清楚客户配合决定计划可执行性。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近期计划直接落到两周到四周内可执行动作。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收尾页形成客户共识，并自然引导进入启动后的行动安排。</a:t>
            </a:r>
          </a:p>
          <a:p>
            <a:endParaRPr/>
          </a:p>
          <a:p>
            <a:r>
              <a:t>[Sources]</a:t>
            </a:r>
          </a:p>
          <a:p>
            <a:r>
              <a:t>- docs/项目启动会PPT大纲与核心内容.md</a:t>
            </a:r>
          </a:p>
          <a:p>
            <a:r>
              <a:t>- docs/西域数智化投标管理平台-实施计划书-60天版.md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2A22619-241F-4590-8A49-756F298C3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D59B725-873E-49CD-8ED9-AC21B4CE2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C8C1CF0-B626-4AF2-B81D-3E40F8E6D1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D654F25-5B31-4EF8-8FED-F203F6E0C4C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973CF3F-6F17-42BB-B8F4-89A2520B74E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5689002-7097-44D7-9B23-0F0650461F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D76DDD-B8F7-423E-A76C-D3B27C6DA381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" cy="433387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5FE950-6FAB-492F-8CD6-9C7BF22C8B8C}"/>
              </a:ext>
            </a:extLst>
          </p:cNvPr>
          <p:cNvSpPr>
            <a:spLocks noGrp="1"/>
          </p:cNvSpPr>
          <p:nvPr/>
        </p:nvSpPr>
        <p:spPr>
          <a:xfrm>
            <a:off x="819150" y="8382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PROJECT KICK-OFF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F2FA84-B6CF-4E4D-B36C-D4B40C89BE64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477125" cy="175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2233A"/>
                </a:solidFill>
              </a:defRPr>
            </a:pPr>
            <a:r>
              <a:rPr sz="3600" b="1">
                <a:solidFill>
                  <a:srgbClr val="12233A"/>
                </a:solidFill>
              </a:rPr>
              <a:t>西域数智化投标管理平台</a:t>
            </a:r>
          </a:p>
          <a:p>
            <a:pPr algn="l">
              <a:defRPr sz="3600" b="1">
                <a:solidFill>
                  <a:srgbClr val="12233A"/>
                </a:solidFill>
              </a:defRPr>
            </a:pPr>
            <a:r>
              <a:rPr sz="3600" b="1">
                <a:solidFill>
                  <a:srgbClr val="12233A"/>
                </a:solidFill>
              </a:rPr>
              <a:t>建设项目启动会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B372DB-05B0-4357-A3DA-61CF6F1C24FF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5810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4465C"/>
                </a:solidFill>
              </a:defRPr>
            </a:pPr>
            <a:r>
              <a:rPr sz="1500" b="0">
                <a:solidFill>
                  <a:srgbClr val="34465C"/>
                </a:solidFill>
              </a:rPr>
              <a:t>SOW实施计划宣贯 · 目标对齐 · 组织协同 · 里程碑受控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968D012-C4DA-401D-A171-9637F4A94CA2}"/>
              </a:ext>
            </a:extLst>
          </p:cNvPr>
          <p:cNvSpPr>
            <a:spLocks noGrp="1"/>
          </p:cNvSpPr>
          <p:nvPr/>
        </p:nvSpPr>
        <p:spPr>
          <a:xfrm>
            <a:off x="819150" y="4343400"/>
            <a:ext cx="37147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09F83D-466F-468F-9F50-503D8E9DDCBB}"/>
              </a:ext>
            </a:extLst>
          </p:cNvPr>
          <p:cNvSpPr>
            <a:spLocks noGrp="1"/>
          </p:cNvSpPr>
          <p:nvPr/>
        </p:nvSpPr>
        <p:spPr>
          <a:xfrm>
            <a:off x="1066800" y="4552950"/>
            <a:ext cx="3200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2233A"/>
                </a:solidFill>
              </a:defRPr>
            </a:pPr>
            <a:r>
              <a:rPr sz="1725" b="1">
                <a:solidFill>
                  <a:srgbClr val="12233A"/>
                </a:solidFill>
              </a:rPr>
              <a:t>60个有效工作日 · 04.27-07.23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7B33ED-2A09-405B-A64B-939FFFC3DBE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078421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00963B3-BD6B-4CEC-8156-18141F8DCC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6ABAC5-8A3C-4206-B05C-CD9248FB22A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01 会议目标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F90622-B43C-4AFB-9120-C76456A53127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02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151A98-EA9D-4C55-A82E-ABEFAD7BC7E9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853D589-A0A2-4E13-AFEE-E203AD5891BD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A858FE9-B012-4DD2-8030-D124372C3B5D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本次启动会需要统一的</a:t>
            </a:r>
            <a:r>
              <a:rPr lang="zh-CN" altLang="en-US" sz="3000" b="1">
                <a:solidFill>
                  <a:srgbClr val="12233A"/>
                </a:solidFill>
              </a:rPr>
              <a:t>三</a:t>
            </a:r>
            <a:r>
              <a:rPr sz="3000" b="1">
                <a:solidFill>
                  <a:srgbClr val="12233A"/>
                </a:solidFill>
              </a:rPr>
              <a:t>件事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0F87C2-512A-4F85-AFA3-96EF1747D0F8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从目标、范围、计划、组织到近期行动一次性对齐。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C4C5EF2-64BD-43AB-B94D-C95B72CBB72C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8A7728-1E22-4DDA-8203-4CE0974F3F8A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D95FD54-2B62-4B82-8CE2-9BC236EE3EE1}"/>
              </a:ext>
            </a:extLst>
          </p:cNvPr>
          <p:cNvSpPr>
            <a:spLocks noGrp="1"/>
          </p:cNvSpPr>
          <p:nvPr/>
        </p:nvSpPr>
        <p:spPr>
          <a:xfrm>
            <a:off x="100965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F9DAE1-5F83-44B0-AD0D-AB3975E2DCF1}"/>
              </a:ext>
            </a:extLst>
          </p:cNvPr>
          <p:cNvSpPr>
            <a:spLocks noGrp="1"/>
          </p:cNvSpPr>
          <p:nvPr/>
        </p:nvSpPr>
        <p:spPr>
          <a:xfrm>
            <a:off x="1162050" y="4562475"/>
            <a:ext cx="57150" cy="1143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C0E7E6-4C3F-4A09-B9E6-2C35DACF5694}"/>
              </a:ext>
            </a:extLst>
          </p:cNvPr>
          <p:cNvSpPr>
            <a:spLocks noGrp="1"/>
          </p:cNvSpPr>
          <p:nvPr/>
        </p:nvSpPr>
        <p:spPr>
          <a:xfrm>
            <a:off x="1247775" y="4486275"/>
            <a:ext cx="57150" cy="1905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57B65C5-14B6-4CA3-90BA-CDDF9CC3B929}"/>
              </a:ext>
            </a:extLst>
          </p:cNvPr>
          <p:cNvSpPr>
            <a:spLocks noGrp="1"/>
          </p:cNvSpPr>
          <p:nvPr/>
        </p:nvSpPr>
        <p:spPr>
          <a:xfrm>
            <a:off x="1333500" y="4419600"/>
            <a:ext cx="57150" cy="25717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8F1E09-7DB9-4633-A443-D290C1C05615}"/>
              </a:ext>
            </a:extLst>
          </p:cNvPr>
          <p:cNvSpPr>
            <a:spLocks noGrp="1"/>
          </p:cNvSpPr>
          <p:nvPr/>
        </p:nvSpPr>
        <p:spPr>
          <a:xfrm>
            <a:off x="163830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目标范围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AF1EE2A-37AF-4163-9815-3DD703801BA0}"/>
              </a:ext>
            </a:extLst>
          </p:cNvPr>
          <p:cNvSpPr>
            <a:spLocks noGrp="1"/>
          </p:cNvSpPr>
          <p:nvPr/>
        </p:nvSpPr>
        <p:spPr>
          <a:xfrm>
            <a:off x="102870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确认本期正式交付范围、上线边界和不进入本期的演示性能力。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2EC0EC1-6707-43F5-92BB-22E78825A055}"/>
              </a:ext>
            </a:extLst>
          </p:cNvPr>
          <p:cNvSpPr>
            <a:spLocks noGrp="1"/>
          </p:cNvSpPr>
          <p:nvPr/>
        </p:nvSpPr>
        <p:spPr>
          <a:xfrm>
            <a:off x="441325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BB46B23-1C65-480B-A966-17FD76E49530}"/>
              </a:ext>
            </a:extLst>
          </p:cNvPr>
          <p:cNvSpPr>
            <a:spLocks noGrp="1"/>
          </p:cNvSpPr>
          <p:nvPr/>
        </p:nvSpPr>
        <p:spPr>
          <a:xfrm>
            <a:off x="441325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BAEAF61-7519-4845-A64B-6CFEADF4CBA6}"/>
              </a:ext>
            </a:extLst>
          </p:cNvPr>
          <p:cNvSpPr>
            <a:spLocks noGrp="1"/>
          </p:cNvSpPr>
          <p:nvPr/>
        </p:nvSpPr>
        <p:spPr>
          <a:xfrm>
            <a:off x="462280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0CBDF7B6-AD43-4825-9D35-E44E23A18571}"/>
              </a:ext>
            </a:extLst>
          </p:cNvPr>
          <p:cNvSpPr>
            <a:spLocks noGrp="1"/>
          </p:cNvSpPr>
          <p:nvPr/>
        </p:nvSpPr>
        <p:spPr>
          <a:xfrm>
            <a:off x="4746625" y="4457700"/>
            <a:ext cx="95250" cy="95250"/>
          </a:xfrm>
          <a:prstGeom prst="ellipse">
            <a:avLst/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F9DBE1E6-CCED-4E37-BDBE-B5619146F2E5}"/>
              </a:ext>
            </a:extLst>
          </p:cNvPr>
          <p:cNvSpPr>
            <a:spLocks noGrp="1"/>
          </p:cNvSpPr>
          <p:nvPr/>
        </p:nvSpPr>
        <p:spPr>
          <a:xfrm>
            <a:off x="4918075" y="4543425"/>
            <a:ext cx="95250" cy="95250"/>
          </a:xfrm>
          <a:prstGeom prst="ellipse">
            <a:avLst/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24A8143-A96D-4B59-A1D2-B1A9B7883D48}"/>
              </a:ext>
            </a:extLst>
          </p:cNvPr>
          <p:cNvSpPr>
            <a:spLocks noGrp="1"/>
          </p:cNvSpPr>
          <p:nvPr/>
        </p:nvSpPr>
        <p:spPr>
          <a:xfrm>
            <a:off x="4832350" y="4524375"/>
            <a:ext cx="180975" cy="28575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326FF26-70C1-4456-A5EE-A4C0524D8EAF}"/>
              </a:ext>
            </a:extLst>
          </p:cNvPr>
          <p:cNvSpPr>
            <a:spLocks noGrp="1"/>
          </p:cNvSpPr>
          <p:nvPr/>
        </p:nvSpPr>
        <p:spPr>
          <a:xfrm>
            <a:off x="525145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SOW计划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F4101F-26A8-43F5-A517-FED5CA624E10}"/>
              </a:ext>
            </a:extLst>
          </p:cNvPr>
          <p:cNvSpPr>
            <a:spLocks noGrp="1"/>
          </p:cNvSpPr>
          <p:nvPr/>
        </p:nvSpPr>
        <p:spPr>
          <a:xfrm>
            <a:off x="464185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按60个有效工作日排期，说明阶段交付物、门禁和两组交叉推进窗口。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4B43E0B5-E347-4EDB-9461-E08060B25676}"/>
              </a:ext>
            </a:extLst>
          </p:cNvPr>
          <p:cNvSpPr>
            <a:spLocks noGrp="1"/>
          </p:cNvSpPr>
          <p:nvPr/>
        </p:nvSpPr>
        <p:spPr>
          <a:xfrm>
            <a:off x="802640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E210ABA-25E6-4054-A6B5-EDFDA482537E}"/>
              </a:ext>
            </a:extLst>
          </p:cNvPr>
          <p:cNvSpPr>
            <a:spLocks noGrp="1"/>
          </p:cNvSpPr>
          <p:nvPr/>
        </p:nvSpPr>
        <p:spPr>
          <a:xfrm>
            <a:off x="802640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C1A34C79-8900-4B49-AAB0-EF45243568F0}"/>
              </a:ext>
            </a:extLst>
          </p:cNvPr>
          <p:cNvSpPr>
            <a:spLocks noGrp="1"/>
          </p:cNvSpPr>
          <p:nvPr/>
        </p:nvSpPr>
        <p:spPr>
          <a:xfrm>
            <a:off x="823595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D455AF04-9739-4A90-A63D-8EAD10F1C016}"/>
              </a:ext>
            </a:extLst>
          </p:cNvPr>
          <p:cNvSpPr>
            <a:spLocks noGrp="1"/>
          </p:cNvSpPr>
          <p:nvPr/>
        </p:nvSpPr>
        <p:spPr>
          <a:xfrm>
            <a:off x="8359775" y="44291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805F37C6-73AD-4A38-BE2B-BDD3F1D2407C}"/>
              </a:ext>
            </a:extLst>
          </p:cNvPr>
          <p:cNvSpPr>
            <a:spLocks noGrp="1"/>
          </p:cNvSpPr>
          <p:nvPr/>
        </p:nvSpPr>
        <p:spPr>
          <a:xfrm>
            <a:off x="8407400" y="45148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6A23A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2909A2A5-A0AA-42DF-A8C9-8A24292D6533}"/>
              </a:ext>
            </a:extLst>
          </p:cNvPr>
          <p:cNvSpPr>
            <a:spLocks noGrp="1"/>
          </p:cNvSpPr>
          <p:nvPr/>
        </p:nvSpPr>
        <p:spPr>
          <a:xfrm>
            <a:off x="8455025" y="46005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D95F45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7A68041-A811-4A3D-8746-61B4A2A073F7}"/>
              </a:ext>
            </a:extLst>
          </p:cNvPr>
          <p:cNvSpPr>
            <a:spLocks noGrp="1"/>
          </p:cNvSpPr>
          <p:nvPr/>
        </p:nvSpPr>
        <p:spPr>
          <a:xfrm>
            <a:off x="886460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组织协同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24A7D97-4009-45A0-A85B-05EC61CDFD0D}"/>
              </a:ext>
            </a:extLst>
          </p:cNvPr>
          <p:cNvSpPr>
            <a:spLocks noGrp="1"/>
          </p:cNvSpPr>
          <p:nvPr/>
        </p:nvSpPr>
        <p:spPr>
          <a:xfrm>
            <a:off x="825500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明确双方负责人、关键用户、接口人、例会节奏和问题升级机制。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A2139D8-E0AF-4D4C-81AC-A046001EB6F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853608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98D2C75-BC24-4195-8206-3C1C18CB82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B05AF7-AC55-4BB0-AAC5-9F64D13F0E6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02 项目目标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9340C0-AD91-466D-88CE-DC180C420545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2E7EF7-AC7C-4394-97F8-52D2735DF4C3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723D671-4357-4E8E-B03A-64F3A6458412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070466-7C2B-455C-9A7B-3A6BCBA1CAD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建设统一的数智化投标管理平台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E8230D-BB20-45FE-8CA6-8804C28AF1CF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667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覆盖标讯、立项、任务、标书、资源、费用、结果和知识沉淀。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82AEB3F-D509-44B3-8015-FBF16E504390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EE5938-5314-4A47-964B-175CCD02CD40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6667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1D0FBB-6231-4461-A60B-E8A560C4DD69}"/>
              </a:ext>
            </a:extLst>
          </p:cNvPr>
          <p:cNvSpPr>
            <a:spLocks noGrp="1"/>
          </p:cNvSpPr>
          <p:nvPr/>
        </p:nvSpPr>
        <p:spPr>
          <a:xfrm>
            <a:off x="10858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233A"/>
                </a:solidFill>
              </a:defRPr>
            </a:pPr>
            <a:r>
              <a:rPr sz="2550" b="1">
                <a:solidFill>
                  <a:srgbClr val="12233A"/>
                </a:solidFill>
              </a:rPr>
              <a:t>全流程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067422-9AD3-4D4E-96CE-C1ABDC91B153}"/>
              </a:ext>
            </a:extLst>
          </p:cNvPr>
          <p:cNvSpPr>
            <a:spLocks noGrp="1"/>
          </p:cNvSpPr>
          <p:nvPr/>
        </p:nvSpPr>
        <p:spPr>
          <a:xfrm>
            <a:off x="11049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4465C"/>
                </a:solidFill>
              </a:defRPr>
            </a:pPr>
            <a:r>
              <a:rPr sz="1200" b="0">
                <a:solidFill>
                  <a:srgbClr val="34465C"/>
                </a:solidFill>
              </a:rPr>
              <a:t>商机/标讯到中标结果闭环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8A3177-FC5D-4E57-9041-528D4000445C}"/>
              </a:ext>
            </a:extLst>
          </p:cNvPr>
          <p:cNvSpPr>
            <a:spLocks noGrp="1"/>
          </p:cNvSpPr>
          <p:nvPr/>
        </p:nvSpPr>
        <p:spPr>
          <a:xfrm>
            <a:off x="11049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主链路线上化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71DFEC8-AB45-491B-9799-DCBD454EE3CB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AB8697-0277-49AF-9056-B7FE01AD60FF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66675"/>
          </a:xfrm>
          <a:prstGeom prst="rect">
            <a:avLst/>
          </a:prstGeom>
          <a:solidFill>
            <a:srgbClr val="D6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411BA1-AEFB-4706-829B-ED0CFC0048F5}"/>
              </a:ext>
            </a:extLst>
          </p:cNvPr>
          <p:cNvSpPr>
            <a:spLocks noGrp="1"/>
          </p:cNvSpPr>
          <p:nvPr/>
        </p:nvSpPr>
        <p:spPr>
          <a:xfrm>
            <a:off x="461010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233A"/>
                </a:solidFill>
              </a:defRPr>
            </a:pPr>
            <a:r>
              <a:rPr sz="2550" b="1">
                <a:solidFill>
                  <a:srgbClr val="12233A"/>
                </a:solidFill>
              </a:rPr>
              <a:t>可追溯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05D52F6-9C1A-408D-B023-960976D90632}"/>
              </a:ext>
            </a:extLst>
          </p:cNvPr>
          <p:cNvSpPr>
            <a:spLocks noGrp="1"/>
          </p:cNvSpPr>
          <p:nvPr/>
        </p:nvSpPr>
        <p:spPr>
          <a:xfrm>
            <a:off x="462915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4465C"/>
                </a:solidFill>
              </a:defRPr>
            </a:pPr>
            <a:r>
              <a:rPr sz="1200" b="0">
                <a:solidFill>
                  <a:srgbClr val="34465C"/>
                </a:solidFill>
              </a:rPr>
              <a:t>任务、文档、资源、费用留痕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6B2F1EC-F446-49F8-AB73-DF5A0A34699D}"/>
              </a:ext>
            </a:extLst>
          </p:cNvPr>
          <p:cNvSpPr>
            <a:spLocks noGrp="1"/>
          </p:cNvSpPr>
          <p:nvPr/>
        </p:nvSpPr>
        <p:spPr>
          <a:xfrm>
            <a:off x="462915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过程证据链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12006058-FC8E-4EC5-8122-CEA28B20BED1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C6DB863-744D-4BB6-8BEA-6FFE5B767DD3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66675"/>
          </a:xfrm>
          <a:prstGeom prst="rect">
            <a:avLst/>
          </a:prstGeom>
          <a:solidFill>
            <a:srgbClr val="D95F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B871FB-02D8-4210-9F2D-07ECEED7DA43}"/>
              </a:ext>
            </a:extLst>
          </p:cNvPr>
          <p:cNvSpPr>
            <a:spLocks noGrp="1"/>
          </p:cNvSpPr>
          <p:nvPr/>
        </p:nvSpPr>
        <p:spPr>
          <a:xfrm>
            <a:off x="81343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233A"/>
                </a:solidFill>
              </a:defRPr>
            </a:pPr>
            <a:r>
              <a:rPr sz="2550" b="1">
                <a:solidFill>
                  <a:srgbClr val="12233A"/>
                </a:solidFill>
              </a:rPr>
              <a:t>智能化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8DFE3B2-69EB-49A5-A4C5-25E91F271F82}"/>
              </a:ext>
            </a:extLst>
          </p:cNvPr>
          <p:cNvSpPr>
            <a:spLocks noGrp="1"/>
          </p:cNvSpPr>
          <p:nvPr/>
        </p:nvSpPr>
        <p:spPr>
          <a:xfrm>
            <a:off x="81534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4465C"/>
                </a:solidFill>
              </a:defRPr>
            </a:pPr>
            <a:r>
              <a:rPr sz="1200" b="0">
                <a:solidFill>
                  <a:srgbClr val="34465C"/>
                </a:solidFill>
              </a:rPr>
              <a:t>AI分析、合规检查、评分覆盖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3EDF13-1889-4631-B1D6-7AB1C000B94E}"/>
              </a:ext>
            </a:extLst>
          </p:cNvPr>
          <p:cNvSpPr>
            <a:spLocks noGrp="1"/>
          </p:cNvSpPr>
          <p:nvPr/>
        </p:nvSpPr>
        <p:spPr>
          <a:xfrm>
            <a:off x="81534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风险前置控制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E7483C-8709-4BB4-B92B-75ECC94BF1E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338245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33CB56-571E-44D4-92A9-81209F0A3A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D916FE-FEDA-4E43-9449-6FB867DC1EF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02 项目目标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EE6E94-C756-4595-88E8-E7784EAF17EF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04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F3CB43-D4C4-4B53-A515-EC9F679B8983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E1E1BDE-C60A-442C-9D6F-227C584CB7AB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8F7029-2BB9-4EB6-8540-F9888D3581A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本期正式交付范围以白名单能力为准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8F8301-3E63-4759-A2C4-CAE6FCB02061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启动会确认“做什么”和“不把未闭环能力挤入上线”。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3B60469-5128-4BFA-B4D9-425326B9F1FB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3D4DCD-32CD-4B96-982F-1C22F0EB2875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66D87C9-36B3-4EA5-8EF1-EAF37EF336A5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8F2FEB2-CE85-476A-BF45-4EBEDE24902D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01CEBC-68D1-42FA-8CBD-D678B8891D10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BF4666C-C5E1-406E-A24E-670C8067D6FD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757238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9A81D0-CCE1-4718-89AC-1CC251BD67F8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E4EC3E-D574-4F98-98F4-A141F8757AB2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A4FEF26-7D9D-486C-840D-2A9B16062AF8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业务主链路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DEFA591-40A9-4F0E-850A-DB2C2F0A26C7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标讯获取/录入、AI分析、项目立项、任务协同、标书过程、结果闭环。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5D1BC6-CF90-45A6-8AF6-F09510C819B2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主链路页面与接口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794CE1D-85A7-4550-BF51-C6FEEFE00AA2}"/>
              </a:ext>
            </a:extLst>
          </p:cNvPr>
          <p:cNvSpPr>
            <a:spLocks noGrp="1"/>
          </p:cNvSpPr>
          <p:nvPr/>
        </p:nvSpPr>
        <p:spPr>
          <a:xfrm>
            <a:off x="685800" y="3957638"/>
            <a:ext cx="10820400" cy="757238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A5387D0-3D72-4796-B5DD-ACD0B051C01D}"/>
              </a:ext>
            </a:extLst>
          </p:cNvPr>
          <p:cNvSpPr>
            <a:spLocks noGrp="1"/>
          </p:cNvSpPr>
          <p:nvPr/>
        </p:nvSpPr>
        <p:spPr>
          <a:xfrm>
            <a:off x="2305050" y="3957638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077F80C-2055-4096-86FF-6C507719252E}"/>
              </a:ext>
            </a:extLst>
          </p:cNvPr>
          <p:cNvSpPr>
            <a:spLocks noGrp="1"/>
          </p:cNvSpPr>
          <p:nvPr/>
        </p:nvSpPr>
        <p:spPr>
          <a:xfrm>
            <a:off x="8877300" y="3957638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6F0DA8A-E117-462F-9185-759906BFFD1C}"/>
              </a:ext>
            </a:extLst>
          </p:cNvPr>
          <p:cNvSpPr>
            <a:spLocks noGrp="1"/>
          </p:cNvSpPr>
          <p:nvPr/>
        </p:nvSpPr>
        <p:spPr>
          <a:xfrm>
            <a:off x="819150" y="4043363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知识资产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751C666-3EF6-4DC4-9CB0-6C9C776594EA}"/>
              </a:ext>
            </a:extLst>
          </p:cNvPr>
          <p:cNvSpPr>
            <a:spLocks noGrp="1"/>
          </p:cNvSpPr>
          <p:nvPr/>
        </p:nvSpPr>
        <p:spPr>
          <a:xfrm>
            <a:off x="2457450" y="4033838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资质库、案例库、模板库、平台账户、BAR证书、合同借阅统一台账。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97D5932-BD92-492F-BE7B-E2D666512D5D}"/>
              </a:ext>
            </a:extLst>
          </p:cNvPr>
          <p:cNvSpPr>
            <a:spLocks noGrp="1"/>
          </p:cNvSpPr>
          <p:nvPr/>
        </p:nvSpPr>
        <p:spPr>
          <a:xfrm>
            <a:off x="9029700" y="4033838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知识与资源中心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2329168-FA9B-4EB7-9800-4B8763D47069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10820400" cy="757238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A0D5D0B-2CA3-459D-99E8-539A4CE683A5}"/>
              </a:ext>
            </a:extLst>
          </p:cNvPr>
          <p:cNvSpPr>
            <a:spLocks noGrp="1"/>
          </p:cNvSpPr>
          <p:nvPr/>
        </p:nvSpPr>
        <p:spPr>
          <a:xfrm>
            <a:off x="2305050" y="4714875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F3BF02D-4B43-44ED-9717-87C0C5BA5AAF}"/>
              </a:ext>
            </a:extLst>
          </p:cNvPr>
          <p:cNvSpPr>
            <a:spLocks noGrp="1"/>
          </p:cNvSpPr>
          <p:nvPr/>
        </p:nvSpPr>
        <p:spPr>
          <a:xfrm>
            <a:off x="8877300" y="4714875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056350D-D4C2-4BC8-9490-D811404D4015}"/>
              </a:ext>
            </a:extLst>
          </p:cNvPr>
          <p:cNvSpPr>
            <a:spLocks noGrp="1"/>
          </p:cNvSpPr>
          <p:nvPr/>
        </p:nvSpPr>
        <p:spPr>
          <a:xfrm>
            <a:off x="819150" y="4800600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数据分析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4A45937-53BC-4C03-BCA8-E36507DD36CC}"/>
              </a:ext>
            </a:extLst>
          </p:cNvPr>
          <p:cNvSpPr>
            <a:spLocks noGrp="1"/>
          </p:cNvSpPr>
          <p:nvPr/>
        </p:nvSpPr>
        <p:spPr>
          <a:xfrm>
            <a:off x="2457450" y="4791075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管理驾驶舱、中标率、ROI、竞对、区域/产品线等多维分析。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C0B46CB-AE48-41CF-B2C0-F6B8211A0AD9}"/>
              </a:ext>
            </a:extLst>
          </p:cNvPr>
          <p:cNvSpPr>
            <a:spLocks noGrp="1"/>
          </p:cNvSpPr>
          <p:nvPr/>
        </p:nvSpPr>
        <p:spPr>
          <a:xfrm>
            <a:off x="9029700" y="4791075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驾驶舱与报表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4F0BA8F-B278-48FE-8E60-59F46E88F4AB}"/>
              </a:ext>
            </a:extLst>
          </p:cNvPr>
          <p:cNvSpPr>
            <a:spLocks noGrp="1"/>
          </p:cNvSpPr>
          <p:nvPr/>
        </p:nvSpPr>
        <p:spPr>
          <a:xfrm>
            <a:off x="685800" y="5472113"/>
            <a:ext cx="10820400" cy="757238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A0DC43B-62B0-4239-8990-6BA0071A5818}"/>
              </a:ext>
            </a:extLst>
          </p:cNvPr>
          <p:cNvSpPr>
            <a:spLocks noGrp="1"/>
          </p:cNvSpPr>
          <p:nvPr/>
        </p:nvSpPr>
        <p:spPr>
          <a:xfrm>
            <a:off x="2305050" y="5472113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06B6E89-23B1-4D3B-B585-096F1B9814EB}"/>
              </a:ext>
            </a:extLst>
          </p:cNvPr>
          <p:cNvSpPr>
            <a:spLocks noGrp="1"/>
          </p:cNvSpPr>
          <p:nvPr/>
        </p:nvSpPr>
        <p:spPr>
          <a:xfrm>
            <a:off x="8877300" y="5472113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FAF190A-566A-4DBE-91E3-809817839713}"/>
              </a:ext>
            </a:extLst>
          </p:cNvPr>
          <p:cNvSpPr>
            <a:spLocks noGrp="1"/>
          </p:cNvSpPr>
          <p:nvPr/>
        </p:nvSpPr>
        <p:spPr>
          <a:xfrm>
            <a:off x="819150" y="5557838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集成发布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89C3FCF-A4DA-42A5-AB4D-EA62507FE550}"/>
              </a:ext>
            </a:extLst>
          </p:cNvPr>
          <p:cNvSpPr>
            <a:spLocks noGrp="1"/>
          </p:cNvSpPr>
          <p:nvPr/>
        </p:nvSpPr>
        <p:spPr>
          <a:xfrm>
            <a:off x="2457450" y="5548313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CRM、OA、组织架构、消息提醒分步接入，配套上线演练和回滚预案。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9357779-BF22-4477-B432-0D6D03F74431}"/>
              </a:ext>
            </a:extLst>
          </p:cNvPr>
          <p:cNvSpPr>
            <a:spLocks noGrp="1"/>
          </p:cNvSpPr>
          <p:nvPr/>
        </p:nvSpPr>
        <p:spPr>
          <a:xfrm>
            <a:off x="9029700" y="5548313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联调与上线材料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BF2B23E-EFCF-4491-8D2F-857295EF974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834121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4FB4871-3F12-44F4-BDC8-ED19D071CF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C1E3E5-2BC4-4C27-86F4-D0439028FC0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02 项目目标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490C17-0107-437E-877E-1A7EE23FC71C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05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859B8A-EEA8-4424-8FC7-E45442F9973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D9DEBA4-9082-40E1-8978-25E65E0E7ADE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187F52-251D-4D0D-AFB7-90DFCC31054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建设后的管理变化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C7952A-F1B9-4C87-AD0A-28E9929EA860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从分散跟进转向过程可视、资源可控、结果可复盘。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D4070B4-D3C4-4D6D-9356-72DE4C458DEB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CCEF20-C4B7-4F03-81C0-7059305D4B36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BB3CAC-71C2-4924-8216-67290BA61CBE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236D5A-1ECF-4AA5-8A97-3E1B34313D95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894152-C056-414C-9CBF-910E316738BB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A08862-78C7-41DA-ABD3-3035DBD31206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757238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143BA8-7A53-48BC-AD7E-E9EEB9ADE691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F79EB4B-F0C3-4C12-8384-7C9F0D14C283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7DBE2D-E640-48FD-A5EC-C90A6B0FF17F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统一入口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4BEAA4-105D-41DC-A2A7-06CB4A9B089D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标讯、项目、资料、费用从分散管理转为统一入口、统一台账。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8735C87-A744-455C-BB31-56A7221ED47F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降低协同断点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15EB896-6371-4495-956F-DEFFCE6F87CA}"/>
              </a:ext>
            </a:extLst>
          </p:cNvPr>
          <p:cNvSpPr>
            <a:spLocks noGrp="1"/>
          </p:cNvSpPr>
          <p:nvPr/>
        </p:nvSpPr>
        <p:spPr>
          <a:xfrm>
            <a:off x="685800" y="3957638"/>
            <a:ext cx="10820400" cy="757238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45ED28-A8DA-4518-B66C-F1CE8B372C10}"/>
              </a:ext>
            </a:extLst>
          </p:cNvPr>
          <p:cNvSpPr>
            <a:spLocks noGrp="1"/>
          </p:cNvSpPr>
          <p:nvPr/>
        </p:nvSpPr>
        <p:spPr>
          <a:xfrm>
            <a:off x="2305050" y="3957638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10E060-6064-49FE-87AE-CE8873FF20BE}"/>
              </a:ext>
            </a:extLst>
          </p:cNvPr>
          <p:cNvSpPr>
            <a:spLocks noGrp="1"/>
          </p:cNvSpPr>
          <p:nvPr/>
        </p:nvSpPr>
        <p:spPr>
          <a:xfrm>
            <a:off x="8877300" y="3957638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DDC1F9D-F94A-4F1B-B0FC-A76F0BD1E56B}"/>
              </a:ext>
            </a:extLst>
          </p:cNvPr>
          <p:cNvSpPr>
            <a:spLocks noGrp="1"/>
          </p:cNvSpPr>
          <p:nvPr/>
        </p:nvSpPr>
        <p:spPr>
          <a:xfrm>
            <a:off x="819150" y="4043363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过程可控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3D35B7F-0BB5-4560-88F9-64E1591B9262}"/>
              </a:ext>
            </a:extLst>
          </p:cNvPr>
          <p:cNvSpPr>
            <a:spLocks noGrp="1"/>
          </p:cNvSpPr>
          <p:nvPr/>
        </p:nvSpPr>
        <p:spPr>
          <a:xfrm>
            <a:off x="2457450" y="4033838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任务、文档、审批、版本、证书、保证金全链路留痕。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D74947D-7783-410E-9805-DCDE36833F03}"/>
              </a:ext>
            </a:extLst>
          </p:cNvPr>
          <p:cNvSpPr>
            <a:spLocks noGrp="1"/>
          </p:cNvSpPr>
          <p:nvPr/>
        </p:nvSpPr>
        <p:spPr>
          <a:xfrm>
            <a:off x="9029700" y="4033838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责任清晰可追溯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AB19261-19DB-4801-9D79-620F962B2E6E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10820400" cy="757238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4583ED8-7DB5-4D19-9B22-17E6ACD12857}"/>
              </a:ext>
            </a:extLst>
          </p:cNvPr>
          <p:cNvSpPr>
            <a:spLocks noGrp="1"/>
          </p:cNvSpPr>
          <p:nvPr/>
        </p:nvSpPr>
        <p:spPr>
          <a:xfrm>
            <a:off x="2305050" y="4714875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54D6123-4C44-46A1-A919-AF0798F51F7A}"/>
              </a:ext>
            </a:extLst>
          </p:cNvPr>
          <p:cNvSpPr>
            <a:spLocks noGrp="1"/>
          </p:cNvSpPr>
          <p:nvPr/>
        </p:nvSpPr>
        <p:spPr>
          <a:xfrm>
            <a:off x="8877300" y="4714875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C00157D-BB4B-45F7-B961-DE4309199075}"/>
              </a:ext>
            </a:extLst>
          </p:cNvPr>
          <p:cNvSpPr>
            <a:spLocks noGrp="1"/>
          </p:cNvSpPr>
          <p:nvPr/>
        </p:nvSpPr>
        <p:spPr>
          <a:xfrm>
            <a:off x="819150" y="4800600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风险前置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51C6D28-0DC6-4EE2-9162-F40F9192B6F2}"/>
              </a:ext>
            </a:extLst>
          </p:cNvPr>
          <p:cNvSpPr>
            <a:spLocks noGrp="1"/>
          </p:cNvSpPr>
          <p:nvPr/>
        </p:nvSpPr>
        <p:spPr>
          <a:xfrm>
            <a:off x="2457450" y="4791075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截标提醒、资质有效期、AI合规检查、评分覆盖提前暴露风险。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968CA3B-FFA4-4BB6-B6AE-5F95D1E73447}"/>
              </a:ext>
            </a:extLst>
          </p:cNvPr>
          <p:cNvSpPr>
            <a:spLocks noGrp="1"/>
          </p:cNvSpPr>
          <p:nvPr/>
        </p:nvSpPr>
        <p:spPr>
          <a:xfrm>
            <a:off x="9029700" y="4791075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降低废标概率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98F9536-5141-4C11-BB27-1E575EE08EAB}"/>
              </a:ext>
            </a:extLst>
          </p:cNvPr>
          <p:cNvSpPr>
            <a:spLocks noGrp="1"/>
          </p:cNvSpPr>
          <p:nvPr/>
        </p:nvSpPr>
        <p:spPr>
          <a:xfrm>
            <a:off x="685800" y="5472113"/>
            <a:ext cx="10820400" cy="757238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A2F28DB-42B6-4CA5-804E-2510A4BED170}"/>
              </a:ext>
            </a:extLst>
          </p:cNvPr>
          <p:cNvSpPr>
            <a:spLocks noGrp="1"/>
          </p:cNvSpPr>
          <p:nvPr/>
        </p:nvSpPr>
        <p:spPr>
          <a:xfrm>
            <a:off x="2305050" y="5472113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D849424-4384-4CBD-BCA9-191360306105}"/>
              </a:ext>
            </a:extLst>
          </p:cNvPr>
          <p:cNvSpPr>
            <a:spLocks noGrp="1"/>
          </p:cNvSpPr>
          <p:nvPr/>
        </p:nvSpPr>
        <p:spPr>
          <a:xfrm>
            <a:off x="8877300" y="5472113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56EFD8C-18A4-4C14-A134-0222051E6F80}"/>
              </a:ext>
            </a:extLst>
          </p:cNvPr>
          <p:cNvSpPr>
            <a:spLocks noGrp="1"/>
          </p:cNvSpPr>
          <p:nvPr/>
        </p:nvSpPr>
        <p:spPr>
          <a:xfrm>
            <a:off x="819150" y="5557838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决策有据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2812EC4-23E5-4DAE-8D88-41BBE314FEE9}"/>
              </a:ext>
            </a:extLst>
          </p:cNvPr>
          <p:cNvSpPr>
            <a:spLocks noGrp="1"/>
          </p:cNvSpPr>
          <p:nvPr/>
        </p:nvSpPr>
        <p:spPr>
          <a:xfrm>
            <a:off x="2457450" y="5548313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中标率、投入产出、竞对态势、区域分布和资源占用实时呈现。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7EC6DDD-3C3C-40FD-8765-224F92EDC21B}"/>
              </a:ext>
            </a:extLst>
          </p:cNvPr>
          <p:cNvSpPr>
            <a:spLocks noGrp="1"/>
          </p:cNvSpPr>
          <p:nvPr/>
        </p:nvSpPr>
        <p:spPr>
          <a:xfrm>
            <a:off x="9029700" y="5548313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支撑经营决策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03F5640-F765-40B3-B8F0-621F0BA0CD8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406353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052464D-91BA-45DB-B068-D7FB9689A3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843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93E1D1-A0D9-41B2-B102-4D4A39E01A1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93FB1A-2799-44DC-ADEB-0A90F86A5FF0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06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30658C-5436-46AC-8B7E-5E911C2CC5D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7889391-E554-4B06-B9CC-39AEAA2C45D2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354E53-E79A-4EA2-B3FF-A952BE7BE8F0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286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SOW排期总览：60个有效工作日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2F5895-2D6A-475C-8756-E75DC8262171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286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周六、周日及法定节假日不计入工期；阶段活动交叉，但里程碑清晰受控。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DE2A86B-701F-41CF-9FD4-691FE2F10626}"/>
              </a:ext>
            </a:extLst>
          </p:cNvPr>
          <p:cNvSpPr>
            <a:spLocks noGrp="1"/>
          </p:cNvSpPr>
          <p:nvPr/>
        </p:nvSpPr>
        <p:spPr>
          <a:xfrm>
            <a:off x="7239000" y="914400"/>
            <a:ext cx="13525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54F58A-60CF-4780-9FA3-6AB68B845B35}"/>
              </a:ext>
            </a:extLst>
          </p:cNvPr>
          <p:cNvSpPr>
            <a:spLocks noGrp="1"/>
          </p:cNvSpPr>
          <p:nvPr/>
        </p:nvSpPr>
        <p:spPr>
          <a:xfrm>
            <a:off x="7239000" y="914400"/>
            <a:ext cx="1352550" cy="4762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781CD0-4193-40B8-850E-0B78F99ACB73}"/>
              </a:ext>
            </a:extLst>
          </p:cNvPr>
          <p:cNvSpPr>
            <a:spLocks noGrp="1"/>
          </p:cNvSpPr>
          <p:nvPr/>
        </p:nvSpPr>
        <p:spPr>
          <a:xfrm>
            <a:off x="7391400" y="1057275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周期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F679BC-7341-4576-8B0E-A9038BE49B96}"/>
              </a:ext>
            </a:extLst>
          </p:cNvPr>
          <p:cNvSpPr>
            <a:spLocks noGrp="1"/>
          </p:cNvSpPr>
          <p:nvPr/>
        </p:nvSpPr>
        <p:spPr>
          <a:xfrm>
            <a:off x="7391400" y="1314450"/>
            <a:ext cx="1047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60个有效工作日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C474C089-D374-4C46-8876-9903B55D3682}"/>
              </a:ext>
            </a:extLst>
          </p:cNvPr>
          <p:cNvSpPr>
            <a:spLocks noGrp="1"/>
          </p:cNvSpPr>
          <p:nvPr/>
        </p:nvSpPr>
        <p:spPr>
          <a:xfrm>
            <a:off x="8705850" y="914400"/>
            <a:ext cx="13525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33FA6F-6267-4286-B9AF-8F008A02D457}"/>
              </a:ext>
            </a:extLst>
          </p:cNvPr>
          <p:cNvSpPr>
            <a:spLocks noGrp="1"/>
          </p:cNvSpPr>
          <p:nvPr/>
        </p:nvSpPr>
        <p:spPr>
          <a:xfrm>
            <a:off x="8705850" y="914400"/>
            <a:ext cx="1352550" cy="47625"/>
          </a:xfrm>
          <a:prstGeom prst="rect">
            <a:avLst/>
          </a:prstGeom>
          <a:solidFill>
            <a:srgbClr val="D6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7E1CF1-F893-47F0-AA45-600CD8EB07C1}"/>
              </a:ext>
            </a:extLst>
          </p:cNvPr>
          <p:cNvSpPr>
            <a:spLocks noGrp="1"/>
          </p:cNvSpPr>
          <p:nvPr/>
        </p:nvSpPr>
        <p:spPr>
          <a:xfrm>
            <a:off x="8858250" y="1057275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阶段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9B3FB94-7A07-4A85-AE90-C1C5EAB71A9E}"/>
              </a:ext>
            </a:extLst>
          </p:cNvPr>
          <p:cNvSpPr>
            <a:spLocks noGrp="1"/>
          </p:cNvSpPr>
          <p:nvPr/>
        </p:nvSpPr>
        <p:spPr>
          <a:xfrm>
            <a:off x="8858250" y="1314450"/>
            <a:ext cx="1047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6个阶段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DD6B164-FE75-4651-8F78-30B56179FEF3}"/>
              </a:ext>
            </a:extLst>
          </p:cNvPr>
          <p:cNvSpPr>
            <a:spLocks noGrp="1"/>
          </p:cNvSpPr>
          <p:nvPr/>
        </p:nvSpPr>
        <p:spPr>
          <a:xfrm>
            <a:off x="10172700" y="914400"/>
            <a:ext cx="1352550" cy="1123950"/>
          </a:xfrm>
          <a:prstGeom prst="roundRect">
            <a:avLst>
              <a:gd name="adj" fmla="val 6780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38404E-BB12-41F1-BCD0-7EF48980F7CA}"/>
              </a:ext>
            </a:extLst>
          </p:cNvPr>
          <p:cNvSpPr>
            <a:spLocks noGrp="1"/>
          </p:cNvSpPr>
          <p:nvPr/>
        </p:nvSpPr>
        <p:spPr>
          <a:xfrm>
            <a:off x="10172700" y="914400"/>
            <a:ext cx="1352550" cy="47625"/>
          </a:xfrm>
          <a:prstGeom prst="rect">
            <a:avLst/>
          </a:prstGeom>
          <a:solidFill>
            <a:srgbClr val="D95F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E149A58-28BD-49B8-A1D0-C5DDDD93DB22}"/>
              </a:ext>
            </a:extLst>
          </p:cNvPr>
          <p:cNvSpPr>
            <a:spLocks noGrp="1"/>
          </p:cNvSpPr>
          <p:nvPr/>
        </p:nvSpPr>
        <p:spPr>
          <a:xfrm>
            <a:off x="10325100" y="1057275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交叉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677BEC6-7FAD-497A-983D-4FB844F3F36D}"/>
              </a:ext>
            </a:extLst>
          </p:cNvPr>
          <p:cNvSpPr>
            <a:spLocks noGrp="1"/>
          </p:cNvSpPr>
          <p:nvPr/>
        </p:nvSpPr>
        <p:spPr>
          <a:xfrm>
            <a:off x="10325100" y="1314450"/>
            <a:ext cx="1047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2组前置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1C63DFF-E5AC-469A-AD88-E5A1D39E97E5}"/>
              </a:ext>
            </a:extLst>
          </p:cNvPr>
          <p:cNvSpPr>
            <a:spLocks noGrp="1"/>
          </p:cNvSpPr>
          <p:nvPr/>
        </p:nvSpPr>
        <p:spPr>
          <a:xfrm>
            <a:off x="2266950" y="3162300"/>
            <a:ext cx="11430" cy="3009900"/>
          </a:xfrm>
          <a:prstGeom prst="rect">
            <a:avLst/>
          </a:prstGeom>
          <a:solidFill>
            <a:srgbClr val="B6C3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042C2F4-C628-487A-9205-EF0360549C13}"/>
              </a:ext>
            </a:extLst>
          </p:cNvPr>
          <p:cNvSpPr>
            <a:spLocks noGrp="1"/>
          </p:cNvSpPr>
          <p:nvPr/>
        </p:nvSpPr>
        <p:spPr>
          <a:xfrm>
            <a:off x="2019300" y="29337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04/27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0C140D1-4D55-43E7-AFF2-EA0501A5F6C5}"/>
              </a:ext>
            </a:extLst>
          </p:cNvPr>
          <p:cNvSpPr>
            <a:spLocks noGrp="1"/>
          </p:cNvSpPr>
          <p:nvPr/>
        </p:nvSpPr>
        <p:spPr>
          <a:xfrm>
            <a:off x="4995260" y="3162300"/>
            <a:ext cx="11430" cy="3009900"/>
          </a:xfrm>
          <a:prstGeom prst="rect">
            <a:avLst/>
          </a:prstGeom>
          <a:solidFill>
            <a:srgbClr val="B6C3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B05BB4F-C105-4479-841D-64BDDBCBD2FF}"/>
              </a:ext>
            </a:extLst>
          </p:cNvPr>
          <p:cNvSpPr>
            <a:spLocks noGrp="1"/>
          </p:cNvSpPr>
          <p:nvPr/>
        </p:nvSpPr>
        <p:spPr>
          <a:xfrm>
            <a:off x="4747610" y="29337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05/25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CA25021-4D07-4056-A95B-1301A2453FF7}"/>
              </a:ext>
            </a:extLst>
          </p:cNvPr>
          <p:cNvSpPr>
            <a:spLocks noGrp="1"/>
          </p:cNvSpPr>
          <p:nvPr/>
        </p:nvSpPr>
        <p:spPr>
          <a:xfrm>
            <a:off x="7723571" y="3162300"/>
            <a:ext cx="11430" cy="3009900"/>
          </a:xfrm>
          <a:prstGeom prst="rect">
            <a:avLst/>
          </a:prstGeom>
          <a:solidFill>
            <a:srgbClr val="B6C3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B641A00-E9DE-443C-8F79-9CD7A6D03A2A}"/>
              </a:ext>
            </a:extLst>
          </p:cNvPr>
          <p:cNvSpPr>
            <a:spLocks noGrp="1"/>
          </p:cNvSpPr>
          <p:nvPr/>
        </p:nvSpPr>
        <p:spPr>
          <a:xfrm>
            <a:off x="7475921" y="29337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06/22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645941C-9303-48C9-909F-3DF85F6F9AFF}"/>
              </a:ext>
            </a:extLst>
          </p:cNvPr>
          <p:cNvSpPr>
            <a:spLocks noGrp="1"/>
          </p:cNvSpPr>
          <p:nvPr/>
        </p:nvSpPr>
        <p:spPr>
          <a:xfrm>
            <a:off x="10744200" y="3162300"/>
            <a:ext cx="11430" cy="3009900"/>
          </a:xfrm>
          <a:prstGeom prst="rect">
            <a:avLst/>
          </a:prstGeom>
          <a:solidFill>
            <a:srgbClr val="B6C3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0653AD3-96BE-409E-BB50-8D66F80BC560}"/>
              </a:ext>
            </a:extLst>
          </p:cNvPr>
          <p:cNvSpPr>
            <a:spLocks noGrp="1"/>
          </p:cNvSpPr>
          <p:nvPr/>
        </p:nvSpPr>
        <p:spPr>
          <a:xfrm>
            <a:off x="10496550" y="29337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07/23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0F422614-164A-41A6-84E0-0E9D591AD8C4}"/>
              </a:ext>
            </a:extLst>
          </p:cNvPr>
          <p:cNvSpPr>
            <a:spLocks noGrp="1"/>
          </p:cNvSpPr>
          <p:nvPr/>
        </p:nvSpPr>
        <p:spPr>
          <a:xfrm>
            <a:off x="3631105" y="3219450"/>
            <a:ext cx="485009" cy="2819400"/>
          </a:xfrm>
          <a:prstGeom prst="roundRect">
            <a:avLst>
              <a:gd name="adj" fmla="val 15711"/>
            </a:avLst>
          </a:prstGeom>
          <a:solidFill>
            <a:srgbClr val="D6A23A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926F0E5-830E-4F26-8D6D-6CDAC01304D7}"/>
              </a:ext>
            </a:extLst>
          </p:cNvPr>
          <p:cNvSpPr>
            <a:spLocks noGrp="1"/>
          </p:cNvSpPr>
          <p:nvPr/>
        </p:nvSpPr>
        <p:spPr>
          <a:xfrm>
            <a:off x="3554905" y="6076950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34465C"/>
                </a:solidFill>
              </a:defRPr>
            </a:pPr>
            <a:r>
              <a:rPr sz="750" b="0">
                <a:solidFill>
                  <a:srgbClr val="34465C"/>
                </a:solidFill>
              </a:rPr>
              <a:t>调研/蓝图交叉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A64B80F9-F3F2-4BAD-AF2C-B93E3E8CFE52}"/>
              </a:ext>
            </a:extLst>
          </p:cNvPr>
          <p:cNvSpPr>
            <a:spLocks noGrp="1"/>
          </p:cNvSpPr>
          <p:nvPr/>
        </p:nvSpPr>
        <p:spPr>
          <a:xfrm>
            <a:off x="6554295" y="3219450"/>
            <a:ext cx="1264526" cy="2819400"/>
          </a:xfrm>
          <a:prstGeom prst="roundRect">
            <a:avLst>
              <a:gd name="adj" fmla="val 6026"/>
            </a:avLst>
          </a:prstGeom>
          <a:solidFill>
            <a:srgbClr val="D95F45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D5B6326-4A43-4C00-A2FC-35466929B63F}"/>
              </a:ext>
            </a:extLst>
          </p:cNvPr>
          <p:cNvSpPr>
            <a:spLocks noGrp="1"/>
          </p:cNvSpPr>
          <p:nvPr/>
        </p:nvSpPr>
        <p:spPr>
          <a:xfrm>
            <a:off x="6478095" y="6076950"/>
            <a:ext cx="1416926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34465C"/>
                </a:solidFill>
              </a:defRPr>
            </a:pPr>
            <a:r>
              <a:rPr sz="750" b="0">
                <a:solidFill>
                  <a:srgbClr val="34465C"/>
                </a:solidFill>
              </a:rPr>
              <a:t>实现/联调交叉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B8781C-BC66-4117-A46C-F8DF667C9A4B}"/>
              </a:ext>
            </a:extLst>
          </p:cNvPr>
          <p:cNvSpPr>
            <a:spLocks noGrp="1"/>
          </p:cNvSpPr>
          <p:nvPr/>
        </p:nvSpPr>
        <p:spPr>
          <a:xfrm>
            <a:off x="704850" y="337185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启动与业务调研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C62039CB-B320-44B7-A270-6002A3A65DA8}"/>
              </a:ext>
            </a:extLst>
          </p:cNvPr>
          <p:cNvSpPr>
            <a:spLocks noGrp="1"/>
          </p:cNvSpPr>
          <p:nvPr/>
        </p:nvSpPr>
        <p:spPr>
          <a:xfrm>
            <a:off x="2266950" y="3333750"/>
            <a:ext cx="8477250" cy="190500"/>
          </a:xfrm>
          <a:prstGeom prst="roundRect">
            <a:avLst>
              <a:gd name="adj" fmla="val 40000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56F92E10-7B64-4556-BD90-B89E57F3BC86}"/>
              </a:ext>
            </a:extLst>
          </p:cNvPr>
          <p:cNvSpPr>
            <a:spLocks noGrp="1"/>
          </p:cNvSpPr>
          <p:nvPr/>
        </p:nvSpPr>
        <p:spPr>
          <a:xfrm>
            <a:off x="2266950" y="3305175"/>
            <a:ext cx="1849164" cy="247650"/>
          </a:xfrm>
          <a:prstGeom prst="roundRect">
            <a:avLst>
              <a:gd name="adj" fmla="val 30769"/>
            </a:avLst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A41F95B-A00B-4FFF-B99C-A33B8C1C2C96}"/>
              </a:ext>
            </a:extLst>
          </p:cNvPr>
          <p:cNvSpPr>
            <a:spLocks noGrp="1"/>
          </p:cNvSpPr>
          <p:nvPr/>
        </p:nvSpPr>
        <p:spPr>
          <a:xfrm>
            <a:off x="2343150" y="3352800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12个工作日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2EAD84B-6799-4F7E-9732-6DA725B7BB82}"/>
              </a:ext>
            </a:extLst>
          </p:cNvPr>
          <p:cNvSpPr>
            <a:spLocks noGrp="1"/>
          </p:cNvSpPr>
          <p:nvPr/>
        </p:nvSpPr>
        <p:spPr>
          <a:xfrm>
            <a:off x="10915650" y="336232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04/27-05/15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3C3DD3-BD07-446E-B0A2-055EE41AF8C3}"/>
              </a:ext>
            </a:extLst>
          </p:cNvPr>
          <p:cNvSpPr>
            <a:spLocks noGrp="1"/>
          </p:cNvSpPr>
          <p:nvPr/>
        </p:nvSpPr>
        <p:spPr>
          <a:xfrm>
            <a:off x="704850" y="382905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蓝图设计与确认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E69FC61F-C86E-4489-BC1C-6D3B3A52E577}"/>
              </a:ext>
            </a:extLst>
          </p:cNvPr>
          <p:cNvSpPr>
            <a:spLocks noGrp="1"/>
          </p:cNvSpPr>
          <p:nvPr/>
        </p:nvSpPr>
        <p:spPr>
          <a:xfrm>
            <a:off x="2266950" y="3790950"/>
            <a:ext cx="8477250" cy="190500"/>
          </a:xfrm>
          <a:prstGeom prst="roundRect">
            <a:avLst>
              <a:gd name="adj" fmla="val 40000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4D4D4DB0-0016-4BA8-B062-CD411A73E91F}"/>
              </a:ext>
            </a:extLst>
          </p:cNvPr>
          <p:cNvSpPr>
            <a:spLocks noGrp="1"/>
          </p:cNvSpPr>
          <p:nvPr/>
        </p:nvSpPr>
        <p:spPr>
          <a:xfrm>
            <a:off x="3631105" y="3762375"/>
            <a:ext cx="1459405" cy="247650"/>
          </a:xfrm>
          <a:prstGeom prst="roundRect">
            <a:avLst>
              <a:gd name="adj" fmla="val 30769"/>
            </a:avLst>
          </a:prstGeom>
          <a:solidFill>
            <a:srgbClr val="D6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90CB613-D76A-45B5-8D73-83F35C54DC06}"/>
              </a:ext>
            </a:extLst>
          </p:cNvPr>
          <p:cNvSpPr>
            <a:spLocks noGrp="1"/>
          </p:cNvSpPr>
          <p:nvPr/>
        </p:nvSpPr>
        <p:spPr>
          <a:xfrm>
            <a:off x="3707305" y="3810000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11个工作日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74A5FA5-6BDA-403E-838B-CB4809363C74}"/>
              </a:ext>
            </a:extLst>
          </p:cNvPr>
          <p:cNvSpPr>
            <a:spLocks noGrp="1"/>
          </p:cNvSpPr>
          <p:nvPr/>
        </p:nvSpPr>
        <p:spPr>
          <a:xfrm>
            <a:off x="10915650" y="381952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05/11-05/25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EBCA806-1167-47E9-A215-66418582FECE}"/>
              </a:ext>
            </a:extLst>
          </p:cNvPr>
          <p:cNvSpPr>
            <a:spLocks noGrp="1"/>
          </p:cNvSpPr>
          <p:nvPr/>
        </p:nvSpPr>
        <p:spPr>
          <a:xfrm>
            <a:off x="704850" y="428625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系统实现与配置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0E10808C-0A56-4212-89D6-D6BDD3E659A7}"/>
              </a:ext>
            </a:extLst>
          </p:cNvPr>
          <p:cNvSpPr>
            <a:spLocks noGrp="1"/>
          </p:cNvSpPr>
          <p:nvPr/>
        </p:nvSpPr>
        <p:spPr>
          <a:xfrm>
            <a:off x="2266950" y="4248150"/>
            <a:ext cx="8477250" cy="190500"/>
          </a:xfrm>
          <a:prstGeom prst="roundRect">
            <a:avLst>
              <a:gd name="adj" fmla="val 40000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227CC006-4B29-4FF5-B1A7-A3A4E05D175E}"/>
              </a:ext>
            </a:extLst>
          </p:cNvPr>
          <p:cNvSpPr>
            <a:spLocks noGrp="1"/>
          </p:cNvSpPr>
          <p:nvPr/>
        </p:nvSpPr>
        <p:spPr>
          <a:xfrm>
            <a:off x="5092700" y="4219575"/>
            <a:ext cx="2726121" cy="247650"/>
          </a:xfrm>
          <a:prstGeom prst="roundRect">
            <a:avLst>
              <a:gd name="adj" fmla="val 30769"/>
            </a:avLst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5944727-B942-4336-B75C-7FC973182477}"/>
              </a:ext>
            </a:extLst>
          </p:cNvPr>
          <p:cNvSpPr>
            <a:spLocks noGrp="1"/>
          </p:cNvSpPr>
          <p:nvPr/>
        </p:nvSpPr>
        <p:spPr>
          <a:xfrm>
            <a:off x="5168900" y="4267200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19个工作日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269C0C7-067F-429D-973A-4D95F1F54999}"/>
              </a:ext>
            </a:extLst>
          </p:cNvPr>
          <p:cNvSpPr>
            <a:spLocks noGrp="1"/>
          </p:cNvSpPr>
          <p:nvPr/>
        </p:nvSpPr>
        <p:spPr>
          <a:xfrm>
            <a:off x="10915650" y="427672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05/26-06/22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000CE27-68A7-4115-9402-770DA319C0F5}"/>
              </a:ext>
            </a:extLst>
          </p:cNvPr>
          <p:cNvSpPr>
            <a:spLocks noGrp="1"/>
          </p:cNvSpPr>
          <p:nvPr/>
        </p:nvSpPr>
        <p:spPr>
          <a:xfrm>
            <a:off x="704850" y="474345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集成联调与数据初始化</a:t>
            </a: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7F6D6D89-B29A-42DD-B9C3-769C7D8FDD38}"/>
              </a:ext>
            </a:extLst>
          </p:cNvPr>
          <p:cNvSpPr>
            <a:spLocks noGrp="1"/>
          </p:cNvSpPr>
          <p:nvPr/>
        </p:nvSpPr>
        <p:spPr>
          <a:xfrm>
            <a:off x="2266950" y="4705350"/>
            <a:ext cx="8477250" cy="190500"/>
          </a:xfrm>
          <a:prstGeom prst="roundRect">
            <a:avLst>
              <a:gd name="adj" fmla="val 40000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66ECC21D-7996-4D3C-9070-D58ABBCA34DF}"/>
              </a:ext>
            </a:extLst>
          </p:cNvPr>
          <p:cNvSpPr>
            <a:spLocks noGrp="1"/>
          </p:cNvSpPr>
          <p:nvPr/>
        </p:nvSpPr>
        <p:spPr>
          <a:xfrm>
            <a:off x="6554295" y="4676775"/>
            <a:ext cx="2238922" cy="247650"/>
          </a:xfrm>
          <a:prstGeom prst="roundRect">
            <a:avLst>
              <a:gd name="adj" fmla="val 30769"/>
            </a:avLst>
          </a:prstGeom>
          <a:solidFill>
            <a:srgbClr val="D95F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43CEB67-FBFD-4E5E-9918-0CAB0D28F289}"/>
              </a:ext>
            </a:extLst>
          </p:cNvPr>
          <p:cNvSpPr>
            <a:spLocks noGrp="1"/>
          </p:cNvSpPr>
          <p:nvPr/>
        </p:nvSpPr>
        <p:spPr>
          <a:xfrm>
            <a:off x="6630495" y="4724400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16个工作日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369E810-D1CA-4A3F-97E0-33243CE4AB3C}"/>
              </a:ext>
            </a:extLst>
          </p:cNvPr>
          <p:cNvSpPr>
            <a:spLocks noGrp="1"/>
          </p:cNvSpPr>
          <p:nvPr/>
        </p:nvSpPr>
        <p:spPr>
          <a:xfrm>
            <a:off x="10915650" y="473392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06/10-07/02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10FF69D-DF03-4F0B-873A-ADEC92013D1C}"/>
              </a:ext>
            </a:extLst>
          </p:cNvPr>
          <p:cNvSpPr>
            <a:spLocks noGrp="1"/>
          </p:cNvSpPr>
          <p:nvPr/>
        </p:nvSpPr>
        <p:spPr>
          <a:xfrm>
            <a:off x="704850" y="520065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UAT培训上线准备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70576A62-1555-46FC-9692-08F534DDB0B2}"/>
              </a:ext>
            </a:extLst>
          </p:cNvPr>
          <p:cNvSpPr>
            <a:spLocks noGrp="1"/>
          </p:cNvSpPr>
          <p:nvPr/>
        </p:nvSpPr>
        <p:spPr>
          <a:xfrm>
            <a:off x="2266950" y="5162550"/>
            <a:ext cx="8477250" cy="190500"/>
          </a:xfrm>
          <a:prstGeom prst="roundRect">
            <a:avLst>
              <a:gd name="adj" fmla="val 40000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8D5BC027-1DB4-4FED-B8A7-D8848AF3CED5}"/>
              </a:ext>
            </a:extLst>
          </p:cNvPr>
          <p:cNvSpPr>
            <a:spLocks noGrp="1"/>
          </p:cNvSpPr>
          <p:nvPr/>
        </p:nvSpPr>
        <p:spPr>
          <a:xfrm>
            <a:off x="8795407" y="5133975"/>
            <a:ext cx="1361966" cy="247650"/>
          </a:xfrm>
          <a:prstGeom prst="roundRect">
            <a:avLst>
              <a:gd name="adj" fmla="val 30769"/>
            </a:avLst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4198B94-6464-47AC-BD34-52F4F84FCB85}"/>
              </a:ext>
            </a:extLst>
          </p:cNvPr>
          <p:cNvSpPr>
            <a:spLocks noGrp="1"/>
          </p:cNvSpPr>
          <p:nvPr/>
        </p:nvSpPr>
        <p:spPr>
          <a:xfrm>
            <a:off x="8871607" y="5181600"/>
            <a:ext cx="1209566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10个工作日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DFF909C-8F4A-4879-AF35-146249989AEA}"/>
              </a:ext>
            </a:extLst>
          </p:cNvPr>
          <p:cNvSpPr>
            <a:spLocks noGrp="1"/>
          </p:cNvSpPr>
          <p:nvPr/>
        </p:nvSpPr>
        <p:spPr>
          <a:xfrm>
            <a:off x="10915650" y="519112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07/03-07/16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D6928C6-F26F-48E8-8C16-EB499558821E}"/>
              </a:ext>
            </a:extLst>
          </p:cNvPr>
          <p:cNvSpPr>
            <a:spLocks noGrp="1"/>
          </p:cNvSpPr>
          <p:nvPr/>
        </p:nvSpPr>
        <p:spPr>
          <a:xfrm>
            <a:off x="704850" y="565785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上线与试运行启动</a:t>
            </a:r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A8177A27-CD6B-47DB-835B-AC9163723F5A}"/>
              </a:ext>
            </a:extLst>
          </p:cNvPr>
          <p:cNvSpPr>
            <a:spLocks noGrp="1"/>
          </p:cNvSpPr>
          <p:nvPr/>
        </p:nvSpPr>
        <p:spPr>
          <a:xfrm>
            <a:off x="2266950" y="5619750"/>
            <a:ext cx="8477250" cy="190500"/>
          </a:xfrm>
          <a:prstGeom prst="roundRect">
            <a:avLst>
              <a:gd name="adj" fmla="val 40000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2F0C599F-2981-4697-A9BA-492437A21085}"/>
              </a:ext>
            </a:extLst>
          </p:cNvPr>
          <p:cNvSpPr>
            <a:spLocks noGrp="1"/>
          </p:cNvSpPr>
          <p:nvPr/>
        </p:nvSpPr>
        <p:spPr>
          <a:xfrm>
            <a:off x="10159562" y="5591175"/>
            <a:ext cx="679888" cy="247650"/>
          </a:xfrm>
          <a:prstGeom prst="roundRect">
            <a:avLst>
              <a:gd name="adj" fmla="val 30769"/>
            </a:avLst>
          </a:prstGeom>
          <a:solidFill>
            <a:srgbClr val="D6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D34FB94-FCF2-4997-B65A-8BDB81491AB2}"/>
              </a:ext>
            </a:extLst>
          </p:cNvPr>
          <p:cNvSpPr>
            <a:spLocks noGrp="1"/>
          </p:cNvSpPr>
          <p:nvPr/>
        </p:nvSpPr>
        <p:spPr>
          <a:xfrm>
            <a:off x="10235762" y="5638800"/>
            <a:ext cx="527488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5个工作日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85B63E7-85C5-401A-AF31-4896588B1085}"/>
              </a:ext>
            </a:extLst>
          </p:cNvPr>
          <p:cNvSpPr>
            <a:spLocks noGrp="1"/>
          </p:cNvSpPr>
          <p:nvPr/>
        </p:nvSpPr>
        <p:spPr>
          <a:xfrm>
            <a:off x="10915650" y="564832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07/17-07/23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E6499FF-3549-4EA1-B8D6-E76DB05C671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858994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CA027C8-CDF7-4F07-8BC0-60517F3AB0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686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918275-1269-42C0-8C27-0EF16B57712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6BAC4E-93EC-4FC2-AF6D-07E6291BA393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07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0B43E9-6F4E-41FE-A837-E39821D5F958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FBED5D2-1FF4-47AA-BB84-83F54EDDAE2E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E1E36A-40BE-4B5E-BD4F-64F9B13FB32D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810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交叉推进一：业务调研与蓝图设计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D1B55F-51F6-40D9-9CFB-0759447BACC1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调研不是一次访谈后结束，而是在蓝图形成过程中持续校验。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DFA0FEA-969A-4A24-8CE1-91BA834D0844}"/>
              </a:ext>
            </a:extLst>
          </p:cNvPr>
          <p:cNvSpPr>
            <a:spLocks noGrp="1"/>
          </p:cNvSpPr>
          <p:nvPr/>
        </p:nvSpPr>
        <p:spPr>
          <a:xfrm>
            <a:off x="4905375" y="3200400"/>
            <a:ext cx="1053193" cy="1847850"/>
          </a:xfrm>
          <a:prstGeom prst="roundRect">
            <a:avLst>
              <a:gd name="adj" fmla="val 7235"/>
            </a:avLst>
          </a:prstGeom>
          <a:solidFill>
            <a:srgbClr val="D95F45">
              <a:alpha val="2823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670219-C38D-4EC7-AD8D-92FCB9CC37E3}"/>
              </a:ext>
            </a:extLst>
          </p:cNvPr>
          <p:cNvSpPr>
            <a:spLocks noGrp="1"/>
          </p:cNvSpPr>
          <p:nvPr/>
        </p:nvSpPr>
        <p:spPr>
          <a:xfrm>
            <a:off x="4714875" y="2933700"/>
            <a:ext cx="1434193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D95F45"/>
                </a:solidFill>
              </a:defRPr>
            </a:pPr>
            <a:r>
              <a:rPr sz="788" b="1">
                <a:solidFill>
                  <a:srgbClr val="D95F45"/>
                </a:solidFill>
              </a:rPr>
              <a:t>2026-05-11 ~ 2026-05-15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4A8E0C-998B-485F-BFBB-8EB06A6CC309}"/>
              </a:ext>
            </a:extLst>
          </p:cNvPr>
          <p:cNvSpPr>
            <a:spLocks noGrp="1"/>
          </p:cNvSpPr>
          <p:nvPr/>
        </p:nvSpPr>
        <p:spPr>
          <a:xfrm>
            <a:off x="723900" y="350520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38" b="1">
                <a:solidFill>
                  <a:srgbClr val="12233A"/>
                </a:solidFill>
              </a:defRPr>
            </a:pPr>
            <a:r>
              <a:rPr sz="938" b="1">
                <a:solidFill>
                  <a:srgbClr val="12233A"/>
                </a:solidFill>
              </a:rPr>
              <a:t>业务调研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228AD86-336D-4B7D-82AA-0C6CFCC8CEDA}"/>
              </a:ext>
            </a:extLst>
          </p:cNvPr>
          <p:cNvSpPr>
            <a:spLocks noGrp="1"/>
          </p:cNvSpPr>
          <p:nvPr/>
        </p:nvSpPr>
        <p:spPr>
          <a:xfrm>
            <a:off x="1619250" y="3486150"/>
            <a:ext cx="6572250" cy="266700"/>
          </a:xfrm>
          <a:prstGeom prst="roundRect">
            <a:avLst>
              <a:gd name="adj" fmla="val 28571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8AB8DF0C-D6BB-4434-9ED3-C8926D713681}"/>
              </a:ext>
            </a:extLst>
          </p:cNvPr>
          <p:cNvSpPr>
            <a:spLocks noGrp="1"/>
          </p:cNvSpPr>
          <p:nvPr/>
        </p:nvSpPr>
        <p:spPr>
          <a:xfrm>
            <a:off x="1619250" y="3448050"/>
            <a:ext cx="4339318" cy="342900"/>
          </a:xfrm>
          <a:prstGeom prst="roundRect">
            <a:avLst>
              <a:gd name="adj" fmla="val 22222"/>
            </a:avLst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B80B475-F552-488F-9D2F-7BB707E947C9}"/>
              </a:ext>
            </a:extLst>
          </p:cNvPr>
          <p:cNvSpPr>
            <a:spLocks noGrp="1"/>
          </p:cNvSpPr>
          <p:nvPr/>
        </p:nvSpPr>
        <p:spPr>
          <a:xfrm>
            <a:off x="1733550" y="352425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集中调研 + 补充复核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DC776C9-F2B6-4382-981B-796D20B6A8A1}"/>
              </a:ext>
            </a:extLst>
          </p:cNvPr>
          <p:cNvSpPr>
            <a:spLocks noGrp="1"/>
          </p:cNvSpPr>
          <p:nvPr/>
        </p:nvSpPr>
        <p:spPr>
          <a:xfrm>
            <a:off x="8343900" y="352425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A8C"/>
                </a:solidFill>
              </a:defRPr>
            </a:pPr>
            <a:r>
              <a:rPr sz="788" b="0">
                <a:solidFill>
                  <a:srgbClr val="6B7A8C"/>
                </a:solidFill>
              </a:rPr>
              <a:t>04/27-05/15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D0D21F-07A3-4C9A-90EE-D4C407E51846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38" b="1">
                <a:solidFill>
                  <a:srgbClr val="12233A"/>
                </a:solidFill>
              </a:defRPr>
            </a:pPr>
            <a:r>
              <a:rPr sz="938" b="1">
                <a:solidFill>
                  <a:srgbClr val="12233A"/>
                </a:solidFill>
              </a:rPr>
              <a:t>蓝图设计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7BA659D-2206-4039-8DAA-32399D18E88F}"/>
              </a:ext>
            </a:extLst>
          </p:cNvPr>
          <p:cNvSpPr>
            <a:spLocks noGrp="1"/>
          </p:cNvSpPr>
          <p:nvPr/>
        </p:nvSpPr>
        <p:spPr>
          <a:xfrm>
            <a:off x="1619250" y="4210050"/>
            <a:ext cx="6572250" cy="266700"/>
          </a:xfrm>
          <a:prstGeom prst="roundRect">
            <a:avLst>
              <a:gd name="adj" fmla="val 28571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6EB61644-1328-47DA-A056-CA6C5D10807A}"/>
              </a:ext>
            </a:extLst>
          </p:cNvPr>
          <p:cNvSpPr>
            <a:spLocks noGrp="1"/>
          </p:cNvSpPr>
          <p:nvPr/>
        </p:nvSpPr>
        <p:spPr>
          <a:xfrm>
            <a:off x="4905375" y="4171950"/>
            <a:ext cx="3400425" cy="342900"/>
          </a:xfrm>
          <a:prstGeom prst="roundRect">
            <a:avLst>
              <a:gd name="adj" fmla="val 22222"/>
            </a:avLst>
          </a:prstGeom>
          <a:solidFill>
            <a:srgbClr val="D6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ED43CDB-A44B-4E46-9FF0-8F263A622CBD}"/>
              </a:ext>
            </a:extLst>
          </p:cNvPr>
          <p:cNvSpPr>
            <a:spLocks noGrp="1"/>
          </p:cNvSpPr>
          <p:nvPr/>
        </p:nvSpPr>
        <p:spPr>
          <a:xfrm>
            <a:off x="5019675" y="424815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蓝图初稿 + 方案确认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2EDEE21-58EE-4B1D-AF6F-21537FC06653}"/>
              </a:ext>
            </a:extLst>
          </p:cNvPr>
          <p:cNvSpPr>
            <a:spLocks noGrp="1"/>
          </p:cNvSpPr>
          <p:nvPr/>
        </p:nvSpPr>
        <p:spPr>
          <a:xfrm>
            <a:off x="8343900" y="424815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A8C"/>
                </a:solidFill>
              </a:defRPr>
            </a:pPr>
            <a:r>
              <a:rPr sz="788" b="0">
                <a:solidFill>
                  <a:srgbClr val="6B7A8C"/>
                </a:solidFill>
              </a:rPr>
              <a:t>05/11-05/25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5624B027-EFF6-42E2-A07F-39AB852393AB}"/>
              </a:ext>
            </a:extLst>
          </p:cNvPr>
          <p:cNvSpPr>
            <a:spLocks noGrp="1"/>
          </p:cNvSpPr>
          <p:nvPr/>
        </p:nvSpPr>
        <p:spPr>
          <a:xfrm>
            <a:off x="9029700" y="2952750"/>
            <a:ext cx="2209800" cy="1562100"/>
          </a:xfrm>
          <a:prstGeom prst="roundRect">
            <a:avLst>
              <a:gd name="adj" fmla="val 4878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1690DC5-D937-4B5B-8305-BB6BB9942686}"/>
              </a:ext>
            </a:extLst>
          </p:cNvPr>
          <p:cNvSpPr>
            <a:spLocks noGrp="1"/>
          </p:cNvSpPr>
          <p:nvPr/>
        </p:nvSpPr>
        <p:spPr>
          <a:xfrm>
            <a:off x="9029700" y="2952750"/>
            <a:ext cx="2209800" cy="66675"/>
          </a:xfrm>
          <a:prstGeom prst="rect">
            <a:avLst/>
          </a:prstGeom>
          <a:solidFill>
            <a:srgbClr val="D95F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31E453-A55E-4386-A314-DD6E0CC9E4E8}"/>
              </a:ext>
            </a:extLst>
          </p:cNvPr>
          <p:cNvSpPr>
            <a:spLocks noGrp="1"/>
          </p:cNvSpPr>
          <p:nvPr/>
        </p:nvSpPr>
        <p:spPr>
          <a:xfrm>
            <a:off x="9239250" y="3181350"/>
            <a:ext cx="1790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233A"/>
                </a:solidFill>
              </a:defRPr>
            </a:pPr>
            <a:r>
              <a:rPr sz="2550" b="1">
                <a:solidFill>
                  <a:srgbClr val="12233A"/>
                </a:solidFill>
              </a:rPr>
              <a:t>5个工作日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3BC1634-E523-4C7B-9715-4E226622070D}"/>
              </a:ext>
            </a:extLst>
          </p:cNvPr>
          <p:cNvSpPr>
            <a:spLocks noGrp="1"/>
          </p:cNvSpPr>
          <p:nvPr/>
        </p:nvSpPr>
        <p:spPr>
          <a:xfrm>
            <a:off x="9258300" y="3733800"/>
            <a:ext cx="1752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4465C"/>
                </a:solidFill>
              </a:defRPr>
            </a:pPr>
            <a:r>
              <a:rPr sz="1200" b="0">
                <a:solidFill>
                  <a:srgbClr val="34465C"/>
                </a:solidFill>
              </a:rPr>
              <a:t>交叉阶段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FB28B62-CC27-4B43-A774-3C3713EF752D}"/>
              </a:ext>
            </a:extLst>
          </p:cNvPr>
          <p:cNvSpPr>
            <a:spLocks noGrp="1"/>
          </p:cNvSpPr>
          <p:nvPr/>
        </p:nvSpPr>
        <p:spPr>
          <a:xfrm>
            <a:off x="9258300" y="4114800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2026-05-11 ~ 2026-05-15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27FE4C9-CA3E-4B00-B710-0DA246138157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0CF3387-23F1-4893-8E08-9A011BC779F4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3257550" cy="4762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7F41FFE-930B-4AF4-A34F-FB85C9F84B36}"/>
              </a:ext>
            </a:extLst>
          </p:cNvPr>
          <p:cNvSpPr>
            <a:spLocks noGrp="1"/>
          </p:cNvSpPr>
          <p:nvPr/>
        </p:nvSpPr>
        <p:spPr>
          <a:xfrm>
            <a:off x="933450" y="5114925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04/27-05/10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ABB61E3-0C8D-4789-9B23-EF79103ECFD7}"/>
              </a:ext>
            </a:extLst>
          </p:cNvPr>
          <p:cNvSpPr>
            <a:spLocks noGrp="1"/>
          </p:cNvSpPr>
          <p:nvPr/>
        </p:nvSpPr>
        <p:spPr>
          <a:xfrm>
            <a:off x="933450" y="537210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完成启动宣贯、资料收集、集中访谈和现状流程梳理。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46B54BC6-D79C-4439-92D8-C340E71BA495}"/>
              </a:ext>
            </a:extLst>
          </p:cNvPr>
          <p:cNvSpPr>
            <a:spLocks noGrp="1"/>
          </p:cNvSpPr>
          <p:nvPr/>
        </p:nvSpPr>
        <p:spPr>
          <a:xfrm>
            <a:off x="4343400" y="49720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9A01FA8-A45A-4CDC-A0CF-8F39622556F9}"/>
              </a:ext>
            </a:extLst>
          </p:cNvPr>
          <p:cNvSpPr>
            <a:spLocks noGrp="1"/>
          </p:cNvSpPr>
          <p:nvPr/>
        </p:nvSpPr>
        <p:spPr>
          <a:xfrm>
            <a:off x="4343400" y="4972050"/>
            <a:ext cx="3257550" cy="47625"/>
          </a:xfrm>
          <a:prstGeom prst="rect">
            <a:avLst/>
          </a:prstGeom>
          <a:solidFill>
            <a:srgbClr val="D95F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A234791-81C7-424D-B648-7CD47D875220}"/>
              </a:ext>
            </a:extLst>
          </p:cNvPr>
          <p:cNvSpPr>
            <a:spLocks noGrp="1"/>
          </p:cNvSpPr>
          <p:nvPr/>
        </p:nvSpPr>
        <p:spPr>
          <a:xfrm>
            <a:off x="4495800" y="5114925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05/11-05/15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1CDCFA4-349D-4419-9DF1-F9D995D0B964}"/>
              </a:ext>
            </a:extLst>
          </p:cNvPr>
          <p:cNvSpPr>
            <a:spLocks noGrp="1"/>
          </p:cNvSpPr>
          <p:nvPr/>
        </p:nvSpPr>
        <p:spPr>
          <a:xfrm>
            <a:off x="4495800" y="537210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蓝图初稿启动，同步补充调研并复核流程、字段、角色和接口假设。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D7A629EC-AEBB-4D43-AE20-C85ACB0A4D35}"/>
              </a:ext>
            </a:extLst>
          </p:cNvPr>
          <p:cNvSpPr>
            <a:spLocks noGrp="1"/>
          </p:cNvSpPr>
          <p:nvPr/>
        </p:nvSpPr>
        <p:spPr>
          <a:xfrm>
            <a:off x="7905750" y="49720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B40A7CB-9029-4F05-8C29-300BC26C4ABA}"/>
              </a:ext>
            </a:extLst>
          </p:cNvPr>
          <p:cNvSpPr>
            <a:spLocks noGrp="1"/>
          </p:cNvSpPr>
          <p:nvPr/>
        </p:nvSpPr>
        <p:spPr>
          <a:xfrm>
            <a:off x="7905750" y="4972050"/>
            <a:ext cx="3257550" cy="4762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3CA69B8-2ED7-47E4-9E60-18D0DB2AF670}"/>
              </a:ext>
            </a:extLst>
          </p:cNvPr>
          <p:cNvSpPr>
            <a:spLocks noGrp="1"/>
          </p:cNvSpPr>
          <p:nvPr/>
        </p:nvSpPr>
        <p:spPr>
          <a:xfrm>
            <a:off x="8058150" y="5114925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05/18-05/25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A8AA455-BE9F-4899-AA4C-8FBAFF85D200}"/>
              </a:ext>
            </a:extLst>
          </p:cNvPr>
          <p:cNvSpPr>
            <a:spLocks noGrp="1"/>
          </p:cNvSpPr>
          <p:nvPr/>
        </p:nvSpPr>
        <p:spPr>
          <a:xfrm>
            <a:off x="8058150" y="537210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蓝图深化、原型确认、权限/接口/数据口径确认并完成评</a:t>
            </a:r>
          </a:p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审。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B4A54F1-4C47-4C2E-8C58-7398DFB8238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943188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16B0E1B-2102-4B90-BE60-0265AB10DC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ADB790-44B3-4B52-BF6C-9E020044198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A14A0D-C441-45F2-A5EC-81C273DFFAF1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08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4DA668-ABE1-4E7D-BEB1-1470D4996E2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946BE6F-EAE0-423A-94B0-ABC875F49C4E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BFF4F1-5F92-4EE4-8323-0FCFA570849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业务调研阶段活动清单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5B3204-657F-46FD-959F-1814C1F4B55D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从组织、现状、资料、风险到补充复核，形成可落地的需求输入。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7FF5FCA-4661-4E4C-9A60-C6E6B19F17C9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D0174B-6474-4F7A-8766-1E1D2CCF7D18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25459D-6D2F-41D1-AB7F-5675C7A9833F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E9E8E1B-5212-433E-A2EC-B50F7517A332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239CE35-A50B-493F-8B41-BD4EEA7C713B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795C6A-30E9-4CAB-9744-8E55A8FCC37E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29EE046-8B2D-4277-AB93-1709ACDF2848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420E9C-DCF4-40F8-BEB7-34B30914ED76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4851FE9-6F69-42DB-B83C-F863D27AAF6C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启动与组织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084EBE-E8B5-429B-AA46-C940F2D79514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启动会、项目组确认、例会节奏、沟通渠道、问题升级路径确认。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32D9FC-A263-4C3A-BFB0-7218043F5946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启动会纪要、成员清单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CD530CC-71ED-46C9-84FD-285BC6B6C4D2}"/>
              </a:ext>
            </a:extLst>
          </p:cNvPr>
          <p:cNvSpPr>
            <a:spLocks noGrp="1"/>
          </p:cNvSpPr>
          <p:nvPr/>
        </p:nvSpPr>
        <p:spPr>
          <a:xfrm>
            <a:off x="685800" y="380619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5589E07-13F7-4934-A5E5-4BD520C58AB2}"/>
              </a:ext>
            </a:extLst>
          </p:cNvPr>
          <p:cNvSpPr>
            <a:spLocks noGrp="1"/>
          </p:cNvSpPr>
          <p:nvPr/>
        </p:nvSpPr>
        <p:spPr>
          <a:xfrm>
            <a:off x="230505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4C59B0-1F81-4851-B791-E6476AFFF0A2}"/>
              </a:ext>
            </a:extLst>
          </p:cNvPr>
          <p:cNvSpPr>
            <a:spLocks noGrp="1"/>
          </p:cNvSpPr>
          <p:nvPr/>
        </p:nvSpPr>
        <p:spPr>
          <a:xfrm>
            <a:off x="887730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C664B6C-A427-4C8A-9F5F-126CEF6216CC}"/>
              </a:ext>
            </a:extLst>
          </p:cNvPr>
          <p:cNvSpPr>
            <a:spLocks noGrp="1"/>
          </p:cNvSpPr>
          <p:nvPr/>
        </p:nvSpPr>
        <p:spPr>
          <a:xfrm>
            <a:off x="819150" y="389191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现状调研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818DF2C-E4F8-4E93-8AC6-F65904DD2F1E}"/>
              </a:ext>
            </a:extLst>
          </p:cNvPr>
          <p:cNvSpPr>
            <a:spLocks noGrp="1"/>
          </p:cNvSpPr>
          <p:nvPr/>
        </p:nvSpPr>
        <p:spPr>
          <a:xfrm>
            <a:off x="2457450" y="388239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销售、投标、商务、技术、费用/资源、管理层、IT分角色访谈。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5F5A51B-8B90-4E8D-B4CE-C3E7E842C0B2}"/>
              </a:ext>
            </a:extLst>
          </p:cNvPr>
          <p:cNvSpPr>
            <a:spLocks noGrp="1"/>
          </p:cNvSpPr>
          <p:nvPr/>
        </p:nvSpPr>
        <p:spPr>
          <a:xfrm>
            <a:off x="9029700" y="388239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调研纪要、现状流程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AFDD71A-649D-4BB4-B291-23FB5806AA52}"/>
              </a:ext>
            </a:extLst>
          </p:cNvPr>
          <p:cNvSpPr>
            <a:spLocks noGrp="1"/>
          </p:cNvSpPr>
          <p:nvPr/>
        </p:nvSpPr>
        <p:spPr>
          <a:xfrm>
            <a:off x="685800" y="441198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4FD23BA-6ED4-4831-8869-183B39DFC466}"/>
              </a:ext>
            </a:extLst>
          </p:cNvPr>
          <p:cNvSpPr>
            <a:spLocks noGrp="1"/>
          </p:cNvSpPr>
          <p:nvPr/>
        </p:nvSpPr>
        <p:spPr>
          <a:xfrm>
            <a:off x="230505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2BB6678-436B-4E19-933D-F6BA602747DE}"/>
              </a:ext>
            </a:extLst>
          </p:cNvPr>
          <p:cNvSpPr>
            <a:spLocks noGrp="1"/>
          </p:cNvSpPr>
          <p:nvPr/>
        </p:nvSpPr>
        <p:spPr>
          <a:xfrm>
            <a:off x="887730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2EB9773-0451-4DDD-8438-17515A7BAB0D}"/>
              </a:ext>
            </a:extLst>
          </p:cNvPr>
          <p:cNvSpPr>
            <a:spLocks noGrp="1"/>
          </p:cNvSpPr>
          <p:nvPr/>
        </p:nvSpPr>
        <p:spPr>
          <a:xfrm>
            <a:off x="819150" y="449770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资料收集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B6D16DE-CAF6-4C33-B997-80D171F16266}"/>
              </a:ext>
            </a:extLst>
          </p:cNvPr>
          <p:cNvSpPr>
            <a:spLocks noGrp="1"/>
          </p:cNvSpPr>
          <p:nvPr/>
        </p:nvSpPr>
        <p:spPr>
          <a:xfrm>
            <a:off x="2457450" y="448818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样例标书、资质/案例/模板、费用/保证金、账户、证书、合同样例。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4B0C60D-1EF4-42F5-96D5-D8871BE75614}"/>
              </a:ext>
            </a:extLst>
          </p:cNvPr>
          <p:cNvSpPr>
            <a:spLocks noGrp="1"/>
          </p:cNvSpPr>
          <p:nvPr/>
        </p:nvSpPr>
        <p:spPr>
          <a:xfrm>
            <a:off x="9029700" y="448818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资料清单、样例数据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23E3F64-6A5A-4928-86D0-48299622AC40}"/>
              </a:ext>
            </a:extLst>
          </p:cNvPr>
          <p:cNvSpPr>
            <a:spLocks noGrp="1"/>
          </p:cNvSpPr>
          <p:nvPr/>
        </p:nvSpPr>
        <p:spPr>
          <a:xfrm>
            <a:off x="685800" y="501777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A65CA17-8D7A-482F-B1B2-86533A6949A5}"/>
              </a:ext>
            </a:extLst>
          </p:cNvPr>
          <p:cNvSpPr>
            <a:spLocks noGrp="1"/>
          </p:cNvSpPr>
          <p:nvPr/>
        </p:nvSpPr>
        <p:spPr>
          <a:xfrm>
            <a:off x="230505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93ABAEB-B8C3-4A99-98EB-2AEA6616FEEA}"/>
              </a:ext>
            </a:extLst>
          </p:cNvPr>
          <p:cNvSpPr>
            <a:spLocks noGrp="1"/>
          </p:cNvSpPr>
          <p:nvPr/>
        </p:nvSpPr>
        <p:spPr>
          <a:xfrm>
            <a:off x="887730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1716CA1-DFDB-4F7D-92C9-DA93F53D200E}"/>
              </a:ext>
            </a:extLst>
          </p:cNvPr>
          <p:cNvSpPr>
            <a:spLocks noGrp="1"/>
          </p:cNvSpPr>
          <p:nvPr/>
        </p:nvSpPr>
        <p:spPr>
          <a:xfrm>
            <a:off x="819150" y="510349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风险识别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F181FED-7CBF-41BC-A048-3B9C2519D553}"/>
              </a:ext>
            </a:extLst>
          </p:cNvPr>
          <p:cNvSpPr>
            <a:spLocks noGrp="1"/>
          </p:cNvSpPr>
          <p:nvPr/>
        </p:nvSpPr>
        <p:spPr>
          <a:xfrm>
            <a:off x="2457450" y="509397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识别接口、环境、数据、流程差异、关键用户时间投入等风险。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9AD9816-B003-4998-B644-9795D6C0D7AD}"/>
              </a:ext>
            </a:extLst>
          </p:cNvPr>
          <p:cNvSpPr>
            <a:spLocks noGrp="1"/>
          </p:cNvSpPr>
          <p:nvPr/>
        </p:nvSpPr>
        <p:spPr>
          <a:xfrm>
            <a:off x="9029700" y="509397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问题与风险清单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CBAFD93-2ABA-425A-8ECB-E0A5019717CE}"/>
              </a:ext>
            </a:extLst>
          </p:cNvPr>
          <p:cNvSpPr>
            <a:spLocks noGrp="1"/>
          </p:cNvSpPr>
          <p:nvPr/>
        </p:nvSpPr>
        <p:spPr>
          <a:xfrm>
            <a:off x="685800" y="562356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095A083-A461-4B6B-A2E9-A9A625002F5F}"/>
              </a:ext>
            </a:extLst>
          </p:cNvPr>
          <p:cNvSpPr>
            <a:spLocks noGrp="1"/>
          </p:cNvSpPr>
          <p:nvPr/>
        </p:nvSpPr>
        <p:spPr>
          <a:xfrm>
            <a:off x="230505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54E7E04-6829-4AC8-AFC3-9B1628B1FDC8}"/>
              </a:ext>
            </a:extLst>
          </p:cNvPr>
          <p:cNvSpPr>
            <a:spLocks noGrp="1"/>
          </p:cNvSpPr>
          <p:nvPr/>
        </p:nvSpPr>
        <p:spPr>
          <a:xfrm>
            <a:off x="887730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5FC91B0-9C63-4AD8-8EA7-206FFB1CDA20}"/>
              </a:ext>
            </a:extLst>
          </p:cNvPr>
          <p:cNvSpPr>
            <a:spLocks noGrp="1"/>
          </p:cNvSpPr>
          <p:nvPr/>
        </p:nvSpPr>
        <p:spPr>
          <a:xfrm>
            <a:off x="819150" y="570928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补充调研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BBB59E8-9F4A-470B-947C-79BA5817EB80}"/>
              </a:ext>
            </a:extLst>
          </p:cNvPr>
          <p:cNvSpPr>
            <a:spLocks noGrp="1"/>
          </p:cNvSpPr>
          <p:nvPr/>
        </p:nvSpPr>
        <p:spPr>
          <a:xfrm>
            <a:off x="2457450" y="569976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蓝图初稿形成后复核流程、字段、权限、报表、接口假设。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4F37F9F-95A1-4959-8187-F760EFA936B9}"/>
              </a:ext>
            </a:extLst>
          </p:cNvPr>
          <p:cNvSpPr>
            <a:spLocks noGrp="1"/>
          </p:cNvSpPr>
          <p:nvPr/>
        </p:nvSpPr>
        <p:spPr>
          <a:xfrm>
            <a:off x="9029700" y="569976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场景复核记录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A881A47-0A52-4474-A5C3-637969B2754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77561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792AD64-4E2B-4D4F-AFBE-AFB059557B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17399A-9660-4B30-BA9F-C4E04A6AE7F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C3EA05-995A-4DCA-89A9-261927F55560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09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CC4AB0-7C52-4436-8718-088DACE6078D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048F0C4-B258-4CE6-A7D2-307FEA252425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336A30-63DD-4B71-984B-DCC2D6E21EA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蓝图设计不是文档包装，而是实施基线冻结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54E720-E962-4DF9-B824-5500F48D77D1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蓝图确认后进入实现门禁，新增需求按变更流程处理。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BA93894-5599-4B55-AA52-2055C07B0D9C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63DEB5-15D7-4EC5-93E2-A618F8BEEBF1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FE0AC9-D986-4E6F-B17E-9957F5ADEAA3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8CD2BA-2871-4D9B-A2C7-04F89A8E0408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B6A1E14-DF8B-4A9E-B2FE-216098E0A578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113DD8-B2F3-4839-9E7F-D1B354644A18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BD64C6E-FDE3-4A5D-A0CE-8DA9A65767C9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E9BE1A6-3D9E-418A-8D1C-70B7ADBF0419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1EE288-E530-42B8-BB82-058F65B47BE3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流程蓝图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ECCF82-3726-4ADA-AD32-6FC99323C83E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投标主流程、角色职责矩阵、关键控制点和预警策略设计。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0F6D62-B3D0-4FA3-8F3A-1DC0F6CE877B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流程设计文档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3D37FEB-BC63-43FC-9765-76B92A58D0DE}"/>
              </a:ext>
            </a:extLst>
          </p:cNvPr>
          <p:cNvSpPr>
            <a:spLocks noGrp="1"/>
          </p:cNvSpPr>
          <p:nvPr/>
        </p:nvSpPr>
        <p:spPr>
          <a:xfrm>
            <a:off x="685800" y="380619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AB9D49-EE7F-4CEE-B6C5-2A5C0BE3018E}"/>
              </a:ext>
            </a:extLst>
          </p:cNvPr>
          <p:cNvSpPr>
            <a:spLocks noGrp="1"/>
          </p:cNvSpPr>
          <p:nvPr/>
        </p:nvSpPr>
        <p:spPr>
          <a:xfrm>
            <a:off x="230505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F07C71C-B75A-45FB-80FC-6F5DAECD892F}"/>
              </a:ext>
            </a:extLst>
          </p:cNvPr>
          <p:cNvSpPr>
            <a:spLocks noGrp="1"/>
          </p:cNvSpPr>
          <p:nvPr/>
        </p:nvSpPr>
        <p:spPr>
          <a:xfrm>
            <a:off x="887730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BA4CEAB-BAF6-4C92-986B-1687C7FDA601}"/>
              </a:ext>
            </a:extLst>
          </p:cNvPr>
          <p:cNvSpPr>
            <a:spLocks noGrp="1"/>
          </p:cNvSpPr>
          <p:nvPr/>
        </p:nvSpPr>
        <p:spPr>
          <a:xfrm>
            <a:off x="819150" y="389191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需求适配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0FE6E0-B2BC-4DA8-9358-AA7DD79B2435}"/>
              </a:ext>
            </a:extLst>
          </p:cNvPr>
          <p:cNvSpPr>
            <a:spLocks noGrp="1"/>
          </p:cNvSpPr>
          <p:nvPr/>
        </p:nvSpPr>
        <p:spPr>
          <a:xfrm>
            <a:off x="2457450" y="388239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拆分标准功能、配置实现、定制开发、接口实现和暂缓项。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ECC689A-D97D-430C-AE73-2E041679C386}"/>
              </a:ext>
            </a:extLst>
          </p:cNvPr>
          <p:cNvSpPr>
            <a:spLocks noGrp="1"/>
          </p:cNvSpPr>
          <p:nvPr/>
        </p:nvSpPr>
        <p:spPr>
          <a:xfrm>
            <a:off x="9029700" y="388239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需求适配报告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D9DBBF1-510E-4925-9882-2822FA3607C0}"/>
              </a:ext>
            </a:extLst>
          </p:cNvPr>
          <p:cNvSpPr>
            <a:spLocks noGrp="1"/>
          </p:cNvSpPr>
          <p:nvPr/>
        </p:nvSpPr>
        <p:spPr>
          <a:xfrm>
            <a:off x="685800" y="441198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D1463E9-5E08-4EDD-AB11-149BE4402AD9}"/>
              </a:ext>
            </a:extLst>
          </p:cNvPr>
          <p:cNvSpPr>
            <a:spLocks noGrp="1"/>
          </p:cNvSpPr>
          <p:nvPr/>
        </p:nvSpPr>
        <p:spPr>
          <a:xfrm>
            <a:off x="230505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768D1B4-F471-475E-BC8A-745018683359}"/>
              </a:ext>
            </a:extLst>
          </p:cNvPr>
          <p:cNvSpPr>
            <a:spLocks noGrp="1"/>
          </p:cNvSpPr>
          <p:nvPr/>
        </p:nvSpPr>
        <p:spPr>
          <a:xfrm>
            <a:off x="887730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A2529B0-BC91-44F8-8429-6F22645A51C3}"/>
              </a:ext>
            </a:extLst>
          </p:cNvPr>
          <p:cNvSpPr>
            <a:spLocks noGrp="1"/>
          </p:cNvSpPr>
          <p:nvPr/>
        </p:nvSpPr>
        <p:spPr>
          <a:xfrm>
            <a:off x="819150" y="449770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权限设计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926329-9276-4951-A2FE-A44775CDEA86}"/>
              </a:ext>
            </a:extLst>
          </p:cNvPr>
          <p:cNvSpPr>
            <a:spLocks noGrp="1"/>
          </p:cNvSpPr>
          <p:nvPr/>
        </p:nvSpPr>
        <p:spPr>
          <a:xfrm>
            <a:off x="2457450" y="448818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组织、角色、数据范围、审批、审计规则和后台配置口径。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E6A3592-57D6-4F03-B13E-EB57DED2E2DB}"/>
              </a:ext>
            </a:extLst>
          </p:cNvPr>
          <p:cNvSpPr>
            <a:spLocks noGrp="1"/>
          </p:cNvSpPr>
          <p:nvPr/>
        </p:nvSpPr>
        <p:spPr>
          <a:xfrm>
            <a:off x="9029700" y="448818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权限方案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72867C1-4DF7-4C18-9124-D19137EFFE5C}"/>
              </a:ext>
            </a:extLst>
          </p:cNvPr>
          <p:cNvSpPr>
            <a:spLocks noGrp="1"/>
          </p:cNvSpPr>
          <p:nvPr/>
        </p:nvSpPr>
        <p:spPr>
          <a:xfrm>
            <a:off x="685800" y="501777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2107CF7-FAF2-407F-84EC-A76541193B28}"/>
              </a:ext>
            </a:extLst>
          </p:cNvPr>
          <p:cNvSpPr>
            <a:spLocks noGrp="1"/>
          </p:cNvSpPr>
          <p:nvPr/>
        </p:nvSpPr>
        <p:spPr>
          <a:xfrm>
            <a:off x="230505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1B0390A-5E51-4E8F-81C9-9A40A4120F8F}"/>
              </a:ext>
            </a:extLst>
          </p:cNvPr>
          <p:cNvSpPr>
            <a:spLocks noGrp="1"/>
          </p:cNvSpPr>
          <p:nvPr/>
        </p:nvSpPr>
        <p:spPr>
          <a:xfrm>
            <a:off x="887730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489B100-1363-4CE3-ADBB-BC6E352ACD24}"/>
              </a:ext>
            </a:extLst>
          </p:cNvPr>
          <p:cNvSpPr>
            <a:spLocks noGrp="1"/>
          </p:cNvSpPr>
          <p:nvPr/>
        </p:nvSpPr>
        <p:spPr>
          <a:xfrm>
            <a:off x="819150" y="510349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接口方案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A2153DF-3845-4410-96A6-21880DCB7837}"/>
              </a:ext>
            </a:extLst>
          </p:cNvPr>
          <p:cNvSpPr>
            <a:spLocks noGrp="1"/>
          </p:cNvSpPr>
          <p:nvPr/>
        </p:nvSpPr>
        <p:spPr>
          <a:xfrm>
            <a:off x="2457450" y="509397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CRM、OA、组织架构、消息提醒字段、调用方式和异常处理。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1F53CE2-6E69-4E33-9AFA-8F06A66C155B}"/>
              </a:ext>
            </a:extLst>
          </p:cNvPr>
          <p:cNvSpPr>
            <a:spLocks noGrp="1"/>
          </p:cNvSpPr>
          <p:nvPr/>
        </p:nvSpPr>
        <p:spPr>
          <a:xfrm>
            <a:off x="9029700" y="509397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接口设计文档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B2DE83D-ADC8-4BF1-9D51-F4ACF9D52C00}"/>
              </a:ext>
            </a:extLst>
          </p:cNvPr>
          <p:cNvSpPr>
            <a:spLocks noGrp="1"/>
          </p:cNvSpPr>
          <p:nvPr/>
        </p:nvSpPr>
        <p:spPr>
          <a:xfrm>
            <a:off x="685800" y="562356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996EE35-CB45-402B-B4F1-8623FDF3CEAF}"/>
              </a:ext>
            </a:extLst>
          </p:cNvPr>
          <p:cNvSpPr>
            <a:spLocks noGrp="1"/>
          </p:cNvSpPr>
          <p:nvPr/>
        </p:nvSpPr>
        <p:spPr>
          <a:xfrm>
            <a:off x="230505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2D4F1FF-FA9A-454A-BC70-83017082BE9E}"/>
              </a:ext>
            </a:extLst>
          </p:cNvPr>
          <p:cNvSpPr>
            <a:spLocks noGrp="1"/>
          </p:cNvSpPr>
          <p:nvPr/>
        </p:nvSpPr>
        <p:spPr>
          <a:xfrm>
            <a:off x="887730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9327052-B224-471D-AE7E-40C7BEFB63A1}"/>
              </a:ext>
            </a:extLst>
          </p:cNvPr>
          <p:cNvSpPr>
            <a:spLocks noGrp="1"/>
          </p:cNvSpPr>
          <p:nvPr/>
        </p:nvSpPr>
        <p:spPr>
          <a:xfrm>
            <a:off x="819150" y="570928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原型确认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CE1973B-09C9-493D-BDBE-E5B8BE65926D}"/>
              </a:ext>
            </a:extLst>
          </p:cNvPr>
          <p:cNvSpPr>
            <a:spLocks noGrp="1"/>
          </p:cNvSpPr>
          <p:nvPr/>
        </p:nvSpPr>
        <p:spPr>
          <a:xfrm>
            <a:off x="2457450" y="569976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关键页面、关键流程、报表口径、待决事项和蓝图评审。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1397866-1D09-4D96-9161-537A88209047}"/>
              </a:ext>
            </a:extLst>
          </p:cNvPr>
          <p:cNvSpPr>
            <a:spLocks noGrp="1"/>
          </p:cNvSpPr>
          <p:nvPr/>
        </p:nvSpPr>
        <p:spPr>
          <a:xfrm>
            <a:off x="9029700" y="569976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原型文档、确认函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5C1B27A-FCFD-4B27-B78F-502E1F633F2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678968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F36862E-6F1C-4C90-A7F0-6D29198BAE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686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6154C2-D2A6-42C2-867F-1FD4B76F2BB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8DB88F-7478-4843-BCF3-00D1CFBCB722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10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F43932-E97C-416C-96D4-09D1459F6AF0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04844C2-F0C7-41B4-8C1F-4E747DF0AC88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A5F14D-FB3D-41EB-91D0-062B7891B48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810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交叉推进二：系统实现与集成联调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0DB45F-6407-40A4-9068-A650C9285558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不等全部功能开发完成后才联调，接口契约和样例数据提前拉通。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4602307-9EAA-486C-8B29-511D7C937CCE}"/>
              </a:ext>
            </a:extLst>
          </p:cNvPr>
          <p:cNvSpPr>
            <a:spLocks noGrp="1"/>
          </p:cNvSpPr>
          <p:nvPr/>
        </p:nvSpPr>
        <p:spPr>
          <a:xfrm>
            <a:off x="4283676" y="3200400"/>
            <a:ext cx="2245841" cy="1847850"/>
          </a:xfrm>
          <a:prstGeom prst="roundRect">
            <a:avLst>
              <a:gd name="adj" fmla="val 4124"/>
            </a:avLst>
          </a:prstGeom>
          <a:solidFill>
            <a:srgbClr val="D95F45">
              <a:alpha val="2823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F78291-AF94-480A-A98E-770FD8B3F226}"/>
              </a:ext>
            </a:extLst>
          </p:cNvPr>
          <p:cNvSpPr>
            <a:spLocks noGrp="1"/>
          </p:cNvSpPr>
          <p:nvPr/>
        </p:nvSpPr>
        <p:spPr>
          <a:xfrm>
            <a:off x="4093176" y="2933700"/>
            <a:ext cx="2626841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D95F45"/>
                </a:solidFill>
              </a:defRPr>
            </a:pPr>
            <a:r>
              <a:rPr sz="788" b="1">
                <a:solidFill>
                  <a:srgbClr val="D95F45"/>
                </a:solidFill>
              </a:rPr>
              <a:t>2026-06-10 ~ 2026-06-22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6EF9BA-028A-4387-8650-B130AA31F548}"/>
              </a:ext>
            </a:extLst>
          </p:cNvPr>
          <p:cNvSpPr>
            <a:spLocks noGrp="1"/>
          </p:cNvSpPr>
          <p:nvPr/>
        </p:nvSpPr>
        <p:spPr>
          <a:xfrm>
            <a:off x="723900" y="350520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38" b="1">
                <a:solidFill>
                  <a:srgbClr val="12233A"/>
                </a:solidFill>
              </a:defRPr>
            </a:pPr>
            <a:r>
              <a:rPr sz="938" b="1">
                <a:solidFill>
                  <a:srgbClr val="12233A"/>
                </a:solidFill>
              </a:rPr>
              <a:t>系统实现与配置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317CE9B8-C619-4409-8843-E30E7B558DE0}"/>
              </a:ext>
            </a:extLst>
          </p:cNvPr>
          <p:cNvSpPr>
            <a:spLocks noGrp="1"/>
          </p:cNvSpPr>
          <p:nvPr/>
        </p:nvSpPr>
        <p:spPr>
          <a:xfrm>
            <a:off x="1619250" y="3486150"/>
            <a:ext cx="6572250" cy="266700"/>
          </a:xfrm>
          <a:prstGeom prst="roundRect">
            <a:avLst>
              <a:gd name="adj" fmla="val 28571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0E463A9D-F1C1-4751-BB11-37BC55FF35A2}"/>
              </a:ext>
            </a:extLst>
          </p:cNvPr>
          <p:cNvSpPr>
            <a:spLocks noGrp="1"/>
          </p:cNvSpPr>
          <p:nvPr/>
        </p:nvSpPr>
        <p:spPr>
          <a:xfrm>
            <a:off x="1619250" y="3448050"/>
            <a:ext cx="4910266" cy="342900"/>
          </a:xfrm>
          <a:prstGeom prst="roundRect">
            <a:avLst>
              <a:gd name="adj" fmla="val 22222"/>
            </a:avLst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3BA4AF-DC22-4E34-97B1-4970A44F96A0}"/>
              </a:ext>
            </a:extLst>
          </p:cNvPr>
          <p:cNvSpPr>
            <a:spLocks noGrp="1"/>
          </p:cNvSpPr>
          <p:nvPr/>
        </p:nvSpPr>
        <p:spPr>
          <a:xfrm>
            <a:off x="1733550" y="352425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分批开发 + 分批提测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D64368-62FA-4434-954A-407C5FEF4A92}"/>
              </a:ext>
            </a:extLst>
          </p:cNvPr>
          <p:cNvSpPr>
            <a:spLocks noGrp="1"/>
          </p:cNvSpPr>
          <p:nvPr/>
        </p:nvSpPr>
        <p:spPr>
          <a:xfrm>
            <a:off x="8343900" y="352425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A8C"/>
                </a:solidFill>
              </a:defRPr>
            </a:pPr>
            <a:r>
              <a:rPr sz="788" b="0">
                <a:solidFill>
                  <a:srgbClr val="6B7A8C"/>
                </a:solidFill>
              </a:rPr>
              <a:t>05/26-06/22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BBEA4D-5451-420E-94D9-48713A09CE73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38" b="1">
                <a:solidFill>
                  <a:srgbClr val="12233A"/>
                </a:solidFill>
              </a:defRPr>
            </a:pPr>
            <a:r>
              <a:rPr sz="938" b="1">
                <a:solidFill>
                  <a:srgbClr val="12233A"/>
                </a:solidFill>
              </a:rPr>
              <a:t>集成联调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BE00641-D07E-40AD-B2E1-3B7F3D7C9609}"/>
              </a:ext>
            </a:extLst>
          </p:cNvPr>
          <p:cNvSpPr>
            <a:spLocks noGrp="1"/>
          </p:cNvSpPr>
          <p:nvPr/>
        </p:nvSpPr>
        <p:spPr>
          <a:xfrm>
            <a:off x="1619250" y="4210050"/>
            <a:ext cx="6572250" cy="266700"/>
          </a:xfrm>
          <a:prstGeom prst="roundRect">
            <a:avLst>
              <a:gd name="adj" fmla="val 28571"/>
            </a:avLst>
          </a:prstGeom>
          <a:solidFill>
            <a:srgbClr val="E7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079C309B-9AB9-42E7-A242-21A6F589E362}"/>
              </a:ext>
            </a:extLst>
          </p:cNvPr>
          <p:cNvSpPr>
            <a:spLocks noGrp="1"/>
          </p:cNvSpPr>
          <p:nvPr/>
        </p:nvSpPr>
        <p:spPr>
          <a:xfrm>
            <a:off x="4283676" y="4171950"/>
            <a:ext cx="4022124" cy="342900"/>
          </a:xfrm>
          <a:prstGeom prst="roundRect">
            <a:avLst>
              <a:gd name="adj" fmla="val 22222"/>
            </a:avLst>
          </a:prstGeom>
          <a:solidFill>
            <a:srgbClr val="D6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33446B8-3E16-4727-88E6-04D86C0B087D}"/>
              </a:ext>
            </a:extLst>
          </p:cNvPr>
          <p:cNvSpPr>
            <a:spLocks noGrp="1"/>
          </p:cNvSpPr>
          <p:nvPr/>
        </p:nvSpPr>
        <p:spPr>
          <a:xfrm>
            <a:off x="4397976" y="424815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接口联调 + 数据初始化 + SIT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6B1C081-A345-43F8-91A7-C5D29F255E48}"/>
              </a:ext>
            </a:extLst>
          </p:cNvPr>
          <p:cNvSpPr>
            <a:spLocks noGrp="1"/>
          </p:cNvSpPr>
          <p:nvPr/>
        </p:nvSpPr>
        <p:spPr>
          <a:xfrm>
            <a:off x="8343900" y="424815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A8C"/>
                </a:solidFill>
              </a:defRPr>
            </a:pPr>
            <a:r>
              <a:rPr sz="788" b="0">
                <a:solidFill>
                  <a:srgbClr val="6B7A8C"/>
                </a:solidFill>
              </a:rPr>
              <a:t>06/10-07/02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523F47A1-FDBF-4305-BAF0-712968EBA4B8}"/>
              </a:ext>
            </a:extLst>
          </p:cNvPr>
          <p:cNvSpPr>
            <a:spLocks noGrp="1"/>
          </p:cNvSpPr>
          <p:nvPr/>
        </p:nvSpPr>
        <p:spPr>
          <a:xfrm>
            <a:off x="9029700" y="2952750"/>
            <a:ext cx="2209800" cy="1562100"/>
          </a:xfrm>
          <a:prstGeom prst="roundRect">
            <a:avLst>
              <a:gd name="adj" fmla="val 4878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41A8B40-0394-4093-9C2B-63E5A0C5FB55}"/>
              </a:ext>
            </a:extLst>
          </p:cNvPr>
          <p:cNvSpPr>
            <a:spLocks noGrp="1"/>
          </p:cNvSpPr>
          <p:nvPr/>
        </p:nvSpPr>
        <p:spPr>
          <a:xfrm>
            <a:off x="9029700" y="2952750"/>
            <a:ext cx="2209800" cy="66675"/>
          </a:xfrm>
          <a:prstGeom prst="rect">
            <a:avLst/>
          </a:prstGeom>
          <a:solidFill>
            <a:srgbClr val="D95F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AB529F-C382-481A-8580-A8C387F2B28D}"/>
              </a:ext>
            </a:extLst>
          </p:cNvPr>
          <p:cNvSpPr>
            <a:spLocks noGrp="1"/>
          </p:cNvSpPr>
          <p:nvPr/>
        </p:nvSpPr>
        <p:spPr>
          <a:xfrm>
            <a:off x="9239250" y="3181350"/>
            <a:ext cx="1790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233A"/>
                </a:solidFill>
              </a:defRPr>
            </a:pPr>
            <a:r>
              <a:rPr sz="2550" b="1">
                <a:solidFill>
                  <a:srgbClr val="12233A"/>
                </a:solidFill>
              </a:rPr>
              <a:t>8个工作日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104FF10-D18E-43DE-8D01-58BAFFEDE8F5}"/>
              </a:ext>
            </a:extLst>
          </p:cNvPr>
          <p:cNvSpPr>
            <a:spLocks noGrp="1"/>
          </p:cNvSpPr>
          <p:nvPr/>
        </p:nvSpPr>
        <p:spPr>
          <a:xfrm>
            <a:off x="9258300" y="3733800"/>
            <a:ext cx="1752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4465C"/>
                </a:solidFill>
              </a:defRPr>
            </a:pPr>
            <a:r>
              <a:rPr sz="1200" b="0">
                <a:solidFill>
                  <a:srgbClr val="34465C"/>
                </a:solidFill>
              </a:rPr>
              <a:t>交叉阶段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CE5A270-2418-451A-AF7D-D2AEEF136826}"/>
              </a:ext>
            </a:extLst>
          </p:cNvPr>
          <p:cNvSpPr>
            <a:spLocks noGrp="1"/>
          </p:cNvSpPr>
          <p:nvPr/>
        </p:nvSpPr>
        <p:spPr>
          <a:xfrm>
            <a:off x="9258300" y="4114800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2026-06-10 ~ 2026-06-22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8CED457-D7EB-4071-8051-A097E095BC7A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B1E1A12-9798-403C-B4E4-D0EB292661F5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3257550" cy="4762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DB40AE-7D8F-4E37-AFBF-2CB2B8B0F729}"/>
              </a:ext>
            </a:extLst>
          </p:cNvPr>
          <p:cNvSpPr>
            <a:spLocks noGrp="1"/>
          </p:cNvSpPr>
          <p:nvPr/>
        </p:nvSpPr>
        <p:spPr>
          <a:xfrm>
            <a:off x="933450" y="5114925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05/26-06/09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C91D5D8-2269-4D34-99E9-3BB69F36E37E}"/>
              </a:ext>
            </a:extLst>
          </p:cNvPr>
          <p:cNvSpPr>
            <a:spLocks noGrp="1"/>
          </p:cNvSpPr>
          <p:nvPr/>
        </p:nvSpPr>
        <p:spPr>
          <a:xfrm>
            <a:off x="933450" y="5372100"/>
            <a:ext cx="3086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按蓝图拆解任务，优先完成主链路、权限和接口前置能</a:t>
            </a:r>
            <a:r>
              <a:rPr lang="zh-CN" altLang="en-US" sz="900" b="0">
                <a:solidFill>
                  <a:srgbClr val="12233A"/>
                </a:solidFill>
              </a:rPr>
              <a:t>力</a:t>
            </a:r>
            <a:r>
              <a:rPr sz="900" b="0">
                <a:solidFill>
                  <a:srgbClr val="12233A"/>
                </a:solidFill>
              </a:rPr>
              <a:t>。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950A808C-495A-479F-BE02-7251115852C7}"/>
              </a:ext>
            </a:extLst>
          </p:cNvPr>
          <p:cNvSpPr>
            <a:spLocks noGrp="1"/>
          </p:cNvSpPr>
          <p:nvPr/>
        </p:nvSpPr>
        <p:spPr>
          <a:xfrm>
            <a:off x="4343400" y="49720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B1B8D1F-0A2B-4DCA-88B8-B3EFB90C6E20}"/>
              </a:ext>
            </a:extLst>
          </p:cNvPr>
          <p:cNvSpPr>
            <a:spLocks noGrp="1"/>
          </p:cNvSpPr>
          <p:nvPr/>
        </p:nvSpPr>
        <p:spPr>
          <a:xfrm>
            <a:off x="4343400" y="4972050"/>
            <a:ext cx="3257550" cy="47625"/>
          </a:xfrm>
          <a:prstGeom prst="rect">
            <a:avLst/>
          </a:prstGeom>
          <a:solidFill>
            <a:srgbClr val="D95F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B80AF34-66D8-4812-868E-0E698C3CC70F}"/>
              </a:ext>
            </a:extLst>
          </p:cNvPr>
          <p:cNvSpPr>
            <a:spLocks noGrp="1"/>
          </p:cNvSpPr>
          <p:nvPr/>
        </p:nvSpPr>
        <p:spPr>
          <a:xfrm>
            <a:off x="4495800" y="5114925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06/10-06/22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88861A4-C929-4B04-86BB-7D52C0CA6139}"/>
              </a:ext>
            </a:extLst>
          </p:cNvPr>
          <p:cNvSpPr>
            <a:spLocks noGrp="1"/>
          </p:cNvSpPr>
          <p:nvPr/>
        </p:nvSpPr>
        <p:spPr>
          <a:xfrm>
            <a:off x="4495800" y="5362575"/>
            <a:ext cx="3355374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实现与联调并行，已完成模块分批提供联调版本和样例数据</a:t>
            </a:r>
            <a:r>
              <a:rPr lang="zh-CN" altLang="en-US" sz="900">
                <a:solidFill>
                  <a:srgbClr val="12233A"/>
                </a:solidFill>
              </a:rPr>
              <a:t>。</a:t>
            </a:r>
            <a:endParaRPr sz="900" b="0">
              <a:solidFill>
                <a:srgbClr val="12233A"/>
              </a:solidFill>
            </a:endParaRP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6A388AFC-B3E5-40B9-93DF-7F242DB8872D}"/>
              </a:ext>
            </a:extLst>
          </p:cNvPr>
          <p:cNvSpPr>
            <a:spLocks noGrp="1"/>
          </p:cNvSpPr>
          <p:nvPr/>
        </p:nvSpPr>
        <p:spPr>
          <a:xfrm>
            <a:off x="7905750" y="4972050"/>
            <a:ext cx="3257550" cy="1066800"/>
          </a:xfrm>
          <a:prstGeom prst="roundRect">
            <a:avLst>
              <a:gd name="adj" fmla="val 7143"/>
            </a:avLst>
          </a:prstGeom>
          <a:solidFill>
            <a:srgbClr val="FFFFFF">
              <a:alpha val="96078"/>
            </a:srgbClr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8F155D9-CC26-4710-8A15-CF67D6140D41}"/>
              </a:ext>
            </a:extLst>
          </p:cNvPr>
          <p:cNvSpPr>
            <a:spLocks noGrp="1"/>
          </p:cNvSpPr>
          <p:nvPr/>
        </p:nvSpPr>
        <p:spPr>
          <a:xfrm>
            <a:off x="7905750" y="4972050"/>
            <a:ext cx="3257550" cy="4762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F3A7DB1-6AEB-4E4C-ACBC-70F11D05A2EF}"/>
              </a:ext>
            </a:extLst>
          </p:cNvPr>
          <p:cNvSpPr>
            <a:spLocks noGrp="1"/>
          </p:cNvSpPr>
          <p:nvPr/>
        </p:nvSpPr>
        <p:spPr>
          <a:xfrm>
            <a:off x="8058150" y="5114925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06/23-07/02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1ACE584-F3B9-4F93-A99C-D7B780EF35FA}"/>
              </a:ext>
            </a:extLst>
          </p:cNvPr>
          <p:cNvSpPr>
            <a:spLocks noGrp="1"/>
          </p:cNvSpPr>
          <p:nvPr/>
        </p:nvSpPr>
        <p:spPr>
          <a:xfrm>
            <a:off x="8058150" y="537210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持续推进接口联调、SIT测试、数据初始化和缺陷闭环。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5500AE2-EC6B-400F-A019-AB222EFF5C9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980339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9CD1C22-B209-49B9-8AE3-EDFCFEA988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A2889D-CE4E-49F5-8609-9B099EA73E7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5C1D95-A5CD-4E1E-A463-FA3A6D6F8A70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11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038C93-EE73-42F5-A7EF-F6097F245A9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EFF4CA4-441D-4F55-849A-20D69526CDF5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624DA18-6483-46F1-ABC0-80A3FBF2327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系统实现阶段按模块分批交付、分批提测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47DCEB-9D31-47BE-AF3D-14DB20FE5D47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实现阶段不是单点开发，而是任务拆解、配置开发、内部验证和正式版收口。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CBBB97D-C120-4E56-A61A-9E6230174F1D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1A12042-66FF-4102-BEA7-A66685F602DB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4338BB-D72A-4E9F-B6C3-F6ADF30FDC0D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5D5CCF-BEE1-44BF-A149-08748FD1516F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D0EBCB-5881-45F9-BCA9-5100D43862FE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8D7E5B-5834-4EF1-840E-72D66D77AFC7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BAA12D-A8A0-4898-BECF-E0EC8869F178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4592858-679F-479C-8214-6ED025AD6B72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6C30BA-F8ED-439C-A09F-2706BDAEB244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任务拆解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FE9CF0-8F1E-493D-86D1-BD40E166A04D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按蓝图拆解模块任务、责任人、完成标准、提测批次和风险点。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C2C0C75-324C-406F-AADD-E812DFF1B3B4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TASKC任务清单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1A01D4-DC7B-47B5-8578-EADB91A432A0}"/>
              </a:ext>
            </a:extLst>
          </p:cNvPr>
          <p:cNvSpPr>
            <a:spLocks noGrp="1"/>
          </p:cNvSpPr>
          <p:nvPr/>
        </p:nvSpPr>
        <p:spPr>
          <a:xfrm>
            <a:off x="685800" y="370522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4EDAD56-678C-46C1-8EEB-474BC5A86CB7}"/>
              </a:ext>
            </a:extLst>
          </p:cNvPr>
          <p:cNvSpPr>
            <a:spLocks noGrp="1"/>
          </p:cNvSpPr>
          <p:nvPr/>
        </p:nvSpPr>
        <p:spPr>
          <a:xfrm>
            <a:off x="2305050" y="37052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C50027-78E3-4A72-86A0-BEC1A90219FE}"/>
              </a:ext>
            </a:extLst>
          </p:cNvPr>
          <p:cNvSpPr>
            <a:spLocks noGrp="1"/>
          </p:cNvSpPr>
          <p:nvPr/>
        </p:nvSpPr>
        <p:spPr>
          <a:xfrm>
            <a:off x="8877300" y="37052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2EAA339-7B4C-4EBB-AA26-150CC8F7BE89}"/>
              </a:ext>
            </a:extLst>
          </p:cNvPr>
          <p:cNvSpPr>
            <a:spLocks noGrp="1"/>
          </p:cNvSpPr>
          <p:nvPr/>
        </p:nvSpPr>
        <p:spPr>
          <a:xfrm>
            <a:off x="819150" y="379095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基础能力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6BBFD8B-FEE3-4B57-8D68-BEE8C4BBA945}"/>
              </a:ext>
            </a:extLst>
          </p:cNvPr>
          <p:cNvSpPr>
            <a:spLocks noGrp="1"/>
          </p:cNvSpPr>
          <p:nvPr/>
        </p:nvSpPr>
        <p:spPr>
          <a:xfrm>
            <a:off x="2457450" y="378142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认证、权限、系统设置、审计日志、健康检查、数据库迁移。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49C611-5ED0-4DB6-BD38-FF4094A024E4}"/>
              </a:ext>
            </a:extLst>
          </p:cNvPr>
          <p:cNvSpPr>
            <a:spLocks noGrp="1"/>
          </p:cNvSpPr>
          <p:nvPr/>
        </p:nvSpPr>
        <p:spPr>
          <a:xfrm>
            <a:off x="9029700" y="378142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配置说明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728A6B1-95E7-4F32-BB5C-F328AEE8D18A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48FBCE-EFCB-4AC3-896F-CAA77A92504B}"/>
              </a:ext>
            </a:extLst>
          </p:cNvPr>
          <p:cNvSpPr>
            <a:spLocks noGrp="1"/>
          </p:cNvSpPr>
          <p:nvPr/>
        </p:nvSpPr>
        <p:spPr>
          <a:xfrm>
            <a:off x="2305050" y="421005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6EDF130-C8C3-4DE0-99D9-4F609AB09DA5}"/>
              </a:ext>
            </a:extLst>
          </p:cNvPr>
          <p:cNvSpPr>
            <a:spLocks noGrp="1"/>
          </p:cNvSpPr>
          <p:nvPr/>
        </p:nvSpPr>
        <p:spPr>
          <a:xfrm>
            <a:off x="8877300" y="421005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5178240-2E54-424F-A036-995CB06075FC}"/>
              </a:ext>
            </a:extLst>
          </p:cNvPr>
          <p:cNvSpPr>
            <a:spLocks noGrp="1"/>
          </p:cNvSpPr>
          <p:nvPr/>
        </p:nvSpPr>
        <p:spPr>
          <a:xfrm>
            <a:off x="819150" y="429577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主链路能力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03B46E6-33AA-460D-BCA7-4F436D8A6DAB}"/>
              </a:ext>
            </a:extLst>
          </p:cNvPr>
          <p:cNvSpPr>
            <a:spLocks noGrp="1"/>
          </p:cNvSpPr>
          <p:nvPr/>
        </p:nvSpPr>
        <p:spPr>
          <a:xfrm>
            <a:off x="2457450" y="428625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标讯、项目、任务、文档、协作、结果闭环按批次实现。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0A4AD86-3A60-43C9-B20C-8881039DE5F3}"/>
              </a:ext>
            </a:extLst>
          </p:cNvPr>
          <p:cNvSpPr>
            <a:spLocks noGrp="1"/>
          </p:cNvSpPr>
          <p:nvPr/>
        </p:nvSpPr>
        <p:spPr>
          <a:xfrm>
            <a:off x="9029700" y="428625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版本提测说明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DE85976-2160-491B-9D4F-BFA17F0EAB8E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16AEF91-BDB3-4830-A786-CBB10947FB41}"/>
              </a:ext>
            </a:extLst>
          </p:cNvPr>
          <p:cNvSpPr>
            <a:spLocks noGrp="1"/>
          </p:cNvSpPr>
          <p:nvPr/>
        </p:nvSpPr>
        <p:spPr>
          <a:xfrm>
            <a:off x="2305050" y="471487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6D68292-F6FC-4E3A-A808-BD873C9BF389}"/>
              </a:ext>
            </a:extLst>
          </p:cNvPr>
          <p:cNvSpPr>
            <a:spLocks noGrp="1"/>
          </p:cNvSpPr>
          <p:nvPr/>
        </p:nvSpPr>
        <p:spPr>
          <a:xfrm>
            <a:off x="8877300" y="471487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1F99BB4-DA02-4232-9665-50BA4E2C8E6C}"/>
              </a:ext>
            </a:extLst>
          </p:cNvPr>
          <p:cNvSpPr>
            <a:spLocks noGrp="1"/>
          </p:cNvSpPr>
          <p:nvPr/>
        </p:nvSpPr>
        <p:spPr>
          <a:xfrm>
            <a:off x="819150" y="480060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资源能力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C53AB17-02E5-46D5-BA35-36F6D8B17ADA}"/>
              </a:ext>
            </a:extLst>
          </p:cNvPr>
          <p:cNvSpPr>
            <a:spLocks noGrp="1"/>
          </p:cNvSpPr>
          <p:nvPr/>
        </p:nvSpPr>
        <p:spPr>
          <a:xfrm>
            <a:off x="2457450" y="479107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资质、案例、模板、费用、账户、BAR证书、合同借阅。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7E6C92B-35B5-4D40-991E-5DB6065D966D}"/>
              </a:ext>
            </a:extLst>
          </p:cNvPr>
          <p:cNvSpPr>
            <a:spLocks noGrp="1"/>
          </p:cNvSpPr>
          <p:nvPr/>
        </p:nvSpPr>
        <p:spPr>
          <a:xfrm>
            <a:off x="9029700" y="479107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阶段测试用例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C60EBDE-145E-48D6-93B6-BE3FAD67B76D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AE19AC8-DC42-4DC4-8595-D6C39EAC8B12}"/>
              </a:ext>
            </a:extLst>
          </p:cNvPr>
          <p:cNvSpPr>
            <a:spLocks noGrp="1"/>
          </p:cNvSpPr>
          <p:nvPr/>
        </p:nvSpPr>
        <p:spPr>
          <a:xfrm>
            <a:off x="2305050" y="52197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EA556AC-D4C7-403B-AC87-172FDE4261E6}"/>
              </a:ext>
            </a:extLst>
          </p:cNvPr>
          <p:cNvSpPr>
            <a:spLocks noGrp="1"/>
          </p:cNvSpPr>
          <p:nvPr/>
        </p:nvSpPr>
        <p:spPr>
          <a:xfrm>
            <a:off x="8877300" y="52197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984A24A-61B7-474D-917A-C62382732D69}"/>
              </a:ext>
            </a:extLst>
          </p:cNvPr>
          <p:cNvSpPr>
            <a:spLocks noGrp="1"/>
          </p:cNvSpPr>
          <p:nvPr/>
        </p:nvSpPr>
        <p:spPr>
          <a:xfrm>
            <a:off x="819150" y="530542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分析能力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017D404-ED58-4BDF-A31D-75C253ABBD2E}"/>
              </a:ext>
            </a:extLst>
          </p:cNvPr>
          <p:cNvSpPr>
            <a:spLocks noGrp="1"/>
          </p:cNvSpPr>
          <p:nvPr/>
        </p:nvSpPr>
        <p:spPr>
          <a:xfrm>
            <a:off x="2457450" y="529590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管理驾驶舱、多维报表、ROI、中标率、竞对分析。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1B49251-C69A-49C9-A3C9-D97F7132068C}"/>
              </a:ext>
            </a:extLst>
          </p:cNvPr>
          <p:cNvSpPr>
            <a:spLocks noGrp="1"/>
          </p:cNvSpPr>
          <p:nvPr/>
        </p:nvSpPr>
        <p:spPr>
          <a:xfrm>
            <a:off x="9029700" y="529590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分析提测记录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7128909-E999-47B2-B90E-2ACE0E3BABC3}"/>
              </a:ext>
            </a:extLst>
          </p:cNvPr>
          <p:cNvSpPr>
            <a:spLocks noGrp="1"/>
          </p:cNvSpPr>
          <p:nvPr/>
        </p:nvSpPr>
        <p:spPr>
          <a:xfrm>
            <a:off x="685800" y="572452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C7B045C-7169-4DB2-AD9C-4A211A4305E4}"/>
              </a:ext>
            </a:extLst>
          </p:cNvPr>
          <p:cNvSpPr>
            <a:spLocks noGrp="1"/>
          </p:cNvSpPr>
          <p:nvPr/>
        </p:nvSpPr>
        <p:spPr>
          <a:xfrm>
            <a:off x="2305050" y="57245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64C3908-9448-4902-A8D4-1C3C21CD259B}"/>
              </a:ext>
            </a:extLst>
          </p:cNvPr>
          <p:cNvSpPr>
            <a:spLocks noGrp="1"/>
          </p:cNvSpPr>
          <p:nvPr/>
        </p:nvSpPr>
        <p:spPr>
          <a:xfrm>
            <a:off x="8877300" y="57245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CD0E2C1-E496-48BC-AFD5-CA2FBB7C34C8}"/>
              </a:ext>
            </a:extLst>
          </p:cNvPr>
          <p:cNvSpPr>
            <a:spLocks noGrp="1"/>
          </p:cNvSpPr>
          <p:nvPr/>
        </p:nvSpPr>
        <p:spPr>
          <a:xfrm>
            <a:off x="819150" y="581025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正式版收口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7ED27FB-2324-4733-B181-6E4A552BFF0C}"/>
              </a:ext>
            </a:extLst>
          </p:cNvPr>
          <p:cNvSpPr>
            <a:spLocks noGrp="1"/>
          </p:cNvSpPr>
          <p:nvPr/>
        </p:nvSpPr>
        <p:spPr>
          <a:xfrm>
            <a:off x="2457450" y="580072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隐藏未闭环入口，清理演示能力，核查正式上线范围。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176D497-0E0C-4FAA-8AC1-CE2E66CA772F}"/>
              </a:ext>
            </a:extLst>
          </p:cNvPr>
          <p:cNvSpPr>
            <a:spLocks noGrp="1"/>
          </p:cNvSpPr>
          <p:nvPr/>
        </p:nvSpPr>
        <p:spPr>
          <a:xfrm>
            <a:off x="9029700" y="580072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范围核查记录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32F5A92-9FE8-4D45-A05C-CACFB69BECA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968195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2FCD803-91C6-43AF-9EBC-8F971D72D6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AE5E32-22CC-40D7-B560-518DF2B095F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D91F96-74FA-4FB9-8795-5664E082E528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12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6EEA61-4441-42A5-83AC-894D0DEA0E0F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E347E13-446C-4E6D-A761-BED362292086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DF94BA-25FD-4155-93EB-88E496219D1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集成联调与数据初始化工作包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FF0B01-4E0D-4D75-9363-5ED8C789FB89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按接口和数据成熟度分批验证，逐步形成可上线证据链。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4249D1B-C8E1-4906-939F-AF0257821E07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BDD2AB1-41CE-4856-A010-9C5415B2B3FE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1D71E2-3121-439E-A1A5-B55BAB9FFE32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48F72B-85A9-4F27-89E7-AE39461EDF36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57DD03-2C6E-4CA4-B672-27791D129074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2D23B4-8CDC-4156-9CE3-F2DF18C26355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C75BC56-2AFF-4A40-A865-1D3F637D55FE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870B03-D202-4120-97B9-D822547C2E7F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09430DC-00A2-4731-A458-366DBA8160EA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接口准备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817DEB9-7BA0-475B-BB42-AA81C0749711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接口契约复核、鉴权方式、字段映射、测试环境连通。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85DB830-A8CE-498B-9DC8-DFD08FD2EC27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联调准备清单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94E1A13-3591-4DA1-99FB-DED0B84BE562}"/>
              </a:ext>
            </a:extLst>
          </p:cNvPr>
          <p:cNvSpPr>
            <a:spLocks noGrp="1"/>
          </p:cNvSpPr>
          <p:nvPr/>
        </p:nvSpPr>
        <p:spPr>
          <a:xfrm>
            <a:off x="685800" y="380619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AD87CF2-59BA-424C-9C78-58F033487363}"/>
              </a:ext>
            </a:extLst>
          </p:cNvPr>
          <p:cNvSpPr>
            <a:spLocks noGrp="1"/>
          </p:cNvSpPr>
          <p:nvPr/>
        </p:nvSpPr>
        <p:spPr>
          <a:xfrm>
            <a:off x="230505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FE1739A-CA93-4B69-84EE-D67C82270520}"/>
              </a:ext>
            </a:extLst>
          </p:cNvPr>
          <p:cNvSpPr>
            <a:spLocks noGrp="1"/>
          </p:cNvSpPr>
          <p:nvPr/>
        </p:nvSpPr>
        <p:spPr>
          <a:xfrm>
            <a:off x="887730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64175EE-F74D-4724-A3DE-2774783CD720}"/>
              </a:ext>
            </a:extLst>
          </p:cNvPr>
          <p:cNvSpPr>
            <a:spLocks noGrp="1"/>
          </p:cNvSpPr>
          <p:nvPr/>
        </p:nvSpPr>
        <p:spPr>
          <a:xfrm>
            <a:off x="819150" y="389191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分批联调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643BB78-9825-4F41-95F7-BAF29CB9F26E}"/>
              </a:ext>
            </a:extLst>
          </p:cNvPr>
          <p:cNvSpPr>
            <a:spLocks noGrp="1"/>
          </p:cNvSpPr>
          <p:nvPr/>
        </p:nvSpPr>
        <p:spPr>
          <a:xfrm>
            <a:off x="2457450" y="388239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CRM、OA、组织架构、消息提醒按接口成熟度分批联调。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376F48F-7EEA-4940-84C0-165CD42B6269}"/>
              </a:ext>
            </a:extLst>
          </p:cNvPr>
          <p:cNvSpPr>
            <a:spLocks noGrp="1"/>
          </p:cNvSpPr>
          <p:nvPr/>
        </p:nvSpPr>
        <p:spPr>
          <a:xfrm>
            <a:off x="9029700" y="388239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接口联调记录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07B8160-DBB6-48C6-9BB7-0A715EB7949F}"/>
              </a:ext>
            </a:extLst>
          </p:cNvPr>
          <p:cNvSpPr>
            <a:spLocks noGrp="1"/>
          </p:cNvSpPr>
          <p:nvPr/>
        </p:nvSpPr>
        <p:spPr>
          <a:xfrm>
            <a:off x="685800" y="441198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D14BF16-C79B-4D15-9742-556650AC7F69}"/>
              </a:ext>
            </a:extLst>
          </p:cNvPr>
          <p:cNvSpPr>
            <a:spLocks noGrp="1"/>
          </p:cNvSpPr>
          <p:nvPr/>
        </p:nvSpPr>
        <p:spPr>
          <a:xfrm>
            <a:off x="230505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90A147D-3939-48EB-A175-DA2D17765B72}"/>
              </a:ext>
            </a:extLst>
          </p:cNvPr>
          <p:cNvSpPr>
            <a:spLocks noGrp="1"/>
          </p:cNvSpPr>
          <p:nvPr/>
        </p:nvSpPr>
        <p:spPr>
          <a:xfrm>
            <a:off x="887730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5ED45F2-3BDD-4D55-B91B-A4EA92413A9D}"/>
              </a:ext>
            </a:extLst>
          </p:cNvPr>
          <p:cNvSpPr>
            <a:spLocks noGrp="1"/>
          </p:cNvSpPr>
          <p:nvPr/>
        </p:nvSpPr>
        <p:spPr>
          <a:xfrm>
            <a:off x="819150" y="449770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数据初始化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2160D84-14F2-4A71-9EFD-B1E373D5E55D}"/>
              </a:ext>
            </a:extLst>
          </p:cNvPr>
          <p:cNvSpPr>
            <a:spLocks noGrp="1"/>
          </p:cNvSpPr>
          <p:nvPr/>
        </p:nvSpPr>
        <p:spPr>
          <a:xfrm>
            <a:off x="2457450" y="448818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组织、用户、角色、字典、模板、资质、案例、账户、证书导入。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7DD4FBD-AACF-4DEA-BA7B-DBA434697F75}"/>
              </a:ext>
            </a:extLst>
          </p:cNvPr>
          <p:cNvSpPr>
            <a:spLocks noGrp="1"/>
          </p:cNvSpPr>
          <p:nvPr/>
        </p:nvSpPr>
        <p:spPr>
          <a:xfrm>
            <a:off x="9029700" y="448818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初始化执行记录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BCD18E7-16AD-48FB-967E-6036868C5A8A}"/>
              </a:ext>
            </a:extLst>
          </p:cNvPr>
          <p:cNvSpPr>
            <a:spLocks noGrp="1"/>
          </p:cNvSpPr>
          <p:nvPr/>
        </p:nvSpPr>
        <p:spPr>
          <a:xfrm>
            <a:off x="685800" y="501777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F4ACFE2-0F17-45A0-93B1-4D60E1A29EA7}"/>
              </a:ext>
            </a:extLst>
          </p:cNvPr>
          <p:cNvSpPr>
            <a:spLocks noGrp="1"/>
          </p:cNvSpPr>
          <p:nvPr/>
        </p:nvSpPr>
        <p:spPr>
          <a:xfrm>
            <a:off x="230505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2AA5A1C-D41F-488A-B40B-80DEAC891934}"/>
              </a:ext>
            </a:extLst>
          </p:cNvPr>
          <p:cNvSpPr>
            <a:spLocks noGrp="1"/>
          </p:cNvSpPr>
          <p:nvPr/>
        </p:nvSpPr>
        <p:spPr>
          <a:xfrm>
            <a:off x="887730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B41ECED-E81D-4791-963E-033669362BC5}"/>
              </a:ext>
            </a:extLst>
          </p:cNvPr>
          <p:cNvSpPr>
            <a:spLocks noGrp="1"/>
          </p:cNvSpPr>
          <p:nvPr/>
        </p:nvSpPr>
        <p:spPr>
          <a:xfrm>
            <a:off x="819150" y="510349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SIT测试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2F57F6F-D5B3-4538-86C9-542E56A9087A}"/>
              </a:ext>
            </a:extLst>
          </p:cNvPr>
          <p:cNvSpPr>
            <a:spLocks noGrp="1"/>
          </p:cNvSpPr>
          <p:nvPr/>
        </p:nvSpPr>
        <p:spPr>
          <a:xfrm>
            <a:off x="2457450" y="509397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主链路、权限、数据一致性、导出、提醒、日志审计。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ADFF26C-30C3-433A-B606-B7E5D2C41512}"/>
              </a:ext>
            </a:extLst>
          </p:cNvPr>
          <p:cNvSpPr>
            <a:spLocks noGrp="1"/>
          </p:cNvSpPr>
          <p:nvPr/>
        </p:nvSpPr>
        <p:spPr>
          <a:xfrm>
            <a:off x="9029700" y="509397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SIT测试报告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0313A26-D3E6-48A2-AFC1-1091A4A2813E}"/>
              </a:ext>
            </a:extLst>
          </p:cNvPr>
          <p:cNvSpPr>
            <a:spLocks noGrp="1"/>
          </p:cNvSpPr>
          <p:nvPr/>
        </p:nvSpPr>
        <p:spPr>
          <a:xfrm>
            <a:off x="685800" y="562356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CA10D7D-768F-446B-843C-B77FCDF532F2}"/>
              </a:ext>
            </a:extLst>
          </p:cNvPr>
          <p:cNvSpPr>
            <a:spLocks noGrp="1"/>
          </p:cNvSpPr>
          <p:nvPr/>
        </p:nvSpPr>
        <p:spPr>
          <a:xfrm>
            <a:off x="230505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B460626-09C7-4D99-996B-11240DCB8CAA}"/>
              </a:ext>
            </a:extLst>
          </p:cNvPr>
          <p:cNvSpPr>
            <a:spLocks noGrp="1"/>
          </p:cNvSpPr>
          <p:nvPr/>
        </p:nvSpPr>
        <p:spPr>
          <a:xfrm>
            <a:off x="887730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AFEAA8D-DFBF-4601-98C9-F4A1DD2C17C8}"/>
              </a:ext>
            </a:extLst>
          </p:cNvPr>
          <p:cNvSpPr>
            <a:spLocks noGrp="1"/>
          </p:cNvSpPr>
          <p:nvPr/>
        </p:nvSpPr>
        <p:spPr>
          <a:xfrm>
            <a:off x="819150" y="570928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问题闭环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ED7A838-75B3-4A46-AD9F-A721E7AB0375}"/>
              </a:ext>
            </a:extLst>
          </p:cNvPr>
          <p:cNvSpPr>
            <a:spLocks noGrp="1"/>
          </p:cNvSpPr>
          <p:nvPr/>
        </p:nvSpPr>
        <p:spPr>
          <a:xfrm>
            <a:off x="2457450" y="569976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P0日清日结，P1明确责任人、修复窗口和回归证据。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691512C-9D79-41A2-9832-F9F7BEAC30D9}"/>
              </a:ext>
            </a:extLst>
          </p:cNvPr>
          <p:cNvSpPr>
            <a:spLocks noGrp="1"/>
          </p:cNvSpPr>
          <p:nvPr/>
        </p:nvSpPr>
        <p:spPr>
          <a:xfrm>
            <a:off x="9029700" y="569976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BUG修复清单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6941FC5-7A56-4DBA-9E34-46330E595AD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013071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C5FA9F4-D789-4379-80DF-CCFDD6DC89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A5E0D3-B786-4704-BE56-13806624D74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F60702-6329-49F2-A360-FF85480AED97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13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C56EDB-3948-497A-8578-CD6385D6B148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CAF68A3-6358-4B62-9EF5-6EE1C7A3552B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A882EC-2C22-48F1-AF67-A77D231C5A5E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UAT、培训与上线准备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9D266F-3666-4D8F-9D32-6E828BF8B815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用真实业务场景完成上线前确认，并形成可签字的验收材料。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4E0B2DE-623B-40A3-A0BB-25CC9430BA13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9CA1F8-3816-43E4-88EC-2C6E3585C6F3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A6D3CF-1C39-490D-8BA2-80D0991F0D6C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B1D7C08-3FF6-4D87-B325-8287BDB8F0F2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3C4C6-BAA0-46F3-A461-F95705E2B0D7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2AC320-F713-4652-A009-0A1DF270A863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89C360-CEAB-497B-BCD1-B85F9B3D7661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F70166-9344-487E-BD63-8E07FF9AA38F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15BCC72-EEC8-4E9D-86F1-5237E8B8FD3E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UAT场景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B86E82-EB99-4619-8CA1-D1E8268CA323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认证权限、标讯到项目、知识库、资源管理、驾驶舱等真实场景测试。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DA61BF4-8722-4ADC-B4E7-8B797EFD7119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UAT计划与记录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3AE7DF1-FA4C-4B0D-B5F3-0C09397A5F8F}"/>
              </a:ext>
            </a:extLst>
          </p:cNvPr>
          <p:cNvSpPr>
            <a:spLocks noGrp="1"/>
          </p:cNvSpPr>
          <p:nvPr/>
        </p:nvSpPr>
        <p:spPr>
          <a:xfrm>
            <a:off x="685800" y="380619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9031EA2-370C-4148-B1A3-96E11C108BBA}"/>
              </a:ext>
            </a:extLst>
          </p:cNvPr>
          <p:cNvSpPr>
            <a:spLocks noGrp="1"/>
          </p:cNvSpPr>
          <p:nvPr/>
        </p:nvSpPr>
        <p:spPr>
          <a:xfrm>
            <a:off x="230505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CC85CC-C67B-4748-97FE-A4588F9ADD1D}"/>
              </a:ext>
            </a:extLst>
          </p:cNvPr>
          <p:cNvSpPr>
            <a:spLocks noGrp="1"/>
          </p:cNvSpPr>
          <p:nvPr/>
        </p:nvSpPr>
        <p:spPr>
          <a:xfrm>
            <a:off x="887730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D5EB3B-C147-474F-A4E1-CABD446B9A33}"/>
              </a:ext>
            </a:extLst>
          </p:cNvPr>
          <p:cNvSpPr>
            <a:spLocks noGrp="1"/>
          </p:cNvSpPr>
          <p:nvPr/>
        </p:nvSpPr>
        <p:spPr>
          <a:xfrm>
            <a:off x="819150" y="389191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问题回归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0433601-C4FA-4700-B0F0-12B60511E52B}"/>
              </a:ext>
            </a:extLst>
          </p:cNvPr>
          <p:cNvSpPr>
            <a:spLocks noGrp="1"/>
          </p:cNvSpPr>
          <p:nvPr/>
        </p:nvSpPr>
        <p:spPr>
          <a:xfrm>
            <a:off x="2457450" y="388239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UAT问题登记、分级处理、回归验证、关闭确认。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BD3F2A-46AA-411D-AF45-5184A0D85D3B}"/>
              </a:ext>
            </a:extLst>
          </p:cNvPr>
          <p:cNvSpPr>
            <a:spLocks noGrp="1"/>
          </p:cNvSpPr>
          <p:nvPr/>
        </p:nvSpPr>
        <p:spPr>
          <a:xfrm>
            <a:off x="9029700" y="388239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回归报告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0AFEEA3-75FE-4516-A2DD-48C2D217E8DA}"/>
              </a:ext>
            </a:extLst>
          </p:cNvPr>
          <p:cNvSpPr>
            <a:spLocks noGrp="1"/>
          </p:cNvSpPr>
          <p:nvPr/>
        </p:nvSpPr>
        <p:spPr>
          <a:xfrm>
            <a:off x="685800" y="441198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E95262D-BDE7-468E-BE24-4FBAE4CB5178}"/>
              </a:ext>
            </a:extLst>
          </p:cNvPr>
          <p:cNvSpPr>
            <a:spLocks noGrp="1"/>
          </p:cNvSpPr>
          <p:nvPr/>
        </p:nvSpPr>
        <p:spPr>
          <a:xfrm>
            <a:off x="230505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2F151CA-273A-4E17-807F-6E0E23983F16}"/>
              </a:ext>
            </a:extLst>
          </p:cNvPr>
          <p:cNvSpPr>
            <a:spLocks noGrp="1"/>
          </p:cNvSpPr>
          <p:nvPr/>
        </p:nvSpPr>
        <p:spPr>
          <a:xfrm>
            <a:off x="887730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931EB31-7A12-469A-96AF-0C91819ACAD1}"/>
              </a:ext>
            </a:extLst>
          </p:cNvPr>
          <p:cNvSpPr>
            <a:spLocks noGrp="1"/>
          </p:cNvSpPr>
          <p:nvPr/>
        </p:nvSpPr>
        <p:spPr>
          <a:xfrm>
            <a:off x="819150" y="449770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培训交接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EEC77A7-2DA6-4DC7-95BC-364C1656120F}"/>
              </a:ext>
            </a:extLst>
          </p:cNvPr>
          <p:cNvSpPr>
            <a:spLocks noGrp="1"/>
          </p:cNvSpPr>
          <p:nvPr/>
        </p:nvSpPr>
        <p:spPr>
          <a:xfrm>
            <a:off x="2457450" y="448818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管理员、关键用户、业务用户分层培训和答疑。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7F97D2A-0A3D-49FE-8E45-DCD1FBFE63FF}"/>
              </a:ext>
            </a:extLst>
          </p:cNvPr>
          <p:cNvSpPr>
            <a:spLocks noGrp="1"/>
          </p:cNvSpPr>
          <p:nvPr/>
        </p:nvSpPr>
        <p:spPr>
          <a:xfrm>
            <a:off x="9029700" y="448818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课件、签到记录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58D4133-4A67-44CD-B2B1-22C7F33D37CD}"/>
              </a:ext>
            </a:extLst>
          </p:cNvPr>
          <p:cNvSpPr>
            <a:spLocks noGrp="1"/>
          </p:cNvSpPr>
          <p:nvPr/>
        </p:nvSpPr>
        <p:spPr>
          <a:xfrm>
            <a:off x="685800" y="501777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FB50685-94FB-470C-A856-07D8D59FE0F0}"/>
              </a:ext>
            </a:extLst>
          </p:cNvPr>
          <p:cNvSpPr>
            <a:spLocks noGrp="1"/>
          </p:cNvSpPr>
          <p:nvPr/>
        </p:nvSpPr>
        <p:spPr>
          <a:xfrm>
            <a:off x="230505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F70E519-D1BB-4EDB-A151-DEBD495FD9AB}"/>
              </a:ext>
            </a:extLst>
          </p:cNvPr>
          <p:cNvSpPr>
            <a:spLocks noGrp="1"/>
          </p:cNvSpPr>
          <p:nvPr/>
        </p:nvSpPr>
        <p:spPr>
          <a:xfrm>
            <a:off x="887730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AEE2F78-E537-4B1A-90D1-87EAB8300166}"/>
              </a:ext>
            </a:extLst>
          </p:cNvPr>
          <p:cNvSpPr>
            <a:spLocks noGrp="1"/>
          </p:cNvSpPr>
          <p:nvPr/>
        </p:nvSpPr>
        <p:spPr>
          <a:xfrm>
            <a:off x="819150" y="510349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上线演练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64307E8-EDEA-4EC4-83A4-366EB2635555}"/>
              </a:ext>
            </a:extLst>
          </p:cNvPr>
          <p:cNvSpPr>
            <a:spLocks noGrp="1"/>
          </p:cNvSpPr>
          <p:nvPr/>
        </p:nvSpPr>
        <p:spPr>
          <a:xfrm>
            <a:off x="2457450" y="509397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生产发布步骤、数据备份、回滚预案、健康检查和应急联系人确认。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5A7CE30-39D9-4A63-A18E-667A6CCFABB9}"/>
              </a:ext>
            </a:extLst>
          </p:cNvPr>
          <p:cNvSpPr>
            <a:spLocks noGrp="1"/>
          </p:cNvSpPr>
          <p:nvPr/>
        </p:nvSpPr>
        <p:spPr>
          <a:xfrm>
            <a:off x="9029700" y="509397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演练报告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D5D7E66-AB5A-4D48-A0AD-220205CF655F}"/>
              </a:ext>
            </a:extLst>
          </p:cNvPr>
          <p:cNvSpPr>
            <a:spLocks noGrp="1"/>
          </p:cNvSpPr>
          <p:nvPr/>
        </p:nvSpPr>
        <p:spPr>
          <a:xfrm>
            <a:off x="685800" y="562356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4643F7B-5759-4077-AB17-E0FBE6DBA7D6}"/>
              </a:ext>
            </a:extLst>
          </p:cNvPr>
          <p:cNvSpPr>
            <a:spLocks noGrp="1"/>
          </p:cNvSpPr>
          <p:nvPr/>
        </p:nvSpPr>
        <p:spPr>
          <a:xfrm>
            <a:off x="230505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6654FE7-11A7-43B7-B29F-A98D0735AE71}"/>
              </a:ext>
            </a:extLst>
          </p:cNvPr>
          <p:cNvSpPr>
            <a:spLocks noGrp="1"/>
          </p:cNvSpPr>
          <p:nvPr/>
        </p:nvSpPr>
        <p:spPr>
          <a:xfrm>
            <a:off x="887730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1F9C095-7249-46AB-BA3A-2AE6A6D4C388}"/>
              </a:ext>
            </a:extLst>
          </p:cNvPr>
          <p:cNvSpPr>
            <a:spLocks noGrp="1"/>
          </p:cNvSpPr>
          <p:nvPr/>
        </p:nvSpPr>
        <p:spPr>
          <a:xfrm>
            <a:off x="819150" y="570928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上线门禁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FEF5246-8C7C-45A1-9AD0-5DF00526228E}"/>
              </a:ext>
            </a:extLst>
          </p:cNvPr>
          <p:cNvSpPr>
            <a:spLocks noGrp="1"/>
          </p:cNvSpPr>
          <p:nvPr/>
        </p:nvSpPr>
        <p:spPr>
          <a:xfrm>
            <a:off x="2457450" y="569976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UAT签字、P0清零、P1闭环计划、上线检查表通过。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C871A3B-5E6F-4CDB-AF9C-B0A7E1972523}"/>
              </a:ext>
            </a:extLst>
          </p:cNvPr>
          <p:cNvSpPr>
            <a:spLocks noGrp="1"/>
          </p:cNvSpPr>
          <p:nvPr/>
        </p:nvSpPr>
        <p:spPr>
          <a:xfrm>
            <a:off x="9029700" y="569976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上线确认材料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19782C6-869A-4AC8-B0B0-DEC0415A33A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468769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D1AF1C6-BC02-437D-87EE-4BC02457B4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D2D408-EE1C-41C9-B6FA-7F6A013147C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04 项目组织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387A5D-F80B-4324-8D2B-E8B19A6C6936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14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E0E733-6087-4D58-A938-20EAB77FE35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1622495-8602-4AA2-845D-EC3E31DC7C0F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5C8024-9FF5-4ACC-9790-99A3013E7FE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领导牵引、PMO统筹、专题小组落地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729EAA-E398-4FE9-B3A6-5DC3A745133C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用清晰的组织结构保障业务、技术、测试、上线各条线同步推进。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E9464D1-17FB-4E1C-9A39-75C815E58810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2ED8D2-A51B-42D0-B741-EAAB7B771B1C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CD1C421-9380-4A18-B185-5401EAF57FA9}"/>
              </a:ext>
            </a:extLst>
          </p:cNvPr>
          <p:cNvSpPr>
            <a:spLocks noGrp="1"/>
          </p:cNvSpPr>
          <p:nvPr/>
        </p:nvSpPr>
        <p:spPr>
          <a:xfrm>
            <a:off x="100965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77E7A9-F8A1-47C6-A1CB-DA997F027C46}"/>
              </a:ext>
            </a:extLst>
          </p:cNvPr>
          <p:cNvSpPr>
            <a:spLocks noGrp="1"/>
          </p:cNvSpPr>
          <p:nvPr/>
        </p:nvSpPr>
        <p:spPr>
          <a:xfrm>
            <a:off x="1162050" y="4562475"/>
            <a:ext cx="57150" cy="1143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CDA050-BD5A-44E2-B4CA-05C10A120174}"/>
              </a:ext>
            </a:extLst>
          </p:cNvPr>
          <p:cNvSpPr>
            <a:spLocks noGrp="1"/>
          </p:cNvSpPr>
          <p:nvPr/>
        </p:nvSpPr>
        <p:spPr>
          <a:xfrm>
            <a:off x="1247775" y="4486275"/>
            <a:ext cx="57150" cy="1905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89E736-EAAB-456C-8BD4-9492004A5E28}"/>
              </a:ext>
            </a:extLst>
          </p:cNvPr>
          <p:cNvSpPr>
            <a:spLocks noGrp="1"/>
          </p:cNvSpPr>
          <p:nvPr/>
        </p:nvSpPr>
        <p:spPr>
          <a:xfrm>
            <a:off x="1333500" y="4419600"/>
            <a:ext cx="57150" cy="25717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8A14048-5A18-491F-9C1F-B0443465C5F3}"/>
              </a:ext>
            </a:extLst>
          </p:cNvPr>
          <p:cNvSpPr>
            <a:spLocks noGrp="1"/>
          </p:cNvSpPr>
          <p:nvPr/>
        </p:nvSpPr>
        <p:spPr>
          <a:xfrm>
            <a:off x="163830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领导小组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2387C9-961B-49EC-A3D3-749FF757544D}"/>
              </a:ext>
            </a:extLst>
          </p:cNvPr>
          <p:cNvSpPr>
            <a:spLocks noGrp="1"/>
          </p:cNvSpPr>
          <p:nvPr/>
        </p:nvSpPr>
        <p:spPr>
          <a:xfrm>
            <a:off x="102870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甲方项目负责人/业务分管领导与乙方项目总监负责重大决策、资源协调和阶段确认。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454AF913-FBEF-4990-B2DD-764212945D43}"/>
              </a:ext>
            </a:extLst>
          </p:cNvPr>
          <p:cNvSpPr>
            <a:spLocks noGrp="1"/>
          </p:cNvSpPr>
          <p:nvPr/>
        </p:nvSpPr>
        <p:spPr>
          <a:xfrm>
            <a:off x="441325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775062-A9F3-490D-AFB5-E10252617524}"/>
              </a:ext>
            </a:extLst>
          </p:cNvPr>
          <p:cNvSpPr>
            <a:spLocks noGrp="1"/>
          </p:cNvSpPr>
          <p:nvPr/>
        </p:nvSpPr>
        <p:spPr>
          <a:xfrm>
            <a:off x="441325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80EB5C9-A2F2-4DE0-B51B-9E4E7A9C0A9E}"/>
              </a:ext>
            </a:extLst>
          </p:cNvPr>
          <p:cNvSpPr>
            <a:spLocks noGrp="1"/>
          </p:cNvSpPr>
          <p:nvPr/>
        </p:nvSpPr>
        <p:spPr>
          <a:xfrm>
            <a:off x="462280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FC25542B-1F49-4A0B-ACD4-AB88FBB98248}"/>
              </a:ext>
            </a:extLst>
          </p:cNvPr>
          <p:cNvSpPr>
            <a:spLocks noGrp="1"/>
          </p:cNvSpPr>
          <p:nvPr/>
        </p:nvSpPr>
        <p:spPr>
          <a:xfrm>
            <a:off x="4746625" y="4457700"/>
            <a:ext cx="95250" cy="95250"/>
          </a:xfrm>
          <a:prstGeom prst="ellipse">
            <a:avLst/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23811E04-8B36-4C70-A46B-910BF420FB96}"/>
              </a:ext>
            </a:extLst>
          </p:cNvPr>
          <p:cNvSpPr>
            <a:spLocks noGrp="1"/>
          </p:cNvSpPr>
          <p:nvPr/>
        </p:nvSpPr>
        <p:spPr>
          <a:xfrm>
            <a:off x="4918075" y="4543425"/>
            <a:ext cx="95250" cy="95250"/>
          </a:xfrm>
          <a:prstGeom prst="ellipse">
            <a:avLst/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C7986ED-63AA-477D-826F-6DA3F2D8562A}"/>
              </a:ext>
            </a:extLst>
          </p:cNvPr>
          <p:cNvSpPr>
            <a:spLocks noGrp="1"/>
          </p:cNvSpPr>
          <p:nvPr/>
        </p:nvSpPr>
        <p:spPr>
          <a:xfrm>
            <a:off x="4832350" y="4524375"/>
            <a:ext cx="180975" cy="28575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2B1C6B0-CD08-4AD3-9A12-D65A4553D220}"/>
              </a:ext>
            </a:extLst>
          </p:cNvPr>
          <p:cNvSpPr>
            <a:spLocks noGrp="1"/>
          </p:cNvSpPr>
          <p:nvPr/>
        </p:nvSpPr>
        <p:spPr>
          <a:xfrm>
            <a:off x="525145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PMO统筹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2513C93-2C3B-4F86-B862-7D67A23B650F}"/>
              </a:ext>
            </a:extLst>
          </p:cNvPr>
          <p:cNvSpPr>
            <a:spLocks noGrp="1"/>
          </p:cNvSpPr>
          <p:nvPr/>
        </p:nvSpPr>
        <p:spPr>
          <a:xfrm>
            <a:off x="464185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甲方业务牵头人与乙方项目经理负责计划、周报、例会、风险和问题升级。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B1930D20-0132-410B-952E-5423F4245175}"/>
              </a:ext>
            </a:extLst>
          </p:cNvPr>
          <p:cNvSpPr>
            <a:spLocks noGrp="1"/>
          </p:cNvSpPr>
          <p:nvPr/>
        </p:nvSpPr>
        <p:spPr>
          <a:xfrm>
            <a:off x="802640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66A7DB-E87E-4D07-9F3B-73FB05F215E0}"/>
              </a:ext>
            </a:extLst>
          </p:cNvPr>
          <p:cNvSpPr>
            <a:spLocks noGrp="1"/>
          </p:cNvSpPr>
          <p:nvPr/>
        </p:nvSpPr>
        <p:spPr>
          <a:xfrm>
            <a:off x="802640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A5A17A0A-4E86-43C5-ABDB-C1CC9C7E0CB0}"/>
              </a:ext>
            </a:extLst>
          </p:cNvPr>
          <p:cNvSpPr>
            <a:spLocks noGrp="1"/>
          </p:cNvSpPr>
          <p:nvPr/>
        </p:nvSpPr>
        <p:spPr>
          <a:xfrm>
            <a:off x="823595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6AEEDCA8-6047-4F2E-A676-FB0C6F767826}"/>
              </a:ext>
            </a:extLst>
          </p:cNvPr>
          <p:cNvSpPr>
            <a:spLocks noGrp="1"/>
          </p:cNvSpPr>
          <p:nvPr/>
        </p:nvSpPr>
        <p:spPr>
          <a:xfrm>
            <a:off x="8359775" y="44291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E9B78FB1-8B16-4A30-974F-6B76799F2A26}"/>
              </a:ext>
            </a:extLst>
          </p:cNvPr>
          <p:cNvSpPr>
            <a:spLocks noGrp="1"/>
          </p:cNvSpPr>
          <p:nvPr/>
        </p:nvSpPr>
        <p:spPr>
          <a:xfrm>
            <a:off x="8407400" y="45148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6A23A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96EB68C6-2A3B-44B3-8B9E-8A3ABA75E870}"/>
              </a:ext>
            </a:extLst>
          </p:cNvPr>
          <p:cNvSpPr>
            <a:spLocks noGrp="1"/>
          </p:cNvSpPr>
          <p:nvPr/>
        </p:nvSpPr>
        <p:spPr>
          <a:xfrm>
            <a:off x="8455025" y="46005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D95F45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B84AE07-7387-4204-89E2-F78A5374B6B4}"/>
              </a:ext>
            </a:extLst>
          </p:cNvPr>
          <p:cNvSpPr>
            <a:spLocks noGrp="1"/>
          </p:cNvSpPr>
          <p:nvPr/>
        </p:nvSpPr>
        <p:spPr>
          <a:xfrm>
            <a:off x="886460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执行小组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4FF551-FDDB-408B-9A44-E478AD1ABE12}"/>
              </a:ext>
            </a:extLst>
          </p:cNvPr>
          <p:cNvSpPr>
            <a:spLocks noGrp="1"/>
          </p:cNvSpPr>
          <p:nvPr/>
        </p:nvSpPr>
        <p:spPr>
          <a:xfrm>
            <a:off x="825500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业务蓝图、技术集成、测试验收、上线运维四类专题小组按阶段落地。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59E5C3E-C77A-41F7-BFAE-66D148C5EC1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417967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B9B09DA-5993-4C12-AD7C-B4152A4CBA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6FA78B-1DB5-417D-A72B-3435DBAB304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04 项目组织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D90064-71BC-472B-8927-B857812A7146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15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127B63-8FD9-413C-9590-60AA60F360D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98FD294-7E96-4C40-B9E7-2305E9E8E039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6FDE26-996F-46CA-9A8B-BDF85EB32F2D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双方职责必须在启动后一周内确认到人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A6C592-B232-461F-93E7-44AA961AED5F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项目计划能否成立，取决于业务、IT、接口、关键用户能否及时进入工作节奏。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C29D695-F81F-4BE3-A5EC-8661AB5F9190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057D8B-6EA3-4DE0-8B27-E61D8729C8FE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0A037E-D050-4031-AF70-2B907C86EE3A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F90925-628E-4BC7-A962-91EAA4FE8FF9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CF65852-1724-4D51-98A5-844357676952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9BC31BB-14AC-471D-855F-974E0F6357DB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9E543AE-9B26-428E-82CF-385952FBB717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F0F2DDD-4F56-4FAA-B3F1-F87DD1916AD4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E3888E9-EEA8-4CC0-9404-F31D186B4F3F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甲方负责人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2220BB0-BCEB-4580-BD7E-A07082D7CC29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关键决策、资源协调、阶段确认、重大问题升级。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0F52C0A-2C7B-47CC-B5C8-05B593396328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决策与确认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D7BEE85-18AE-4092-9C8F-139B4AA9C430}"/>
              </a:ext>
            </a:extLst>
          </p:cNvPr>
          <p:cNvSpPr>
            <a:spLocks noGrp="1"/>
          </p:cNvSpPr>
          <p:nvPr/>
        </p:nvSpPr>
        <p:spPr>
          <a:xfrm>
            <a:off x="685800" y="370522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F9CFD14-AC03-4811-AE33-D13971952A03}"/>
              </a:ext>
            </a:extLst>
          </p:cNvPr>
          <p:cNvSpPr>
            <a:spLocks noGrp="1"/>
          </p:cNvSpPr>
          <p:nvPr/>
        </p:nvSpPr>
        <p:spPr>
          <a:xfrm>
            <a:off x="2305050" y="37052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AF1750F-F39B-4838-A282-37F99FB56E42}"/>
              </a:ext>
            </a:extLst>
          </p:cNvPr>
          <p:cNvSpPr>
            <a:spLocks noGrp="1"/>
          </p:cNvSpPr>
          <p:nvPr/>
        </p:nvSpPr>
        <p:spPr>
          <a:xfrm>
            <a:off x="8877300" y="37052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45D939B-3789-4E6C-A725-251BF9D2D722}"/>
              </a:ext>
            </a:extLst>
          </p:cNvPr>
          <p:cNvSpPr>
            <a:spLocks noGrp="1"/>
          </p:cNvSpPr>
          <p:nvPr/>
        </p:nvSpPr>
        <p:spPr>
          <a:xfrm>
            <a:off x="819150" y="379095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业务牵头人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B900E7E-9211-4F29-A267-0CFB5098C770}"/>
              </a:ext>
            </a:extLst>
          </p:cNvPr>
          <p:cNvSpPr>
            <a:spLocks noGrp="1"/>
          </p:cNvSpPr>
          <p:nvPr/>
        </p:nvSpPr>
        <p:spPr>
          <a:xfrm>
            <a:off x="2457450" y="378142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流程定义、需求优先级、蓝图确认、业务验收。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BA49E9C-512D-44EA-8281-74243B6D4D7E}"/>
              </a:ext>
            </a:extLst>
          </p:cNvPr>
          <p:cNvSpPr>
            <a:spLocks noGrp="1"/>
          </p:cNvSpPr>
          <p:nvPr/>
        </p:nvSpPr>
        <p:spPr>
          <a:xfrm>
            <a:off x="9029700" y="378142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蓝图/UAT确认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3E176E-5B46-43E2-A549-580DE1F756CC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DE87A42-932F-475A-B0C5-1019C49CF15E}"/>
              </a:ext>
            </a:extLst>
          </p:cNvPr>
          <p:cNvSpPr>
            <a:spLocks noGrp="1"/>
          </p:cNvSpPr>
          <p:nvPr/>
        </p:nvSpPr>
        <p:spPr>
          <a:xfrm>
            <a:off x="2305050" y="421005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676E68C-442B-4A10-B3D0-0E2B0EDB28A3}"/>
              </a:ext>
            </a:extLst>
          </p:cNvPr>
          <p:cNvSpPr>
            <a:spLocks noGrp="1"/>
          </p:cNvSpPr>
          <p:nvPr/>
        </p:nvSpPr>
        <p:spPr>
          <a:xfrm>
            <a:off x="8877300" y="421005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AD76357-199B-413E-9E96-CD92B9A1424B}"/>
              </a:ext>
            </a:extLst>
          </p:cNvPr>
          <p:cNvSpPr>
            <a:spLocks noGrp="1"/>
          </p:cNvSpPr>
          <p:nvPr/>
        </p:nvSpPr>
        <p:spPr>
          <a:xfrm>
            <a:off x="819150" y="429577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IT负责人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5DD0B7A-AEE4-4343-830F-B170569EF1B4}"/>
              </a:ext>
            </a:extLst>
          </p:cNvPr>
          <p:cNvSpPr>
            <a:spLocks noGrp="1"/>
          </p:cNvSpPr>
          <p:nvPr/>
        </p:nvSpPr>
        <p:spPr>
          <a:xfrm>
            <a:off x="2457450" y="428625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环境、网络、安全、账号、域名、证书和接口协调。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8B607CC-C93C-4638-B71A-E0FA1AE7025E}"/>
              </a:ext>
            </a:extLst>
          </p:cNvPr>
          <p:cNvSpPr>
            <a:spLocks noGrp="1"/>
          </p:cNvSpPr>
          <p:nvPr/>
        </p:nvSpPr>
        <p:spPr>
          <a:xfrm>
            <a:off x="9029700" y="428625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环境与接口保障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503C743-53C5-4421-A458-6B28C3CC7737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59B0494-4C0F-4776-8E60-48BEBE47D62E}"/>
              </a:ext>
            </a:extLst>
          </p:cNvPr>
          <p:cNvSpPr>
            <a:spLocks noGrp="1"/>
          </p:cNvSpPr>
          <p:nvPr/>
        </p:nvSpPr>
        <p:spPr>
          <a:xfrm>
            <a:off x="2305050" y="471487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BFA87A2-B01D-4FA7-9DAE-C85579589CEE}"/>
              </a:ext>
            </a:extLst>
          </p:cNvPr>
          <p:cNvSpPr>
            <a:spLocks noGrp="1"/>
          </p:cNvSpPr>
          <p:nvPr/>
        </p:nvSpPr>
        <p:spPr>
          <a:xfrm>
            <a:off x="8877300" y="471487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6422803-C569-49F0-9918-BFD6A8FA09D4}"/>
              </a:ext>
            </a:extLst>
          </p:cNvPr>
          <p:cNvSpPr>
            <a:spLocks noGrp="1"/>
          </p:cNvSpPr>
          <p:nvPr/>
        </p:nvSpPr>
        <p:spPr>
          <a:xfrm>
            <a:off x="819150" y="480060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关键用户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69182AB-7C37-4B56-BA29-A3A0B0B77A81}"/>
              </a:ext>
            </a:extLst>
          </p:cNvPr>
          <p:cNvSpPr>
            <a:spLocks noGrp="1"/>
          </p:cNvSpPr>
          <p:nvPr/>
        </p:nvSpPr>
        <p:spPr>
          <a:xfrm>
            <a:off x="2457450" y="479107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参与调研、提供样例数据、执行UAT、确认培训效果。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C615E33-B4D2-4910-9793-76F0B7AEC5D5}"/>
              </a:ext>
            </a:extLst>
          </p:cNvPr>
          <p:cNvSpPr>
            <a:spLocks noGrp="1"/>
          </p:cNvSpPr>
          <p:nvPr/>
        </p:nvSpPr>
        <p:spPr>
          <a:xfrm>
            <a:off x="9029700" y="479107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业务验收证据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D293E0E-614F-46D0-AEE7-09892C363E48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46418FA-3E89-41C9-8A33-5F995F0056E3}"/>
              </a:ext>
            </a:extLst>
          </p:cNvPr>
          <p:cNvSpPr>
            <a:spLocks noGrp="1"/>
          </p:cNvSpPr>
          <p:nvPr/>
        </p:nvSpPr>
        <p:spPr>
          <a:xfrm>
            <a:off x="2305050" y="52197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7360883-40D1-45ED-877F-D2A1D557063D}"/>
              </a:ext>
            </a:extLst>
          </p:cNvPr>
          <p:cNvSpPr>
            <a:spLocks noGrp="1"/>
          </p:cNvSpPr>
          <p:nvPr/>
        </p:nvSpPr>
        <p:spPr>
          <a:xfrm>
            <a:off x="8877300" y="52197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EF158DE-B4BA-4FDD-AEF2-5E20591BC27F}"/>
              </a:ext>
            </a:extLst>
          </p:cNvPr>
          <p:cNvSpPr>
            <a:spLocks noGrp="1"/>
          </p:cNvSpPr>
          <p:nvPr/>
        </p:nvSpPr>
        <p:spPr>
          <a:xfrm>
            <a:off x="819150" y="530542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乙方PM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A890446-151B-449D-AFE1-ABB4C330D80B}"/>
              </a:ext>
            </a:extLst>
          </p:cNvPr>
          <p:cNvSpPr>
            <a:spLocks noGrp="1"/>
          </p:cNvSpPr>
          <p:nvPr/>
        </p:nvSpPr>
        <p:spPr>
          <a:xfrm>
            <a:off x="2457450" y="529590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计划执行、风险控制、周报、例会、客户沟通。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A845AFD-FA74-46C4-8343-954EF92CD94F}"/>
              </a:ext>
            </a:extLst>
          </p:cNvPr>
          <p:cNvSpPr>
            <a:spLocks noGrp="1"/>
          </p:cNvSpPr>
          <p:nvPr/>
        </p:nvSpPr>
        <p:spPr>
          <a:xfrm>
            <a:off x="9029700" y="529590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项目管理闭环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F40A139-D266-4A80-A22D-C9BC2DBA1B6B}"/>
              </a:ext>
            </a:extLst>
          </p:cNvPr>
          <p:cNvSpPr>
            <a:spLocks noGrp="1"/>
          </p:cNvSpPr>
          <p:nvPr/>
        </p:nvSpPr>
        <p:spPr>
          <a:xfrm>
            <a:off x="685800" y="572452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758B64E-5B45-4C95-8477-0C6E08F7812B}"/>
              </a:ext>
            </a:extLst>
          </p:cNvPr>
          <p:cNvSpPr>
            <a:spLocks noGrp="1"/>
          </p:cNvSpPr>
          <p:nvPr/>
        </p:nvSpPr>
        <p:spPr>
          <a:xfrm>
            <a:off x="2305050" y="57245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B50D92F-26B9-4213-8D1C-902FBA2B6471}"/>
              </a:ext>
            </a:extLst>
          </p:cNvPr>
          <p:cNvSpPr>
            <a:spLocks noGrp="1"/>
          </p:cNvSpPr>
          <p:nvPr/>
        </p:nvSpPr>
        <p:spPr>
          <a:xfrm>
            <a:off x="8877300" y="57245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F5AC15A-A9FD-42DC-9FA2-3D413F62A9EA}"/>
              </a:ext>
            </a:extLst>
          </p:cNvPr>
          <p:cNvSpPr>
            <a:spLocks noGrp="1"/>
          </p:cNvSpPr>
          <p:nvPr/>
        </p:nvSpPr>
        <p:spPr>
          <a:xfrm>
            <a:off x="819150" y="581025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乙方团队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58E85D6-A7A4-4A98-BAEB-D5B5F6CDDB6E}"/>
              </a:ext>
            </a:extLst>
          </p:cNvPr>
          <p:cNvSpPr>
            <a:spLocks noGrp="1"/>
          </p:cNvSpPr>
          <p:nvPr/>
        </p:nvSpPr>
        <p:spPr>
          <a:xfrm>
            <a:off x="2457450" y="580072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蓝图落地、配置开发、接口联调、培训UAT、上线保障。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EBA9EB2-2C93-4240-9B1B-7C76A0899B88}"/>
              </a:ext>
            </a:extLst>
          </p:cNvPr>
          <p:cNvSpPr>
            <a:spLocks noGrp="1"/>
          </p:cNvSpPr>
          <p:nvPr/>
        </p:nvSpPr>
        <p:spPr>
          <a:xfrm>
            <a:off x="9029700" y="580072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交付成果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E696CA7-885F-45CE-A52B-47A9C7218B2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2131046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EB5D52D-1E81-4169-9625-C85571082E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5518CC-CD31-4380-8047-BE012EF569F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05 项目管理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571FC8-8BDB-480C-A0D6-C028432CAF6E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16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372773-D571-4E57-A333-97BEABBC1754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8EAA27B-C9E1-498E-83F6-BA5793F3B069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6288B4-8ED3-4C9E-AFCF-865B3322711B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用管理机制保障SOW落地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D99F67-87DB-4F2D-B1B2-7B82C08F2848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实施策略、沟通、质量、变更和里程碑五条线同步管控。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3F6D678-DED8-45FD-B1B5-D0A0286FB31D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E80C21-A6FB-4278-AA3A-D736F787125F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0CBDC2-6C27-4714-A8B7-400C5C14B322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3717C9-D786-4D38-8FF3-0E562C7AFDA8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D1B153-2BCC-4F20-9596-F8AB8D92110B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2529F9-7B55-4ABF-B5EC-F2A58861D279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37B419F-7F2C-4C67-94B8-3406E9A7E7AF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543F068-92AB-4FF4-95C0-1DE0119E5B89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4C827F-50F6-4665-811D-865F4616EFEF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实施策略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0712894-12D6-4D7D-8243-10109158BABD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正式范围白名单、蓝图先行、联调前置、测试门禁、文档闭环。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FF3F53-3433-4D96-B4DD-3FC5A4FCEF32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执行口径统一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188B5B6-DB85-4CB6-A66B-D2555F3EC28B}"/>
              </a:ext>
            </a:extLst>
          </p:cNvPr>
          <p:cNvSpPr>
            <a:spLocks noGrp="1"/>
          </p:cNvSpPr>
          <p:nvPr/>
        </p:nvSpPr>
        <p:spPr>
          <a:xfrm>
            <a:off x="685800" y="380619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C9DFBFA-BD00-4D3D-A8D1-62FBD8956FB1}"/>
              </a:ext>
            </a:extLst>
          </p:cNvPr>
          <p:cNvSpPr>
            <a:spLocks noGrp="1"/>
          </p:cNvSpPr>
          <p:nvPr/>
        </p:nvSpPr>
        <p:spPr>
          <a:xfrm>
            <a:off x="230505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9668C0E-27E4-428B-BA5B-00582EBA0C6E}"/>
              </a:ext>
            </a:extLst>
          </p:cNvPr>
          <p:cNvSpPr>
            <a:spLocks noGrp="1"/>
          </p:cNvSpPr>
          <p:nvPr/>
        </p:nvSpPr>
        <p:spPr>
          <a:xfrm>
            <a:off x="8877300" y="380619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34E4467-D82E-4015-9042-151E7CE19DC4}"/>
              </a:ext>
            </a:extLst>
          </p:cNvPr>
          <p:cNvSpPr>
            <a:spLocks noGrp="1"/>
          </p:cNvSpPr>
          <p:nvPr/>
        </p:nvSpPr>
        <p:spPr>
          <a:xfrm>
            <a:off x="819150" y="389191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沟通机制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2109B8A-8A04-44FD-805E-B3A3AABCE4AF}"/>
              </a:ext>
            </a:extLst>
          </p:cNvPr>
          <p:cNvSpPr>
            <a:spLocks noGrp="1"/>
          </p:cNvSpPr>
          <p:nvPr/>
        </p:nvSpPr>
        <p:spPr>
          <a:xfrm>
            <a:off x="2457450" y="388239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周例会、双周管理会、专题会、日报/周报、问题升级。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285CE56-2CB6-460C-977F-578C0754BEBA}"/>
              </a:ext>
            </a:extLst>
          </p:cNvPr>
          <p:cNvSpPr>
            <a:spLocks noGrp="1"/>
          </p:cNvSpPr>
          <p:nvPr/>
        </p:nvSpPr>
        <p:spPr>
          <a:xfrm>
            <a:off x="9029700" y="388239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问题不过夜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947140E-9337-4870-A434-0F1BD33B55D7}"/>
              </a:ext>
            </a:extLst>
          </p:cNvPr>
          <p:cNvSpPr>
            <a:spLocks noGrp="1"/>
          </p:cNvSpPr>
          <p:nvPr/>
        </p:nvSpPr>
        <p:spPr>
          <a:xfrm>
            <a:off x="685800" y="441198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73CDBA4-F19A-408F-80C7-40D2E0C6C8DB}"/>
              </a:ext>
            </a:extLst>
          </p:cNvPr>
          <p:cNvSpPr>
            <a:spLocks noGrp="1"/>
          </p:cNvSpPr>
          <p:nvPr/>
        </p:nvSpPr>
        <p:spPr>
          <a:xfrm>
            <a:off x="230505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4CA28CA-552B-49E7-B1D2-2FB76A864F92}"/>
              </a:ext>
            </a:extLst>
          </p:cNvPr>
          <p:cNvSpPr>
            <a:spLocks noGrp="1"/>
          </p:cNvSpPr>
          <p:nvPr/>
        </p:nvSpPr>
        <p:spPr>
          <a:xfrm>
            <a:off x="8877300" y="441198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54EBD66-A9EA-4442-9160-EF47645052BB}"/>
              </a:ext>
            </a:extLst>
          </p:cNvPr>
          <p:cNvSpPr>
            <a:spLocks noGrp="1"/>
          </p:cNvSpPr>
          <p:nvPr/>
        </p:nvSpPr>
        <p:spPr>
          <a:xfrm>
            <a:off x="819150" y="449770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质量控制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4AA9ED8-D452-49DE-908F-E1D15AF2375F}"/>
              </a:ext>
            </a:extLst>
          </p:cNvPr>
          <p:cNvSpPr>
            <a:spLocks noGrp="1"/>
          </p:cNvSpPr>
          <p:nvPr/>
        </p:nvSpPr>
        <p:spPr>
          <a:xfrm>
            <a:off x="2457450" y="448818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真实API路径、演示入口隔离、P0清零、UAT证据链。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F979678-7A62-40D4-82D5-2DBFDAA39200}"/>
              </a:ext>
            </a:extLst>
          </p:cNvPr>
          <p:cNvSpPr>
            <a:spLocks noGrp="1"/>
          </p:cNvSpPr>
          <p:nvPr/>
        </p:nvSpPr>
        <p:spPr>
          <a:xfrm>
            <a:off x="9029700" y="448818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上线质量可控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48D861-0E7B-4DCD-AC39-3FB72446235F}"/>
              </a:ext>
            </a:extLst>
          </p:cNvPr>
          <p:cNvSpPr>
            <a:spLocks noGrp="1"/>
          </p:cNvSpPr>
          <p:nvPr/>
        </p:nvSpPr>
        <p:spPr>
          <a:xfrm>
            <a:off x="685800" y="5017770"/>
            <a:ext cx="10820400" cy="605790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FA30822-3931-4142-8693-A5B7FDB57B62}"/>
              </a:ext>
            </a:extLst>
          </p:cNvPr>
          <p:cNvSpPr>
            <a:spLocks noGrp="1"/>
          </p:cNvSpPr>
          <p:nvPr/>
        </p:nvSpPr>
        <p:spPr>
          <a:xfrm>
            <a:off x="230505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ED29AAE-DAD9-4DED-99FE-427086D3A5FB}"/>
              </a:ext>
            </a:extLst>
          </p:cNvPr>
          <p:cNvSpPr>
            <a:spLocks noGrp="1"/>
          </p:cNvSpPr>
          <p:nvPr/>
        </p:nvSpPr>
        <p:spPr>
          <a:xfrm>
            <a:off x="8877300" y="501777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138A7A1-E43D-4EE8-9BC6-B17BE7C22A15}"/>
              </a:ext>
            </a:extLst>
          </p:cNvPr>
          <p:cNvSpPr>
            <a:spLocks noGrp="1"/>
          </p:cNvSpPr>
          <p:nvPr/>
        </p:nvSpPr>
        <p:spPr>
          <a:xfrm>
            <a:off x="819150" y="510349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变更控制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AA40F05-DEDD-4655-8B1A-DEC710CAC21C}"/>
              </a:ext>
            </a:extLst>
          </p:cNvPr>
          <p:cNvSpPr>
            <a:spLocks noGrp="1"/>
          </p:cNvSpPr>
          <p:nvPr/>
        </p:nvSpPr>
        <p:spPr>
          <a:xfrm>
            <a:off x="2457450" y="509397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蓝图确认后新增需求进入变更评估，不直接挤占本期工期。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E9116E5-E42F-4AFC-8EF7-087FCC9F3209}"/>
              </a:ext>
            </a:extLst>
          </p:cNvPr>
          <p:cNvSpPr>
            <a:spLocks noGrp="1"/>
          </p:cNvSpPr>
          <p:nvPr/>
        </p:nvSpPr>
        <p:spPr>
          <a:xfrm>
            <a:off x="9029700" y="509397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范围不失控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1DF76E7-D1B0-4E65-AAD9-CE4339429BD6}"/>
              </a:ext>
            </a:extLst>
          </p:cNvPr>
          <p:cNvSpPr>
            <a:spLocks noGrp="1"/>
          </p:cNvSpPr>
          <p:nvPr/>
        </p:nvSpPr>
        <p:spPr>
          <a:xfrm>
            <a:off x="685800" y="5623560"/>
            <a:ext cx="10820400" cy="605790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3F17E-3EC6-4DFF-A5E1-4FABB34EB8BE}"/>
              </a:ext>
            </a:extLst>
          </p:cNvPr>
          <p:cNvSpPr>
            <a:spLocks noGrp="1"/>
          </p:cNvSpPr>
          <p:nvPr/>
        </p:nvSpPr>
        <p:spPr>
          <a:xfrm>
            <a:off x="230505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F1035A9-FB24-4F95-BEC3-3EA715380675}"/>
              </a:ext>
            </a:extLst>
          </p:cNvPr>
          <p:cNvSpPr>
            <a:spLocks noGrp="1"/>
          </p:cNvSpPr>
          <p:nvPr/>
        </p:nvSpPr>
        <p:spPr>
          <a:xfrm>
            <a:off x="8877300" y="5623560"/>
            <a:ext cx="9525" cy="60579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4D57419-3F1A-4C1D-B8E2-849BDFD11022}"/>
              </a:ext>
            </a:extLst>
          </p:cNvPr>
          <p:cNvSpPr>
            <a:spLocks noGrp="1"/>
          </p:cNvSpPr>
          <p:nvPr/>
        </p:nvSpPr>
        <p:spPr>
          <a:xfrm>
            <a:off x="819150" y="5709285"/>
            <a:ext cx="1352550" cy="434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里程碑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763B16C-3834-4D22-8B02-2A84CDF68FD7}"/>
              </a:ext>
            </a:extLst>
          </p:cNvPr>
          <p:cNvSpPr>
            <a:spLocks noGrp="1"/>
          </p:cNvSpPr>
          <p:nvPr/>
        </p:nvSpPr>
        <p:spPr>
          <a:xfrm>
            <a:off x="2457450" y="5699760"/>
            <a:ext cx="626745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蓝图确认、核心功能提测、集成验证、UAT通过、正式上线。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6A26E7D-FC5A-4215-A833-746CDCAD64E1}"/>
              </a:ext>
            </a:extLst>
          </p:cNvPr>
          <p:cNvSpPr>
            <a:spLocks noGrp="1"/>
          </p:cNvSpPr>
          <p:nvPr/>
        </p:nvSpPr>
        <p:spPr>
          <a:xfrm>
            <a:off x="9029700" y="5699760"/>
            <a:ext cx="2324100" cy="4533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阶段门禁明确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7B6B675-FEC2-4E61-A557-F7FDD8E111F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847944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09520B9-56B5-4C5F-BCF6-265BE8F8C4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E38075-6C15-4353-9ACB-4C8F11A5DBA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05 项目管理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B7F5C0-3E88-4943-A75D-0D4F600AAA8D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17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80ACC2-EBE6-423C-8033-52FEB039410D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57B5E93-2DB3-48F7-B0AB-F04EB0C19ACB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276A6A-5DBC-4387-9209-A2920AE0067C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项目推进需要甲方同步落实的关键配合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0C6E66-9D5F-4C53-A8B3-BD63D2CD4E49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配合事项按阶段前置，避免等待接口、数据、人员和环境。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68E94AB-B9C9-4A67-B4CB-93BCA168B12F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A88A42-E8E2-4E7F-8F3C-43C5C22FE033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FFBC2F-88EC-47B0-90E8-34E090AADC1F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031EAF-1919-40F9-BD64-0E0FD017E004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29D386-2CC2-4797-86D8-41B98AB0CED5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749981-83F5-4EDD-900B-3A0FDACC4C36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57411A-523F-449A-B5E2-98260590A167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D8152AC-AAF3-410A-AB4E-8AA89D559A86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9D3C94F-D8E6-417E-A295-042B3110B2C8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3个工作日内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6541289-A9FC-4390-9E0A-4CA9DDF82ADA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指定项目负责人、业务牵头人、IT负责人、关键用户和接口人。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DA3B67-5A7C-4058-AEEC-CB7052CBD8E2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项目成员清单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D614073-F6DD-4098-A951-008C7F07710E}"/>
              </a:ext>
            </a:extLst>
          </p:cNvPr>
          <p:cNvSpPr>
            <a:spLocks noGrp="1"/>
          </p:cNvSpPr>
          <p:nvPr/>
        </p:nvSpPr>
        <p:spPr>
          <a:xfrm>
            <a:off x="685800" y="370522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D26D23-D2A9-4D8A-B32D-8A9C75158418}"/>
              </a:ext>
            </a:extLst>
          </p:cNvPr>
          <p:cNvSpPr>
            <a:spLocks noGrp="1"/>
          </p:cNvSpPr>
          <p:nvPr/>
        </p:nvSpPr>
        <p:spPr>
          <a:xfrm>
            <a:off x="2305050" y="37052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7A80527-CE39-4650-AB76-27EF89858D0F}"/>
              </a:ext>
            </a:extLst>
          </p:cNvPr>
          <p:cNvSpPr>
            <a:spLocks noGrp="1"/>
          </p:cNvSpPr>
          <p:nvPr/>
        </p:nvSpPr>
        <p:spPr>
          <a:xfrm>
            <a:off x="8877300" y="37052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0DAEAA4-AE43-404B-BBB9-186F087582A8}"/>
              </a:ext>
            </a:extLst>
          </p:cNvPr>
          <p:cNvSpPr>
            <a:spLocks noGrp="1"/>
          </p:cNvSpPr>
          <p:nvPr/>
        </p:nvSpPr>
        <p:spPr>
          <a:xfrm>
            <a:off x="819150" y="379095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调研阶段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6354B5-681F-47BC-967A-E9A9D23A5BE8}"/>
              </a:ext>
            </a:extLst>
          </p:cNvPr>
          <p:cNvSpPr>
            <a:spLocks noGrp="1"/>
          </p:cNvSpPr>
          <p:nvPr/>
        </p:nvSpPr>
        <p:spPr>
          <a:xfrm>
            <a:off x="2457450" y="378142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提供现状流程、需求确认版、历史样例数据、环境申请信息。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DA61EE-E5C0-40A2-80C7-43ECF0A34CCE}"/>
              </a:ext>
            </a:extLst>
          </p:cNvPr>
          <p:cNvSpPr>
            <a:spLocks noGrp="1"/>
          </p:cNvSpPr>
          <p:nvPr/>
        </p:nvSpPr>
        <p:spPr>
          <a:xfrm>
            <a:off x="9029700" y="378142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调研输入材料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4B2D21A-A412-44C6-B42B-9FB4074CBFFF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1111E54-D526-4411-ACF0-5A77897EFCDA}"/>
              </a:ext>
            </a:extLst>
          </p:cNvPr>
          <p:cNvSpPr>
            <a:spLocks noGrp="1"/>
          </p:cNvSpPr>
          <p:nvPr/>
        </p:nvSpPr>
        <p:spPr>
          <a:xfrm>
            <a:off x="2305050" y="421005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0702D70-E43E-4409-AB2E-91CA8518EDF2}"/>
              </a:ext>
            </a:extLst>
          </p:cNvPr>
          <p:cNvSpPr>
            <a:spLocks noGrp="1"/>
          </p:cNvSpPr>
          <p:nvPr/>
        </p:nvSpPr>
        <p:spPr>
          <a:xfrm>
            <a:off x="8877300" y="421005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5A47EE4-C42C-45D2-A631-69058B9ADAD0}"/>
              </a:ext>
            </a:extLst>
          </p:cNvPr>
          <p:cNvSpPr>
            <a:spLocks noGrp="1"/>
          </p:cNvSpPr>
          <p:nvPr/>
        </p:nvSpPr>
        <p:spPr>
          <a:xfrm>
            <a:off x="819150" y="429577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蓝图阶段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68AC615-CCAE-48CA-BB0C-1D7F0AC5F0FA}"/>
              </a:ext>
            </a:extLst>
          </p:cNvPr>
          <p:cNvSpPr>
            <a:spLocks noGrp="1"/>
          </p:cNvSpPr>
          <p:nvPr/>
        </p:nvSpPr>
        <p:spPr>
          <a:xfrm>
            <a:off x="2457450" y="428625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组织业务评审，确认流程、权限、数据、接口和原型。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298A385-AE43-44D3-9074-48B575C0F483}"/>
              </a:ext>
            </a:extLst>
          </p:cNvPr>
          <p:cNvSpPr>
            <a:spLocks noGrp="1"/>
          </p:cNvSpPr>
          <p:nvPr/>
        </p:nvSpPr>
        <p:spPr>
          <a:xfrm>
            <a:off x="9029700" y="428625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蓝图确认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BDE05F9-396B-4F87-AB2B-73FFE697F320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480BB69-D856-42AF-8464-37DCE60A1EBA}"/>
              </a:ext>
            </a:extLst>
          </p:cNvPr>
          <p:cNvSpPr>
            <a:spLocks noGrp="1"/>
          </p:cNvSpPr>
          <p:nvPr/>
        </p:nvSpPr>
        <p:spPr>
          <a:xfrm>
            <a:off x="2305050" y="471487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8CEFC6F-2211-4F5B-A721-3AD04903E40F}"/>
              </a:ext>
            </a:extLst>
          </p:cNvPr>
          <p:cNvSpPr>
            <a:spLocks noGrp="1"/>
          </p:cNvSpPr>
          <p:nvPr/>
        </p:nvSpPr>
        <p:spPr>
          <a:xfrm>
            <a:off x="8877300" y="471487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6F736EA-91FE-4723-9F55-9BDC156A9CAD}"/>
              </a:ext>
            </a:extLst>
          </p:cNvPr>
          <p:cNvSpPr>
            <a:spLocks noGrp="1"/>
          </p:cNvSpPr>
          <p:nvPr/>
        </p:nvSpPr>
        <p:spPr>
          <a:xfrm>
            <a:off x="819150" y="480060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实现阶段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15338ED-852C-4D48-BECC-B96656001B4B}"/>
              </a:ext>
            </a:extLst>
          </p:cNvPr>
          <p:cNvSpPr>
            <a:spLocks noGrp="1"/>
          </p:cNvSpPr>
          <p:nvPr/>
        </p:nvSpPr>
        <p:spPr>
          <a:xfrm>
            <a:off x="2457450" y="479107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提供测试数据、样例标书、资质/案例/模板、费用和账户样本。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125A260-F68E-4EF9-A670-CE32AAD4DE23}"/>
              </a:ext>
            </a:extLst>
          </p:cNvPr>
          <p:cNvSpPr>
            <a:spLocks noGrp="1"/>
          </p:cNvSpPr>
          <p:nvPr/>
        </p:nvSpPr>
        <p:spPr>
          <a:xfrm>
            <a:off x="9029700" y="479107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提测输入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121D6F-2487-42CB-95B0-3E223FBA7535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504825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7EC567-5F18-4A94-BAAD-351B5C673CD1}"/>
              </a:ext>
            </a:extLst>
          </p:cNvPr>
          <p:cNvSpPr>
            <a:spLocks noGrp="1"/>
          </p:cNvSpPr>
          <p:nvPr/>
        </p:nvSpPr>
        <p:spPr>
          <a:xfrm>
            <a:off x="2305050" y="52197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0A680E2-BFA9-4E48-B2A0-0B40DBA02293}"/>
              </a:ext>
            </a:extLst>
          </p:cNvPr>
          <p:cNvSpPr>
            <a:spLocks noGrp="1"/>
          </p:cNvSpPr>
          <p:nvPr/>
        </p:nvSpPr>
        <p:spPr>
          <a:xfrm>
            <a:off x="8877300" y="5219700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3258188-839F-4DF9-B8E4-14D4E65E7D0C}"/>
              </a:ext>
            </a:extLst>
          </p:cNvPr>
          <p:cNvSpPr>
            <a:spLocks noGrp="1"/>
          </p:cNvSpPr>
          <p:nvPr/>
        </p:nvSpPr>
        <p:spPr>
          <a:xfrm>
            <a:off x="819150" y="5305425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联调阶段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9880B2B-093C-4030-B8A1-946C613B368B}"/>
              </a:ext>
            </a:extLst>
          </p:cNvPr>
          <p:cNvSpPr>
            <a:spLocks noGrp="1"/>
          </p:cNvSpPr>
          <p:nvPr/>
        </p:nvSpPr>
        <p:spPr>
          <a:xfrm>
            <a:off x="2457450" y="5295900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保障外部系统接口环境、联调窗口和问题响应。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573F3A6-2970-4FC5-94DF-EFC4A2B7A9AB}"/>
              </a:ext>
            </a:extLst>
          </p:cNvPr>
          <p:cNvSpPr>
            <a:spLocks noGrp="1"/>
          </p:cNvSpPr>
          <p:nvPr/>
        </p:nvSpPr>
        <p:spPr>
          <a:xfrm>
            <a:off x="9029700" y="5295900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联调闭环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8C21AC9-0B21-47F1-B02B-34DF61DE817D}"/>
              </a:ext>
            </a:extLst>
          </p:cNvPr>
          <p:cNvSpPr>
            <a:spLocks noGrp="1"/>
          </p:cNvSpPr>
          <p:nvPr/>
        </p:nvSpPr>
        <p:spPr>
          <a:xfrm>
            <a:off x="685800" y="5724525"/>
            <a:ext cx="10820400" cy="504825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F6EBB24-5BBA-422C-B888-DA2B3B2515A6}"/>
              </a:ext>
            </a:extLst>
          </p:cNvPr>
          <p:cNvSpPr>
            <a:spLocks noGrp="1"/>
          </p:cNvSpPr>
          <p:nvPr/>
        </p:nvSpPr>
        <p:spPr>
          <a:xfrm>
            <a:off x="2305050" y="57245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C8C2CA9-CEFA-4413-9ADF-F02F822F8AD6}"/>
              </a:ext>
            </a:extLst>
          </p:cNvPr>
          <p:cNvSpPr>
            <a:spLocks noGrp="1"/>
          </p:cNvSpPr>
          <p:nvPr/>
        </p:nvSpPr>
        <p:spPr>
          <a:xfrm>
            <a:off x="8877300" y="5724525"/>
            <a:ext cx="9525" cy="504825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0D60AE3-6F47-479F-B78D-78C8E593831F}"/>
              </a:ext>
            </a:extLst>
          </p:cNvPr>
          <p:cNvSpPr>
            <a:spLocks noGrp="1"/>
          </p:cNvSpPr>
          <p:nvPr/>
        </p:nvSpPr>
        <p:spPr>
          <a:xfrm>
            <a:off x="819150" y="5810250"/>
            <a:ext cx="13525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UAT上线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46E0BB8-2E1A-4430-A832-85C21910F2D4}"/>
              </a:ext>
            </a:extLst>
          </p:cNvPr>
          <p:cNvSpPr>
            <a:spLocks noGrp="1"/>
          </p:cNvSpPr>
          <p:nvPr/>
        </p:nvSpPr>
        <p:spPr>
          <a:xfrm>
            <a:off x="2457450" y="5800725"/>
            <a:ext cx="62674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安排关键用户测试、培训参会、上线演练和签字确认。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429E901-1CE2-4B15-84EE-3C8A45A8EBAD}"/>
              </a:ext>
            </a:extLst>
          </p:cNvPr>
          <p:cNvSpPr>
            <a:spLocks noGrp="1"/>
          </p:cNvSpPr>
          <p:nvPr/>
        </p:nvSpPr>
        <p:spPr>
          <a:xfrm>
            <a:off x="9029700" y="5800725"/>
            <a:ext cx="23241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上线门禁材料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373139C-B808-45AC-9A05-7C6C9636D94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862989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D0EA866-A955-469F-B312-34C4D956ED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51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96B550-B09B-4545-B17E-FB9B1196DCD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05 项目管理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D46605-054A-4970-91C8-8BE57CCB3412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18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28DA6A-96B1-4B58-A603-F40A04CCB9C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0E73352-2CBF-4362-8A66-3A1C3AF57589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1CACAD-5AFB-4A15-91AC-1AF277B06E4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096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近期工作计划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FAE6A6-16F5-4613-BC87-83F5D649B15C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启动后先抓组织、资料、访谈和蓝图初稿，保证交叉推进按时发生。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5C39C1E-16A2-4C66-8E74-45AAFA7C7019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0980"/>
            </a:srgbClr>
          </a:solidFill>
          <a:ln w="10478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8278AE-C940-4DF9-A276-0075219411F9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342900"/>
          </a:xfrm>
          <a:prstGeom prst="rect">
            <a:avLst/>
          </a:prstGeom>
          <a:solidFill>
            <a:srgbClr val="0D5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5F3857-01A1-4A8E-A634-1A7510DDC83B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A40920-63B6-4D2C-ACDC-A96450FDE7F7}"/>
              </a:ext>
            </a:extLst>
          </p:cNvPr>
          <p:cNvSpPr>
            <a:spLocks noGrp="1"/>
          </p:cNvSpPr>
          <p:nvPr/>
        </p:nvSpPr>
        <p:spPr>
          <a:xfrm>
            <a:off x="2438400" y="2943225"/>
            <a:ext cx="6305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4883C8-419B-4588-BB41-DEE8824FDAD7}"/>
              </a:ext>
            </a:extLst>
          </p:cNvPr>
          <p:cNvSpPr>
            <a:spLocks noGrp="1"/>
          </p:cNvSpPr>
          <p:nvPr/>
        </p:nvSpPr>
        <p:spPr>
          <a:xfrm>
            <a:off x="9010650" y="2943225"/>
            <a:ext cx="236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C59DCD-3B3F-47A1-B06E-816B487FBB22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757238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A93AC9-4B65-4C84-998B-61C38EA180DF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6213C06-5F9D-48B7-BEAA-C2127E423DE1}"/>
              </a:ext>
            </a:extLst>
          </p:cNvPr>
          <p:cNvSpPr>
            <a:spLocks noGrp="1"/>
          </p:cNvSpPr>
          <p:nvPr/>
        </p:nvSpPr>
        <p:spPr>
          <a:xfrm>
            <a:off x="8877300" y="3200400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A6E1646-6C0A-49DB-B642-9957E6726B3C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495426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04/27-04/30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B4F2782-6D49-4D15-AB15-B692D89AB249}"/>
              </a:ext>
            </a:extLst>
          </p:cNvPr>
          <p:cNvSpPr>
            <a:spLocks noGrp="1"/>
          </p:cNvSpPr>
          <p:nvPr/>
        </p:nvSpPr>
        <p:spPr>
          <a:xfrm>
            <a:off x="2457450" y="3276600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启动会、项目群/例会机制、调研计划、资料清单和接口人确认。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406DE41-559A-4AD9-AE97-63C19FA1ED1D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启动纪要、调研清单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D14AA7-1F02-422F-B8C2-BD724656FE72}"/>
              </a:ext>
            </a:extLst>
          </p:cNvPr>
          <p:cNvSpPr>
            <a:spLocks noGrp="1"/>
          </p:cNvSpPr>
          <p:nvPr/>
        </p:nvSpPr>
        <p:spPr>
          <a:xfrm>
            <a:off x="685800" y="3957638"/>
            <a:ext cx="10820400" cy="757238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6BD188D-73AF-47EE-A715-C18D3998684E}"/>
              </a:ext>
            </a:extLst>
          </p:cNvPr>
          <p:cNvSpPr>
            <a:spLocks noGrp="1"/>
          </p:cNvSpPr>
          <p:nvPr/>
        </p:nvSpPr>
        <p:spPr>
          <a:xfrm>
            <a:off x="2305050" y="3957638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584FD94-E49D-45A4-B2F0-2104047884E8}"/>
              </a:ext>
            </a:extLst>
          </p:cNvPr>
          <p:cNvSpPr>
            <a:spLocks noGrp="1"/>
          </p:cNvSpPr>
          <p:nvPr/>
        </p:nvSpPr>
        <p:spPr>
          <a:xfrm>
            <a:off x="8877300" y="3957638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8C45471-FB80-4F79-814E-43530D2AA1DA}"/>
              </a:ext>
            </a:extLst>
          </p:cNvPr>
          <p:cNvSpPr>
            <a:spLocks noGrp="1"/>
          </p:cNvSpPr>
          <p:nvPr/>
        </p:nvSpPr>
        <p:spPr>
          <a:xfrm>
            <a:off x="819150" y="4043363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05/06-05/10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CD0E2B7-2FEB-4A2F-B409-C1C266FA1283}"/>
              </a:ext>
            </a:extLst>
          </p:cNvPr>
          <p:cNvSpPr>
            <a:spLocks noGrp="1"/>
          </p:cNvSpPr>
          <p:nvPr/>
        </p:nvSpPr>
        <p:spPr>
          <a:xfrm>
            <a:off x="2457450" y="4033838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集中业务访谈、历史样例收集、现状流程与痛点整理。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B876F87-0621-4AEC-ACAB-8877B1BCA9C0}"/>
              </a:ext>
            </a:extLst>
          </p:cNvPr>
          <p:cNvSpPr>
            <a:spLocks noGrp="1"/>
          </p:cNvSpPr>
          <p:nvPr/>
        </p:nvSpPr>
        <p:spPr>
          <a:xfrm>
            <a:off x="9029700" y="4033838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调研纪要、风险清单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C4DFD16-B5D5-4279-91E0-D2620DC1719C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10820400" cy="757238"/>
          </a:xfrm>
          <a:prstGeom prst="rect">
            <a:avLst/>
          </a:prstGeom>
          <a:solidFill>
            <a:srgbClr val="FFFFFF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B710CDD-A725-4E3C-AAAE-231622F77DB2}"/>
              </a:ext>
            </a:extLst>
          </p:cNvPr>
          <p:cNvSpPr>
            <a:spLocks noGrp="1"/>
          </p:cNvSpPr>
          <p:nvPr/>
        </p:nvSpPr>
        <p:spPr>
          <a:xfrm>
            <a:off x="2305050" y="4714875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9663913-DE2B-4F9D-AD90-86550F54FA14}"/>
              </a:ext>
            </a:extLst>
          </p:cNvPr>
          <p:cNvSpPr>
            <a:spLocks noGrp="1"/>
          </p:cNvSpPr>
          <p:nvPr/>
        </p:nvSpPr>
        <p:spPr>
          <a:xfrm>
            <a:off x="8877300" y="4714875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FF307F9-86C1-4ED4-B053-1B83985F61DB}"/>
              </a:ext>
            </a:extLst>
          </p:cNvPr>
          <p:cNvSpPr>
            <a:spLocks noGrp="1"/>
          </p:cNvSpPr>
          <p:nvPr/>
        </p:nvSpPr>
        <p:spPr>
          <a:xfrm>
            <a:off x="819150" y="4800600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05/11-05/15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FC71815-0EB8-49D0-B107-9A03A5B828B5}"/>
              </a:ext>
            </a:extLst>
          </p:cNvPr>
          <p:cNvSpPr>
            <a:spLocks noGrp="1"/>
          </p:cNvSpPr>
          <p:nvPr/>
        </p:nvSpPr>
        <p:spPr>
          <a:xfrm>
            <a:off x="2457450" y="4791075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蓝图初稿启动，同步补充调研和场景复核。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82EE069-3515-4997-80FE-E11A4C9130D6}"/>
              </a:ext>
            </a:extLst>
          </p:cNvPr>
          <p:cNvSpPr>
            <a:spLocks noGrp="1"/>
          </p:cNvSpPr>
          <p:nvPr/>
        </p:nvSpPr>
        <p:spPr>
          <a:xfrm>
            <a:off x="9029700" y="4791075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蓝图初稿、待决事项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A6FA865-9615-4F19-B81D-1C738488EEFC}"/>
              </a:ext>
            </a:extLst>
          </p:cNvPr>
          <p:cNvSpPr>
            <a:spLocks noGrp="1"/>
          </p:cNvSpPr>
          <p:nvPr/>
        </p:nvSpPr>
        <p:spPr>
          <a:xfrm>
            <a:off x="685800" y="5472113"/>
            <a:ext cx="10820400" cy="757238"/>
          </a:xfrm>
          <a:prstGeom prst="rect">
            <a:avLst/>
          </a:prstGeom>
          <a:solidFill>
            <a:srgbClr val="F2F6F9">
              <a:alpha val="94902"/>
            </a:srgbClr>
          </a:solidFill>
          <a:ln w="571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4CBCD52-FC5B-4F1E-9C22-B81C1427FC27}"/>
              </a:ext>
            </a:extLst>
          </p:cNvPr>
          <p:cNvSpPr>
            <a:spLocks noGrp="1"/>
          </p:cNvSpPr>
          <p:nvPr/>
        </p:nvSpPr>
        <p:spPr>
          <a:xfrm>
            <a:off x="2305050" y="5472113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F94F400-32FB-4565-B0EB-C84046DA7FF1}"/>
              </a:ext>
            </a:extLst>
          </p:cNvPr>
          <p:cNvSpPr>
            <a:spLocks noGrp="1"/>
          </p:cNvSpPr>
          <p:nvPr/>
        </p:nvSpPr>
        <p:spPr>
          <a:xfrm>
            <a:off x="8877300" y="5472113"/>
            <a:ext cx="9525" cy="757238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64F6D6E-C53C-4F4C-AAD6-5D807BB5CEFF}"/>
              </a:ext>
            </a:extLst>
          </p:cNvPr>
          <p:cNvSpPr>
            <a:spLocks noGrp="1"/>
          </p:cNvSpPr>
          <p:nvPr/>
        </p:nvSpPr>
        <p:spPr>
          <a:xfrm>
            <a:off x="819150" y="5557838"/>
            <a:ext cx="13525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05/18-05/25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EC3FDE9-D397-48A0-8947-F86C4BC85D3D}"/>
              </a:ext>
            </a:extLst>
          </p:cNvPr>
          <p:cNvSpPr>
            <a:spLocks noGrp="1"/>
          </p:cNvSpPr>
          <p:nvPr/>
        </p:nvSpPr>
        <p:spPr>
          <a:xfrm>
            <a:off x="2457450" y="5548313"/>
            <a:ext cx="626745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蓝图深化、原型确认、权限接口数据口径复核和评审确认。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A49AB80-7B07-41EE-96FC-63A13B4EF5D7}"/>
              </a:ext>
            </a:extLst>
          </p:cNvPr>
          <p:cNvSpPr>
            <a:spLocks noGrp="1"/>
          </p:cNvSpPr>
          <p:nvPr/>
        </p:nvSpPr>
        <p:spPr>
          <a:xfrm>
            <a:off x="9029700" y="5548313"/>
            <a:ext cx="2324100" cy="604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蓝图确认材料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F8E0A05-3491-487D-A9DD-C676A178773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5558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03BE2CB3-FAC7-41E3-A0B1-07D7DF85D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A910F07-A97A-45DB-B017-277E5FFCA6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1ED605-B606-4231-A5F3-E3368033B58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06 启动共识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EEE589-3857-42F0-B707-E8505E22C480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19 / 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97990A-CC91-4350-BD06-93665CF52D1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A3A259B-F0BD-4D6A-8D34-EED92D0BCF7E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1F8A70"/>
          </a:solidFill>
          <a:ln w="1905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CB531C-6F9E-425D-A8DC-71704912389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以SOW为基线，按里程碑受控推进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CCA6CB-5DB5-4C24-BA1C-F66BB2DE269A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启动会后进入正式项目节奏，重点保障调研充分、蓝图准确、联调前置、上线受控。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94A1DAE-3897-4530-AF49-3C6252ACC602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C9FDA8-6FB1-4478-8F96-B32DE78ABB7C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2B8F454-11EC-4A68-BAB3-E7243DE5CE86}"/>
              </a:ext>
            </a:extLst>
          </p:cNvPr>
          <p:cNvSpPr>
            <a:spLocks noGrp="1"/>
          </p:cNvSpPr>
          <p:nvPr/>
        </p:nvSpPr>
        <p:spPr>
          <a:xfrm>
            <a:off x="100965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C0137B-F8F6-47B3-AA08-AC3A88643C1E}"/>
              </a:ext>
            </a:extLst>
          </p:cNvPr>
          <p:cNvSpPr>
            <a:spLocks noGrp="1"/>
          </p:cNvSpPr>
          <p:nvPr/>
        </p:nvSpPr>
        <p:spPr>
          <a:xfrm>
            <a:off x="1162050" y="4562475"/>
            <a:ext cx="57150" cy="1143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E68C1F-9995-4AE3-A2C0-DA766A20E1DE}"/>
              </a:ext>
            </a:extLst>
          </p:cNvPr>
          <p:cNvSpPr>
            <a:spLocks noGrp="1"/>
          </p:cNvSpPr>
          <p:nvPr/>
        </p:nvSpPr>
        <p:spPr>
          <a:xfrm>
            <a:off x="1247775" y="4486275"/>
            <a:ext cx="57150" cy="1905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5229B6-6E74-409E-9521-A622C7FE6CBC}"/>
              </a:ext>
            </a:extLst>
          </p:cNvPr>
          <p:cNvSpPr>
            <a:spLocks noGrp="1"/>
          </p:cNvSpPr>
          <p:nvPr/>
        </p:nvSpPr>
        <p:spPr>
          <a:xfrm>
            <a:off x="1333500" y="4419600"/>
            <a:ext cx="57150" cy="257175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50DD979-5CCE-475F-A32D-04A6158BC0C1}"/>
              </a:ext>
            </a:extLst>
          </p:cNvPr>
          <p:cNvSpPr>
            <a:spLocks noGrp="1"/>
          </p:cNvSpPr>
          <p:nvPr/>
        </p:nvSpPr>
        <p:spPr>
          <a:xfrm>
            <a:off x="163830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SOW为基线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70F46E-67EA-4AD3-980C-32EA35B00967}"/>
              </a:ext>
            </a:extLst>
          </p:cNvPr>
          <p:cNvSpPr>
            <a:spLocks noGrp="1"/>
          </p:cNvSpPr>
          <p:nvPr/>
        </p:nvSpPr>
        <p:spPr>
          <a:xfrm>
            <a:off x="102870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60个有效工作日、正式范围白名单、阶段交付物和门禁作为共同执行依据。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6D17E9CD-B6AA-49A9-91C3-BE14F23FE0AB}"/>
              </a:ext>
            </a:extLst>
          </p:cNvPr>
          <p:cNvSpPr>
            <a:spLocks noGrp="1"/>
          </p:cNvSpPr>
          <p:nvPr/>
        </p:nvSpPr>
        <p:spPr>
          <a:xfrm>
            <a:off x="441325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71164B-2FAE-4FF1-B767-94DDA8A008E0}"/>
              </a:ext>
            </a:extLst>
          </p:cNvPr>
          <p:cNvSpPr>
            <a:spLocks noGrp="1"/>
          </p:cNvSpPr>
          <p:nvPr/>
        </p:nvSpPr>
        <p:spPr>
          <a:xfrm>
            <a:off x="441325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4DE4C0FE-D5A0-467F-A05F-F16C29F44929}"/>
              </a:ext>
            </a:extLst>
          </p:cNvPr>
          <p:cNvSpPr>
            <a:spLocks noGrp="1"/>
          </p:cNvSpPr>
          <p:nvPr/>
        </p:nvSpPr>
        <p:spPr>
          <a:xfrm>
            <a:off x="462280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B7137B9-557E-4F69-A8DD-72BE29714258}"/>
              </a:ext>
            </a:extLst>
          </p:cNvPr>
          <p:cNvSpPr>
            <a:spLocks noGrp="1"/>
          </p:cNvSpPr>
          <p:nvPr/>
        </p:nvSpPr>
        <p:spPr>
          <a:xfrm>
            <a:off x="4746625" y="4457700"/>
            <a:ext cx="95250" cy="95250"/>
          </a:xfrm>
          <a:prstGeom prst="ellipse">
            <a:avLst/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D392E1C3-68C6-4691-9133-77648E32A849}"/>
              </a:ext>
            </a:extLst>
          </p:cNvPr>
          <p:cNvSpPr>
            <a:spLocks noGrp="1"/>
          </p:cNvSpPr>
          <p:nvPr/>
        </p:nvSpPr>
        <p:spPr>
          <a:xfrm>
            <a:off x="4918075" y="4543425"/>
            <a:ext cx="95250" cy="95250"/>
          </a:xfrm>
          <a:prstGeom prst="ellipse">
            <a:avLst/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FD96C43-D935-4092-B4CE-69932C901E4D}"/>
              </a:ext>
            </a:extLst>
          </p:cNvPr>
          <p:cNvSpPr>
            <a:spLocks noGrp="1"/>
          </p:cNvSpPr>
          <p:nvPr/>
        </p:nvSpPr>
        <p:spPr>
          <a:xfrm>
            <a:off x="4832350" y="4524375"/>
            <a:ext cx="180975" cy="28575"/>
          </a:xfrm>
          <a:prstGeom prst="rect">
            <a:avLst/>
          </a:prstGeom>
          <a:solidFill>
            <a:srgbClr val="122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47D2A57-E7B3-4C5A-ACD9-916E0F81D201}"/>
              </a:ext>
            </a:extLst>
          </p:cNvPr>
          <p:cNvSpPr>
            <a:spLocks noGrp="1"/>
          </p:cNvSpPr>
          <p:nvPr/>
        </p:nvSpPr>
        <p:spPr>
          <a:xfrm>
            <a:off x="525145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交叉推进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4765AF0-A817-4A74-8AEF-CA40C7F9130C}"/>
              </a:ext>
            </a:extLst>
          </p:cNvPr>
          <p:cNvSpPr>
            <a:spLocks noGrp="1"/>
          </p:cNvSpPr>
          <p:nvPr/>
        </p:nvSpPr>
        <p:spPr>
          <a:xfrm>
            <a:off x="464185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调研/蓝图交叉5个工作日，实现/联调交叉8个工作日，减少前后段等待。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0E1F6FB5-CFF6-4308-A903-B2FF4D8C7EC9}"/>
              </a:ext>
            </a:extLst>
          </p:cNvPr>
          <p:cNvSpPr>
            <a:spLocks noGrp="1"/>
          </p:cNvSpPr>
          <p:nvPr/>
        </p:nvSpPr>
        <p:spPr>
          <a:xfrm>
            <a:off x="8026400" y="4057650"/>
            <a:ext cx="3384550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473B61B-BC09-437D-9EAA-59028E7C2682}"/>
              </a:ext>
            </a:extLst>
          </p:cNvPr>
          <p:cNvSpPr>
            <a:spLocks noGrp="1"/>
          </p:cNvSpPr>
          <p:nvPr/>
        </p:nvSpPr>
        <p:spPr>
          <a:xfrm>
            <a:off x="8026400" y="4057650"/>
            <a:ext cx="76200" cy="1676400"/>
          </a:xfrm>
          <a:prstGeom prst="rect">
            <a:avLst/>
          </a:prstGeom>
          <a:solidFill>
            <a:srgbClr val="1F8A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B4216865-BC20-403A-82B5-9E72827A0406}"/>
              </a:ext>
            </a:extLst>
          </p:cNvPr>
          <p:cNvSpPr>
            <a:spLocks noGrp="1"/>
          </p:cNvSpPr>
          <p:nvPr/>
        </p:nvSpPr>
        <p:spPr>
          <a:xfrm>
            <a:off x="8235950" y="4286250"/>
            <a:ext cx="514350" cy="514350"/>
          </a:xfrm>
          <a:prstGeom prst="ellipse">
            <a:avLst/>
          </a:prstGeom>
          <a:solidFill>
            <a:srgbClr val="FFFFFF">
              <a:alpha val="96078"/>
            </a:srgbClr>
          </a:solidFill>
          <a:ln w="1143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39F06EB0-75E5-4AFC-BA83-DBABA823FCA1}"/>
              </a:ext>
            </a:extLst>
          </p:cNvPr>
          <p:cNvSpPr>
            <a:spLocks noGrp="1"/>
          </p:cNvSpPr>
          <p:nvPr/>
        </p:nvSpPr>
        <p:spPr>
          <a:xfrm>
            <a:off x="8359775" y="44291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92B54D61-314C-415B-A12B-AE9A570A02C8}"/>
              </a:ext>
            </a:extLst>
          </p:cNvPr>
          <p:cNvSpPr>
            <a:spLocks noGrp="1"/>
          </p:cNvSpPr>
          <p:nvPr/>
        </p:nvSpPr>
        <p:spPr>
          <a:xfrm>
            <a:off x="8407400" y="45148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6A23A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BAF850F7-1CE1-40A9-839C-26FFB5079A07}"/>
              </a:ext>
            </a:extLst>
          </p:cNvPr>
          <p:cNvSpPr>
            <a:spLocks noGrp="1"/>
          </p:cNvSpPr>
          <p:nvPr/>
        </p:nvSpPr>
        <p:spPr>
          <a:xfrm>
            <a:off x="8455025" y="46005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D95F45"/>
          </a:solidFill>
          <a:ln w="9525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8E14CA4-2F71-4BF6-AD87-E135DB97A272}"/>
              </a:ext>
            </a:extLst>
          </p:cNvPr>
          <p:cNvSpPr>
            <a:spLocks noGrp="1"/>
          </p:cNvSpPr>
          <p:nvPr/>
        </p:nvSpPr>
        <p:spPr>
          <a:xfrm>
            <a:off x="8864600" y="426720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门禁受控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0686F9A-61CE-48D6-BE03-61A3DEEBB91F}"/>
              </a:ext>
            </a:extLst>
          </p:cNvPr>
          <p:cNvSpPr>
            <a:spLocks noGrp="1"/>
          </p:cNvSpPr>
          <p:nvPr/>
        </p:nvSpPr>
        <p:spPr>
          <a:xfrm>
            <a:off x="8255000" y="4876800"/>
            <a:ext cx="2927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蓝图确认、集成验证、UAT签字、上线演练通过后进入生产切换。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BBE0AAF-C1D4-47A7-8A0D-35C7EDA897D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238439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1790</Words>
  <Application>Microsoft Macintosh PowerPoint</Application>
  <DocSecurity>0</DocSecurity>
  <PresentationFormat>宽屏</PresentationFormat>
  <Paragraphs>479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1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卢 文融</cp:lastModifiedBy>
  <cp:revision>1</cp:revision>
  <dcterms:created xsi:type="dcterms:W3CDTF">2026-04-21T13:58:53Z</dcterms:created>
  <dcterms:modified xsi:type="dcterms:W3CDTF">2026-04-21T14:36:50Z</dcterms:modified>
</cp:coreProperties>
</file>